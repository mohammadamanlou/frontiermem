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charts/chart4.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Accuracy</c:v>
          </c:tx>
          <c:spPr>
            <a:solidFill>
              <a:srgbClr val="6DCBF4"/>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Flat Fact</c:v>
              </c:pt>
              <c:pt idx="1">
                <c:v>Query-only</c:v>
              </c:pt>
              <c:pt idx="2">
                <c:v>Long Context</c:v>
              </c:pt>
              <c:pt idx="3">
                <c:v>Frontier Rules</c:v>
              </c:pt>
            </c:strLit>
          </c:cat>
          <c:val>
            <c:numLit>
              <c:formatCode>General</c:formatCode>
              <c:ptCount val="4"/>
              <c:pt idx="0">
                <c:v>66.7</c:v>
              </c:pt>
              <c:pt idx="1">
                <c:v>63.5</c:v>
              </c:pt>
              <c:pt idx="2">
                <c:v>79.5</c:v>
              </c:pt>
              <c:pt idx="3">
                <c:v>97.1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9FD-46B7-AE70-E7CB46CF1BC5}"/>
            </c:ext>
          </c:extLst>
        </c:ser>
        <c:ser>
          <c:idx val="1"/>
          <c:order val="1"/>
          <c:tx>
            <c:v>Macro-F1</c:v>
          </c:tx>
          <c:spPr>
            <a:solidFill>
              <a:srgbClr val="3D8DFF"/>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Flat Fact</c:v>
              </c:pt>
              <c:pt idx="1">
                <c:v>Query-only</c:v>
              </c:pt>
              <c:pt idx="2">
                <c:v>Long Context</c:v>
              </c:pt>
              <c:pt idx="3">
                <c:v>Frontier Rules</c:v>
              </c:pt>
            </c:strLit>
          </c:cat>
          <c:val>
            <c:numLit>
              <c:formatCode>General</c:formatCode>
              <c:ptCount val="4"/>
              <c:pt idx="0">
                <c:v>26.7</c:v>
              </c:pt>
              <c:pt idx="1">
                <c:v>51</c:v>
              </c:pt>
              <c:pt idx="2">
                <c:v>78</c:v>
              </c:pt>
              <c:pt idx="3">
                <c:v>95.5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9FD-46B7-AE70-E7CB46CF1BC5}"/>
            </c:ext>
          </c:extLst>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majorGridlines>
          <c:spPr>
            <a:ln w="9525">
              <a:solidFill>
                <a:srgbClr val="E4E7EC"/>
              </a:solidFill>
              <a:prstDash val="solid"/>
            </a:ln>
          </c:spPr>
        </c:majorGridlines>
        <c:numFmt formatCode="General" sourceLinked="1"/>
        <c:majorTickMark val="none"/>
        <c:minorTickMark val="none"/>
        <c:tickLblPos val="nextTo"/>
        <c:spPr>
          <a:ln w="9525">
            <a:solidFill>
              <a:srgbClr val="C9CED8"/>
            </a:solidFill>
            <a:prstDash val="solid"/>
          </a:ln>
        </c:spPr>
        <c:txPr>
          <a:bodyPr anchorCtr="1"/>
          <a:lstStyle/>
          <a:p>
            <a:pPr>
              <a:defRPr sz="1200">
                <a:solidFill>
                  <a:srgbClr val="5D6677"/>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C9CED8"/>
            </a:solidFill>
            <a:prstDash val="solid"/>
          </a:ln>
        </c:spPr>
        <c:txPr>
          <a:bodyPr anchorCtr="1"/>
          <a:lstStyle/>
          <a:p>
            <a:pPr>
              <a:defRPr sz="1275">
                <a:solidFill>
                  <a:srgbClr val="0A1020"/>
                </a:solidFil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1200">
              <a:solidFill>
                <a:srgbClr val="5D6677"/>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Qwen-1.5B</c:v>
          </c:tx>
          <c:spPr>
            <a:solidFill>
              <a:srgbClr val="6DCBF4"/>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Owner</c:v>
              </c:pt>
              <c:pt idx="1">
                <c:v>Info type</c:v>
              </c:pt>
              <c:pt idx="2">
                <c:v>Family</c:v>
              </c:pt>
              <c:pt idx="3">
                <c:v>Temporal</c:v>
              </c:pt>
              <c:pt idx="4">
                <c:v>Profile variant</c:v>
              </c:pt>
            </c:strLit>
          </c:cat>
          <c:val>
            <c:numLit>
              <c:formatCode>General</c:formatCode>
              <c:ptCount val="5"/>
              <c:pt idx="0">
                <c:v>0</c:v>
              </c:pt>
              <c:pt idx="1">
                <c:v>11.1</c:v>
              </c:pt>
              <c:pt idx="2">
                <c:v>37.5</c:v>
              </c:pt>
              <c:pt idx="3">
                <c:v>84.7</c:v>
              </c:pt>
              <c:pt idx="4">
                <c:v>90.3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92F-4B4E-BB77-E5301F396A12}"/>
            </c:ext>
          </c:extLst>
        </c:ser>
        <c:ser>
          <c:idx val="1"/>
          <c:order val="1"/>
          <c:tx>
            <c:v>Target</c:v>
          </c:tx>
          <c:spPr>
            <a:solidFill>
              <a:srgbClr val="3D8DFF"/>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Owner</c:v>
              </c:pt>
              <c:pt idx="1">
                <c:v>Info type</c:v>
              </c:pt>
              <c:pt idx="2">
                <c:v>Family</c:v>
              </c:pt>
              <c:pt idx="3">
                <c:v>Temporal</c:v>
              </c:pt>
              <c:pt idx="4">
                <c:v>Profile variant</c:v>
              </c:pt>
            </c:strLit>
          </c:cat>
          <c:val>
            <c:numLit>
              <c:formatCode>General</c:formatCode>
              <c:ptCount val="5"/>
              <c:pt idx="0">
                <c:v>100</c:v>
              </c:pt>
              <c:pt idx="1">
                <c:v>100</c:v>
              </c:pt>
              <c:pt idx="2">
                <c:v>100</c:v>
              </c:pt>
              <c:pt idx="3">
                <c:v>100</c:v>
              </c:pt>
              <c:pt idx="4">
                <c:v>100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92F-4B4E-BB77-E5301F396A12}"/>
            </c:ext>
          </c:extLst>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majorGridlines>
          <c:spPr>
            <a:ln w="9525">
              <a:solidFill>
                <a:srgbClr val="E4E7EC"/>
              </a:solidFill>
              <a:prstDash val="solid"/>
            </a:ln>
          </c:spPr>
        </c:majorGridlines>
        <c:numFmt formatCode="General" sourceLinked="1"/>
        <c:majorTickMark val="none"/>
        <c:minorTickMark val="none"/>
        <c:tickLblPos val="nextTo"/>
        <c:spPr>
          <a:ln w="9525">
            <a:solidFill>
              <a:srgbClr val="C9CED8"/>
            </a:solidFill>
            <a:prstDash val="solid"/>
          </a:ln>
        </c:spPr>
        <c:txPr>
          <a:bodyPr anchorCtr="1"/>
          <a:lstStyle/>
          <a:p>
            <a:pPr>
              <a:defRPr sz="1200">
                <a:solidFill>
                  <a:srgbClr val="5D6677"/>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C9CED8"/>
            </a:solidFill>
            <a:prstDash val="solid"/>
          </a:ln>
        </c:spPr>
        <c:txPr>
          <a:bodyPr anchorCtr="1"/>
          <a:lstStyle/>
          <a:p>
            <a:pPr>
              <a:defRPr sz="1275">
                <a:solidFill>
                  <a:srgbClr val="0A1020"/>
                </a:solidFil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1200">
              <a:solidFill>
                <a:srgbClr val="5D6677"/>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Accuracy</c:v>
          </c:tx>
          <c:spPr>
            <a:solidFill>
              <a:srgbClr val="7357D9"/>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Gold + LLM</c:v>
              </c:pt>
              <c:pt idx="1">
                <c:v>Rule + LLM</c:v>
              </c:pt>
              <c:pt idx="2">
                <c:v>LLM + Rule</c:v>
              </c:pt>
              <c:pt idx="3">
                <c:v>Full LLM</c:v>
              </c:pt>
            </c:strLit>
          </c:cat>
          <c:val>
            <c:numLit>
              <c:formatCode>General</c:formatCode>
              <c:ptCount val="4"/>
              <c:pt idx="0">
                <c:v>62.5</c:v>
              </c:pt>
              <c:pt idx="1">
                <c:v>70.8</c:v>
              </c:pt>
              <c:pt idx="2">
                <c:v>66.7</c:v>
              </c:pt>
              <c:pt idx="3">
                <c:v>33.299999999999997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9C9-4CAA-903B-7ECE80362874}"/>
            </c:ext>
          </c:extLst>
        </c:ser>
        <c:ser>
          <c:idx val="1"/>
          <c:order val="1"/>
          <c:tx>
            <c:v>Macro-F1</c:v>
          </c:tx>
          <c:spPr>
            <a:solidFill>
              <a:srgbClr val="6DCBF4"/>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Gold + LLM</c:v>
              </c:pt>
              <c:pt idx="1">
                <c:v>Rule + LLM</c:v>
              </c:pt>
              <c:pt idx="2">
                <c:v>LLM + Rule</c:v>
              </c:pt>
              <c:pt idx="3">
                <c:v>Full LLM</c:v>
              </c:pt>
            </c:strLit>
          </c:cat>
          <c:val>
            <c:numLit>
              <c:formatCode>General</c:formatCode>
              <c:ptCount val="4"/>
              <c:pt idx="0">
                <c:v>60</c:v>
              </c:pt>
              <c:pt idx="1">
                <c:v>68.400000000000006</c:v>
              </c:pt>
              <c:pt idx="2">
                <c:v>65.3</c:v>
              </c:pt>
              <c:pt idx="3">
                <c:v>16.7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9C9-4CAA-903B-7ECE80362874}"/>
            </c:ext>
          </c:extLst>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majorGridlines>
          <c:spPr>
            <a:ln w="9525">
              <a:solidFill>
                <a:srgbClr val="E4E7EC"/>
              </a:solidFill>
              <a:prstDash val="solid"/>
            </a:ln>
          </c:spPr>
        </c:majorGridlines>
        <c:numFmt formatCode="General" sourceLinked="1"/>
        <c:majorTickMark val="none"/>
        <c:minorTickMark val="none"/>
        <c:tickLblPos val="nextTo"/>
        <c:spPr>
          <a:ln w="9525">
            <a:solidFill>
              <a:srgbClr val="C9CED8"/>
            </a:solidFill>
            <a:prstDash val="solid"/>
          </a:ln>
        </c:spPr>
        <c:txPr>
          <a:bodyPr anchorCtr="1"/>
          <a:lstStyle/>
          <a:p>
            <a:pPr>
              <a:defRPr sz="1200">
                <a:solidFill>
                  <a:srgbClr val="5D6677"/>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C9CED8"/>
            </a:solidFill>
            <a:prstDash val="solid"/>
          </a:ln>
        </c:spPr>
        <c:txPr>
          <a:bodyPr anchorCtr="1"/>
          <a:lstStyle/>
          <a:p>
            <a:pPr>
              <a:defRPr sz="1275">
                <a:solidFill>
                  <a:srgbClr val="0A1020"/>
                </a:solidFil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1200">
              <a:solidFill>
                <a:srgbClr val="5D6677"/>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1.5B</c:v>
          </c:tx>
          <c:spPr>
            <a:solidFill>
              <a:srgbClr val="6DCBF4"/>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Accuracy</c:v>
              </c:pt>
              <c:pt idx="1">
                <c:v>Macro-F1</c:v>
              </c:pt>
              <c:pt idx="2">
                <c:v>Inside</c:v>
              </c:pt>
              <c:pt idx="3">
                <c:v>Outside</c:v>
              </c:pt>
              <c:pt idx="4">
                <c:v>Near</c:v>
              </c:pt>
            </c:strLit>
          </c:cat>
          <c:val>
            <c:numLit>
              <c:formatCode>General</c:formatCode>
              <c:ptCount val="5"/>
              <c:pt idx="0">
                <c:v>62.5</c:v>
              </c:pt>
              <c:pt idx="1">
                <c:v>60</c:v>
              </c:pt>
              <c:pt idx="2">
                <c:v>100</c:v>
              </c:pt>
              <c:pt idx="3">
                <c:v>29.2</c:v>
              </c:pt>
              <c:pt idx="4">
                <c:v>58.3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4F6-4FBD-8FCB-4C112A8B5037}"/>
            </c:ext>
          </c:extLst>
        </c:ser>
        <c:ser>
          <c:idx val="1"/>
          <c:order val="1"/>
          <c:tx>
            <c:v>3B</c:v>
          </c:tx>
          <c:spPr>
            <a:solidFill>
              <a:srgbClr val="3D8DFF"/>
            </a:solidFill>
          </c:spPr>
          <c:invertIfNegative val="1"/>
          <c:dLbls>
            <c:spPr>
              <a:noFill/>
              <a:ln>
                <a:noFill/>
              </a:ln>
            </c:spPr>
            <c:txPr>
              <a:bodyPr anchorCtr="1"/>
              <a:lstStyle/>
              <a:p>
                <a:pPr>
                  <a:defRPr sz="1200" b="1">
                    <a:solidFill>
                      <a:srgbClr val="0A102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Accuracy</c:v>
              </c:pt>
              <c:pt idx="1">
                <c:v>Macro-F1</c:v>
              </c:pt>
              <c:pt idx="2">
                <c:v>Inside</c:v>
              </c:pt>
              <c:pt idx="3">
                <c:v>Outside</c:v>
              </c:pt>
              <c:pt idx="4">
                <c:v>Near</c:v>
              </c:pt>
            </c:strLit>
          </c:cat>
          <c:val>
            <c:numLit>
              <c:formatCode>General</c:formatCode>
              <c:ptCount val="5"/>
              <c:pt idx="0">
                <c:v>75</c:v>
              </c:pt>
              <c:pt idx="1">
                <c:v>73.599999999999994</c:v>
              </c:pt>
              <c:pt idx="2">
                <c:v>45.8</c:v>
              </c:pt>
              <c:pt idx="3">
                <c:v>79.2</c:v>
              </c:pt>
              <c:pt idx="4">
                <c:v>100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4F6-4FBD-8FCB-4C112A8B5037}"/>
            </c:ext>
          </c:extLst>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majorGridlines>
          <c:spPr>
            <a:ln w="9525">
              <a:solidFill>
                <a:srgbClr val="E4E7EC"/>
              </a:solidFill>
              <a:prstDash val="solid"/>
            </a:ln>
          </c:spPr>
        </c:majorGridlines>
        <c:numFmt formatCode="General" sourceLinked="1"/>
        <c:majorTickMark val="none"/>
        <c:minorTickMark val="none"/>
        <c:tickLblPos val="nextTo"/>
        <c:spPr>
          <a:ln w="9525">
            <a:solidFill>
              <a:srgbClr val="C9CED8"/>
            </a:solidFill>
            <a:prstDash val="solid"/>
          </a:ln>
        </c:spPr>
        <c:txPr>
          <a:bodyPr anchorCtr="1"/>
          <a:lstStyle/>
          <a:p>
            <a:pPr>
              <a:defRPr sz="1200">
                <a:solidFill>
                  <a:srgbClr val="5D6677"/>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C9CED8"/>
            </a:solidFill>
            <a:prstDash val="solid"/>
          </a:ln>
        </c:spPr>
        <c:txPr>
          <a:bodyPr anchorCtr="1"/>
          <a:lstStyle/>
          <a:p>
            <a:pPr>
              <a:defRPr sz="1275">
                <a:solidFill>
                  <a:srgbClr val="0A1020"/>
                </a:solidFill>
              </a:defRPr>
            </a:pPr>
            <a:endParaRPr lang="en-US"/>
          </a:p>
        </c:txPr>
        <c:crossAx val="48650112"/>
        <c:crosses val="autoZero"/>
        <c:crossBetween val="between"/>
      </c:valAx>
      <c:spPr>
        <a:noFill/>
        <a:ln w="0">
          <a:solidFill>
            <a:srgbClr val="FFFFFF"/>
          </a:solidFill>
          <a:prstDash val="solid"/>
        </a:ln>
      </c:spPr>
    </c:plotArea>
    <c:legend>
      <c:legendPos val="b"/>
      <c:overlay val="0"/>
      <c:txPr>
        <a:bodyPr anchorCtr="1"/>
        <a:lstStyle/>
        <a:p>
          <a:pPr>
            <a:defRPr sz="1200">
              <a:solidFill>
                <a:srgbClr val="5D6677"/>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decision problem: personalization is not only remembering a preference. The difficult part is deciding whether the preference is valid in the current context. This presentation follows the actual implementation path from controlled data to modular small-LLM experiments.</a:t>
            </a:r>
          </a:p>
          <a:p>
            <a:endParaRPr/>
          </a:p>
          <a:p>
            <a:r>
              <a:t>[Sources]</a:t>
            </a:r>
          </a:p>
          <a:p>
            <a:r>
              <a:t>- README.md</a:t>
            </a:r>
          </a:p>
          <a:p>
            <a:r>
              <a:t>- FrontierMem_Research_Concept_Report.tex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research question as a scope problem. A system may correctly remember what the user said and still personalize incorrectly because it ignores cause, ownership, temporal validity, and exceptions.</a:t>
            </a:r>
          </a:p>
          <a:p>
            <a:endParaRPr/>
          </a:p>
          <a:p>
            <a:r>
              <a:t>[Sources]</a:t>
            </a:r>
          </a:p>
          <a:p>
            <a:r>
              <a:t>- README.md</a:t>
            </a:r>
          </a:p>
          <a:p>
            <a:r>
              <a:t>- frontiermem/memory.py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roadmap for the talk. The stages are cumulative: validate the task and evaluation, introduce explicit boundary memory, then replace hand-built components with learned ones. In Stage 7, separate the LLM's jobs and inspect memory construction field by field before interpreting the final decision results.</a:t>
            </a:r>
          </a:p>
          <a:p>
            <a:endParaRPr/>
          </a:p>
          <a:p>
            <a:r>
              <a:t>[Sources]</a:t>
            </a:r>
          </a:p>
          <a:p>
            <a:r>
              <a:t>- README.md</a:t>
            </a:r>
          </a:p>
          <a:p>
            <a:r>
              <a:t>- docs/EXPERIMENTS.md</a:t>
            </a:r>
          </a:p>
          <a:p>
            <a:r>
              <a:t>- frontiermem/data.py</a:t>
            </a:r>
          </a:p>
          <a:p>
            <a:r>
              <a:t>- frontiermem/tiny_lm.py</a:t>
            </a:r>
          </a:p>
          <a:p>
            <a:r>
              <a:t>- run_qwen_fast_ablation.py</a:t>
            </a:r>
          </a:p>
          <a:p>
            <a:r>
              <a:t>- results/qwen_1_5b/qwen_1_5b_extraction_summary.csv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generation begins from a ScenarioSpec. For each group, the code samples a stable and scoped history, reuses three query kinds, produces six labeled rows, and performs a strict group-level split. This is the key leakage control.</a:t>
            </a:r>
          </a:p>
          <a:p>
            <a:endParaRPr/>
          </a:p>
          <a:p>
            <a:r>
              <a:t>[Sources]</a:t>
            </a:r>
          </a:p>
          <a:p>
            <a:r>
              <a:t>- frontiermem/data.py: ScenarioSpec and generate_frontier_suite</a:t>
            </a:r>
          </a:p>
          <a:p>
            <a:r>
              <a:t>- data/frontier_suite_mini.csv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two histories together. The stable twin says the preference generalizes across trips; the scoped twin says it exists only because of a reimbursement cap. The current query is identical. A system that stores only 'budget hotel' cannot distinguish the correct actions.</a:t>
            </a:r>
          </a:p>
          <a:p>
            <a:endParaRPr/>
          </a:p>
          <a:p>
            <a:r>
              <a:t>[Sources]</a:t>
            </a:r>
          </a:p>
          <a:p>
            <a:r>
              <a:t>- data/frontier_suite_mini.csv: twin_pair_id travel_budget-test-003-outside</a:t>
            </a:r>
          </a:p>
          <a:p>
            <a:r>
              <a:t>- frontiermem/data.py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one scoped memory to explain all three query types. Inside matches the positive scope, outside matches the exception, and near omits a material fact. Near is not just low confidence; it is a case where asking one question changes the decision.</a:t>
            </a:r>
          </a:p>
          <a:p>
            <a:endParaRPr/>
          </a:p>
          <a:p>
            <a:r>
              <a:t>[Sources]</a:t>
            </a:r>
          </a:p>
          <a:p>
            <a:r>
              <a:t>- data/frontier_suite_mini.csv: group_id travel_budget-test-003</a:t>
            </a:r>
          </a:p>
          <a:p>
            <a:r>
              <a:t>- frontiermem/data.py: _gold_action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arithmetic and the split. The suite contains 12 families across four domains. Each group contributes a stable and scoped history, and each history is evaluated with three query kinds. The test set contains 192 complete groups, not randomly selected rows.</a:t>
            </a:r>
          </a:p>
          <a:p>
            <a:endParaRPr/>
          </a:p>
          <a:p>
            <a:r>
              <a:t>[Sources]</a:t>
            </a:r>
          </a:p>
          <a:p>
            <a:r>
              <a:t>- README.md</a:t>
            </a:r>
          </a:p>
          <a:p>
            <a:r>
              <a:t>- RESULTS_SUMMARY.md</a:t>
            </a:r>
          </a:p>
          <a:p>
            <a:r>
              <a:t>- data/frontier_suite_mini.csv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baselines are designed to isolate structure. Flat Fact asks what happens if any stored preference is always used. Query-only measures current-query shortcuts. Long-context TF-IDF measures whether raw history can solve the task. FrontierMem-Lite tests the value of an explicit scope representation and controller.</a:t>
            </a:r>
          </a:p>
          <a:p>
            <a:endParaRPr/>
          </a:p>
          <a:p>
            <a:r>
              <a:t>[Sources]</a:t>
            </a:r>
          </a:p>
          <a:p>
            <a:r>
              <a:t>- frontiermem/baselines.py</a:t>
            </a:r>
          </a:p>
          <a:p>
            <a:r>
              <a:t>- frontiermem/memory.py</a:t>
            </a:r>
          </a:p>
          <a:p>
            <a:r>
              <a:t>- results/metrics_rules_and_baselines.csv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lead with accuracy alone. Flat Fact obtains 66.7% because two thirds of examples have APPLY as the gold action, but it fails every outside-boundary case and overgeneralizes in every opportunity. The structured rule system reaches 97.1% accuracy and 95.5% Macro-F1 on the 1,152-example test set.</a:t>
            </a:r>
          </a:p>
          <a:p>
            <a:endParaRPr/>
          </a:p>
          <a:p>
            <a:r>
              <a:t>[Sources]</a:t>
            </a:r>
          </a:p>
          <a:p>
            <a:r>
              <a:t>- results/metrics_all_local.csv</a:t>
            </a:r>
          </a:p>
          <a:p>
            <a:r>
              <a:t>- results/metrics_rules_and_baselines.csv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why this is more than persona memory. The object records the preference, causal type, positive and negative scope, temporal validity, evidence, confidence, ownership, and permission. This makes applicability inspectable before a response is generated.</a:t>
            </a:r>
          </a:p>
          <a:p>
            <a:endParaRPr/>
          </a:p>
          <a:p>
            <a:r>
              <a:t>[Sources]</a:t>
            </a:r>
          </a:p>
          <a:p>
            <a:r>
              <a:t>- frontiermem/memory.py: MemoryItem</a:t>
            </a:r>
          </a:p>
          <a:p>
            <a:r>
              <a:t>-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JSON from the actual travel-budget example. Highlight that the memory stores both applies_when and does_not_apply_when. Evidence and ownership make errors debuggable; permission defines the intended use of the memory.</a:t>
            </a:r>
          </a:p>
          <a:p>
            <a:endParaRPr/>
          </a:p>
          <a:p>
            <a:r>
              <a:t>[Sources]</a:t>
            </a:r>
          </a:p>
          <a:p>
            <a:r>
              <a:t>- results/example_rule_memories.json</a:t>
            </a:r>
          </a:p>
          <a:p>
            <a:r>
              <a:t>- frontiermem/memory.py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policy first infers whether the query matches, conflicts with, or leaves the boundary unresolved. Clarification is reserved for a material missing fact—not merely low confidence. This gives the three actions precise semantics.</a:t>
            </a:r>
          </a:p>
          <a:p>
            <a:endParaRPr/>
          </a:p>
          <a:p>
            <a:r>
              <a:t>[Sources]</a:t>
            </a:r>
          </a:p>
          <a:p>
            <a:r>
              <a:t>- frontiermem/memory.py: RuleBasedApplicabilityPolicy</a:t>
            </a:r>
          </a:p>
          <a:p>
            <a:r>
              <a:t>- frontiermem/hf_small_llm.py: decide_and_respond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stage replaces hand-built memory typing and decisions with a small from-scratch Transformer. The shared encoder feeds seven heads. The decoder exists, but local CPU-fast training skipped response loss and used deterministic response templates, so we do not claim learned generation here.</a:t>
            </a:r>
          </a:p>
          <a:p>
            <a:endParaRPr/>
          </a:p>
          <a:p>
            <a:r>
              <a:t>[Sources]</a:t>
            </a:r>
          </a:p>
          <a:p>
            <a:r>
              <a:t>- frontiermem/tiny_lm.py: TinyLMConfig and TinyMultiTaskLM</a:t>
            </a:r>
          </a:p>
          <a:p>
            <a:r>
              <a:t>- run_tiny_llm.py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Treat this as an informative negative result. The model reaches high inside accuracy because stable histories and inside cases map to APPLY, but it almost never learns IGNORE or CLARIFY. This motivated the modular hybrid rather than simply hiding the failure.</a:t>
            </a:r>
          </a:p>
          <a:p>
            <a:endParaRPr/>
          </a:p>
          <a:p>
            <a:r>
              <a:t>[Sources]</a:t>
            </a:r>
          </a:p>
          <a:p>
            <a:r>
              <a:t>- results/metrics_tiny_lm.csv</a:t>
            </a:r>
          </a:p>
          <a:p>
            <a:r>
              <a:t>- RESULTS_SUMMARY.md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hybrid uses the tiny Transformer for memory typing, preserves rule-based family detection in the CPU demo, and uses a transparent applicability policy. This division reduces the burden on the small model and makes the final decision inspectable. It reaches 93.7% accuracy and 90.9% Macro-F1.</a:t>
            </a:r>
          </a:p>
          <a:p>
            <a:endParaRPr/>
          </a:p>
          <a:p>
            <a:r>
              <a:t>[Sources]</a:t>
            </a:r>
          </a:p>
          <a:p>
            <a:r>
              <a:t>- frontiermem/tiny_lm.py: predict_dataframe_hybrid</a:t>
            </a:r>
          </a:p>
          <a:p>
            <a:r>
              <a:t>- results/metrics_tiny_lm.csv</a:t>
            </a:r>
          </a:p>
          <a:p>
            <a:r>
              <a:t>- results/tiny_lm_hybrid_extraction_metrics.csv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the three LLM responsibilities. The code can extract structured memory, decide and respond in one JSON output, and render responses. However, the current ablations primarily score extraction fields and the three-way decision. Generation quality needs its own evaluation.</a:t>
            </a:r>
          </a:p>
          <a:p>
            <a:endParaRPr/>
          </a:p>
          <a:p>
            <a:r>
              <a:t>[Sources]</a:t>
            </a:r>
          </a:p>
          <a:p>
            <a:r>
              <a:t>- frontiermem/hf_small_llm.py</a:t>
            </a:r>
          </a:p>
          <a:p>
            <a:r>
              <a:t>- run_qwen_fast_ablation.py</a:t>
            </a:r>
          </a:p>
          <a:p>
            <a:r>
              <a:t>- docs/EXPERIMENTS.md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four modes as interventions on the pipeline. Gold memory removes extraction error. Rule memory provides a strong structured memory. LLM memory plus rule policy tests extraction. Full LLM combines both and includes response fields. All runs use the same 72-example balanced subset.</a:t>
            </a:r>
          </a:p>
          <a:p>
            <a:endParaRPr/>
          </a:p>
          <a:p>
            <a:r>
              <a:t>[Sources]</a:t>
            </a:r>
          </a:p>
          <a:p>
            <a:r>
              <a:t>- run_qwen_fast_ablation.py</a:t>
            </a:r>
          </a:p>
          <a:p>
            <a:r>
              <a:t>- results/qwen_1_5b_ablation_summary.csv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missing analysis stage: evaluate memory construction independently of the final action. Qwen-1.5B preserves explicit context fields such as profile variant and temporal validity, but it fails the boundary-critical semantics needed by Frontier Memory—family, information type, and owner. The small model is therefore not yet a reliable end-to-end memory builder.</a:t>
            </a:r>
          </a:p>
          <a:p>
            <a:endParaRPr/>
          </a:p>
          <a:p>
            <a:r>
              <a:t>[Sources]</a:t>
            </a:r>
          </a:p>
          <a:p>
            <a:r>
              <a:t>- results/qwen_1_5b/qwen_1_5b_extraction_summary.csv</a:t>
            </a:r>
          </a:p>
          <a:p>
            <a:r>
              <a:t>- results/qwen_1_5b/qwen_1_5b_parser_summary.csv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isolating memory construction, the decision ablations become easier to interpret. Rule memory plus the LLM decision is best at 70.8% accuracy, while the full LLM pipeline collapses to IGNORE on all 72 examples. When an explicit structured component handles the part the small model cannot reliably infer, the overall system becomes substantially stronger.</a:t>
            </a:r>
          </a:p>
          <a:p>
            <a:endParaRPr/>
          </a:p>
          <a:p>
            <a:r>
              <a:t>[Sources]</a:t>
            </a:r>
          </a:p>
          <a:p>
            <a:r>
              <a:t>- results/qwen_1_5b/qwen_1_5b_ablation_summary.csv</a:t>
            </a:r>
          </a:p>
          <a:p>
            <a:r>
              <a:t>- results/qwen_1_5b/qwen_1_5b_prediction_distribution.csv</a:t>
            </a:r>
          </a:p>
          <a:p>
            <a:r>
              <a:t>- results/comparisons/all_collapse_analysis.csv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only the shared gold-memory decision mode. Moving from 1.5B to 3B improves accuracy by 12.5 points and Macro-F1 by 13.5 points, while outside and near behavior improves sharply. This supports scaling as the next direction. But the 3B model is still miscalibrated: inside accuracy falls and unnecessary clarification rises, so 3B is not yet reliable enough for the complete task.</a:t>
            </a:r>
          </a:p>
          <a:p>
            <a:endParaRPr/>
          </a:p>
          <a:p>
            <a:r>
              <a:t>[Sources]</a:t>
            </a:r>
          </a:p>
          <a:p>
            <a:r>
              <a:t>- results/metrics_Qwen2_5-1_5B-Instruct_gold_memory_llm.csv</a:t>
            </a:r>
          </a:p>
          <a:p>
            <a:r>
              <a:t>- results/metrics_Qwen2_5-3B-Instruct_gold_memory_llm.csv</a:t>
            </a:r>
          </a:p>
          <a:p>
            <a:r>
              <a:t>- results/comparisons/qwen_3b_vs_1_5b_deltas.csv</a:t>
            </a:r>
          </a:p>
          <a:p>
            <a:r>
              <a:t>- results/qwen_3b/README.md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combined conclusion has two parts. First, the small end-to-end models are not capable enough for this task, and the 1.5B-to-3B gain justifies testing larger models. Second, the strongest prototype results already come from FrontierMem's explicit structure and rules: when a component can be made precise, our boundary-aware system outperforms flat memory and prevents small-model collapse. We should scale the model without abandoning the controller.</a:t>
            </a:r>
          </a:p>
          <a:p>
            <a:endParaRPr/>
          </a:p>
          <a:p>
            <a:r>
              <a:t>[Sources]</a:t>
            </a:r>
          </a:p>
          <a:p>
            <a:r>
              <a:t>- results/comparisons/all_model_metrics_percent.csv</a:t>
            </a:r>
          </a:p>
          <a:p>
            <a:r>
              <a:t>- results/qwen_1_5b/qwen_1_5b_ablation_summary.csv</a:t>
            </a:r>
          </a:p>
          <a:p>
            <a:r>
              <a:t>- results/comparisons/qwen_3b_vs_1_5b_deltas.csv</a:t>
            </a:r>
          </a:p>
          <a:p>
            <a:r>
              <a:t>- RESULTS_SUMMARY.md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concrete decision implied by the results. We need larger models because 1.5B collapses end to end and 3B improves but remains unreliable. At the same time, the boundary-aware rule and hybrid prototypes are already strong. The next experiment should therefore scale the LLM while preserving modular memory construction and an auditable controller.</a:t>
            </a:r>
          </a:p>
          <a:p>
            <a:endParaRPr/>
          </a:p>
          <a:p>
            <a:r>
              <a:t>[Sources]</a:t>
            </a:r>
          </a:p>
          <a:p>
            <a:r>
              <a:t>- README.md: Interpretation caveat and next step</a:t>
            </a:r>
          </a:p>
          <a:p>
            <a:r>
              <a:t>- docs/EXPERIMENTS.md</a:t>
            </a:r>
          </a:p>
          <a:p>
            <a:r>
              <a:t>- results/comparisons/qwen_3b_vs_1_5b_deltas.csv</a:t>
            </a:r>
          </a:p>
          <a:p>
            <a:r>
              <a:t>- RESULTS_SUMMARY.md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B60FEF6-DFF9-4163-8685-567A1DD8F6FC}"/>
              </a:ext>
            </a:extLst>
          </p:cNvPr>
          <p:cNvSpPr>
            <a:spLocks noGrp="1"/>
          </p:cNvSpPr>
          <p:nvPr/>
        </p:nvSpPr>
        <p:spPr>
          <a:xfrm>
            <a:off x="495300" y="361950"/>
            <a:ext cx="685800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FRONTIERMEM · PROGRESS UPDATE</a:t>
            </a:r>
          </a:p>
        </p:txBody>
      </p:sp>
      <p:sp>
        <p:nvSpPr>
          <p:cNvPr id="2" name="Rectangle 1">
            <a:extLst>
              <a:ext uri="{FF2B5EF4-FFF2-40B4-BE49-F238E27FC236}">
                <a16:creationId xmlns:a16="http://schemas.microsoft.com/office/drawing/2014/main" id="{2FF43C49-4065-4D3B-B43E-D80E544FB3C7}"/>
              </a:ext>
            </a:extLst>
          </p:cNvPr>
          <p:cNvSpPr>
            <a:spLocks noGrp="1"/>
          </p:cNvSpPr>
          <p:nvPr/>
        </p:nvSpPr>
        <p:spPr>
          <a:xfrm>
            <a:off x="495300" y="1485900"/>
            <a:ext cx="6953250" cy="952500"/>
          </a:xfrm>
          <a:prstGeom prst="rect">
            <a:avLst/>
          </a:prstGeom>
          <a:noFill/>
          <a:ln w="0">
            <a:noFill/>
            <a:prstDash val="solid"/>
          </a:ln>
        </p:spPr>
        <p:txBody>
          <a:bodyPr wrap="none" lIns="0" tIns="0" rIns="0" bIns="0" anchor="t">
            <a:noAutofit/>
          </a:bodyPr>
          <a:lstStyle/>
          <a:p>
            <a:pPr algn="l">
              <a:buNone/>
              <a:defRPr sz="6150" b="1">
                <a:solidFill>
                  <a:srgbClr val="0A1020"/>
                </a:solidFill>
                <a:latin typeface="Arial"/>
                <a:ea typeface="Arial"/>
                <a:cs typeface="Arial"/>
              </a:defRPr>
            </a:pPr>
            <a:r>
              <a:rPr sz="6150" b="1">
                <a:solidFill>
                  <a:srgbClr val="0A1020"/>
                </a:solidFill>
                <a:latin typeface="Arial"/>
                <a:ea typeface="Arial"/>
                <a:cs typeface="Arial"/>
              </a:rPr>
              <a:t>FrontierMem</a:t>
            </a:r>
          </a:p>
        </p:txBody>
      </p:sp>
      <p:sp>
        <p:nvSpPr>
          <p:cNvPr id="3" name="Rectangle 2">
            <a:extLst>
              <a:ext uri="{FF2B5EF4-FFF2-40B4-BE49-F238E27FC236}">
                <a16:creationId xmlns:a16="http://schemas.microsoft.com/office/drawing/2014/main" id="{3BDCEA41-A74E-4F3B-BF23-283274CA1FEB}"/>
              </a:ext>
            </a:extLst>
          </p:cNvPr>
          <p:cNvSpPr>
            <a:spLocks noGrp="1"/>
          </p:cNvSpPr>
          <p:nvPr/>
        </p:nvSpPr>
        <p:spPr>
          <a:xfrm>
            <a:off x="495300" y="2628900"/>
            <a:ext cx="6858000" cy="1333500"/>
          </a:xfrm>
          <a:prstGeom prst="rect">
            <a:avLst/>
          </a:prstGeom>
          <a:noFill/>
          <a:ln w="0">
            <a:noFill/>
            <a:prstDash val="solid"/>
          </a:ln>
        </p:spPr>
        <p:txBody>
          <a:bodyPr wrap="square" lIns="0" tIns="0" rIns="0" bIns="0" anchor="t">
            <a:noAutofit/>
          </a:bodyPr>
          <a:lstStyle/>
          <a:p>
            <a:pPr algn="l">
              <a:buNone/>
              <a:defRPr sz="2550" b="0">
                <a:solidFill>
                  <a:srgbClr val="0A1020"/>
                </a:solidFill>
                <a:latin typeface="Arial"/>
                <a:ea typeface="Arial"/>
                <a:cs typeface="Arial"/>
              </a:defRPr>
            </a:pPr>
            <a:r>
              <a:rPr sz="2550" b="0">
                <a:solidFill>
                  <a:srgbClr val="0A1020"/>
                </a:solidFill>
                <a:latin typeface="Arial"/>
                <a:ea typeface="Arial"/>
                <a:cs typeface="Arial"/>
              </a:rPr>
              <a:t>Learning when a stored preference should apply, be ignored, or trigger clarification</a:t>
            </a:r>
          </a:p>
        </p:txBody>
      </p:sp>
      <p:sp>
        <p:nvSpPr>
          <p:cNvPr id="4" name="Rectangle 3">
            <a:extLst>
              <a:ext uri="{FF2B5EF4-FFF2-40B4-BE49-F238E27FC236}">
                <a16:creationId xmlns:a16="http://schemas.microsoft.com/office/drawing/2014/main" id="{7BB291ED-B9ED-4288-B8C4-81CB42DE4126}"/>
              </a:ext>
            </a:extLst>
          </p:cNvPr>
          <p:cNvSpPr>
            <a:spLocks noGrp="1"/>
          </p:cNvSpPr>
          <p:nvPr/>
        </p:nvSpPr>
        <p:spPr>
          <a:xfrm>
            <a:off x="495300" y="5353050"/>
            <a:ext cx="6858000" cy="666750"/>
          </a:xfrm>
          <a:prstGeom prst="rect">
            <a:avLst/>
          </a:prstGeom>
          <a:noFill/>
          <a:ln w="0">
            <a:noFill/>
            <a:prstDash val="solid"/>
          </a:ln>
        </p:spPr>
        <p:txBody>
          <a:bodyPr wrap="square" lIns="0" tIns="0" rIns="0" bIns="0" anchor="t">
            <a:no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Mohammad Amanlou · Yasaman Amou Jafari</a:t>
            </a:r>
          </a:p>
          <a:p>
            <a:pPr algn="l">
              <a:buNone/>
              <a:defRPr sz="1575" b="0">
                <a:solidFill>
                  <a:srgbClr val="5D6677"/>
                </a:solidFill>
                <a:latin typeface="Arial"/>
                <a:ea typeface="Arial"/>
                <a:cs typeface="Arial"/>
              </a:defRPr>
            </a:pPr>
            <a:r>
              <a:rPr sz="1575" b="0">
                <a:solidFill>
                  <a:srgbClr val="5D6677"/>
                </a:solidFill>
                <a:latin typeface="Arial"/>
                <a:ea typeface="Arial"/>
                <a:cs typeface="Arial"/>
              </a:rPr>
              <a:t>Prepared for Prof. Yücel Saygın · August 2026</a:t>
            </a:r>
          </a:p>
        </p:txBody>
      </p:sp>
      <p:sp>
        <p:nvSpPr>
          <p:cNvPr id="5" name="Rectangle 4">
            <a:extLst>
              <a:ext uri="{FF2B5EF4-FFF2-40B4-BE49-F238E27FC236}">
                <a16:creationId xmlns:a16="http://schemas.microsoft.com/office/drawing/2014/main" id="{39403CEE-C96E-4DE8-A912-41990DA0FABE}"/>
              </a:ext>
            </a:extLst>
          </p:cNvPr>
          <p:cNvSpPr>
            <a:spLocks noGrp="1"/>
          </p:cNvSpPr>
          <p:nvPr/>
        </p:nvSpPr>
        <p:spPr>
          <a:xfrm>
            <a:off x="8239125" y="781050"/>
            <a:ext cx="3238500" cy="5181600"/>
          </a:xfrm>
          <a:prstGeom prst="rect">
            <a:avLst/>
          </a:prstGeom>
          <a:solidFill>
            <a:srgbClr val="EAF3FF"/>
          </a:solidFill>
          <a:ln w="0">
            <a:noFill/>
            <a:prstDash val="solid"/>
          </a:ln>
        </p:spPr>
      </p:sp>
      <p:sp>
        <p:nvSpPr>
          <p:cNvPr id="6" name="Rectangle 5">
            <a:extLst>
              <a:ext uri="{FF2B5EF4-FFF2-40B4-BE49-F238E27FC236}">
                <a16:creationId xmlns:a16="http://schemas.microsoft.com/office/drawing/2014/main" id="{1E5F2D62-7DA2-49A8-B096-0270F3672EA0}"/>
              </a:ext>
            </a:extLst>
          </p:cNvPr>
          <p:cNvSpPr>
            <a:spLocks noGrp="1"/>
          </p:cNvSpPr>
          <p:nvPr/>
        </p:nvSpPr>
        <p:spPr>
          <a:xfrm>
            <a:off x="8667750" y="1428750"/>
            <a:ext cx="2381250" cy="685800"/>
          </a:xfrm>
          <a:prstGeom prst="rect">
            <a:avLst/>
          </a:prstGeom>
          <a:noFill/>
          <a:ln w="0">
            <a:noFill/>
            <a:prstDash val="solid"/>
          </a:ln>
        </p:spPr>
        <p:txBody>
          <a:bodyPr wrap="square" lIns="0" tIns="0" rIns="0" bIns="0" anchor="t">
            <a:noAutofit/>
          </a:bodyPr>
          <a:lstStyle/>
          <a:p>
            <a:pPr algn="ctr">
              <a:buNone/>
              <a:defRPr sz="3900" b="1">
                <a:solidFill>
                  <a:srgbClr val="159A7D"/>
                </a:solidFill>
                <a:latin typeface="Arial"/>
                <a:ea typeface="Arial"/>
                <a:cs typeface="Arial"/>
              </a:defRPr>
            </a:pPr>
            <a:r>
              <a:rPr sz="3900" b="1">
                <a:solidFill>
                  <a:srgbClr val="159A7D"/>
                </a:solidFill>
                <a:latin typeface="Arial"/>
                <a:ea typeface="Arial"/>
                <a:cs typeface="Arial"/>
              </a:rPr>
              <a:t>APPLY</a:t>
            </a:r>
          </a:p>
        </p:txBody>
      </p:sp>
      <p:sp>
        <p:nvSpPr>
          <p:cNvPr id="7" name="Straight Connector 6">
            <a:extLst>
              <a:ext uri="{FF2B5EF4-FFF2-40B4-BE49-F238E27FC236}">
                <a16:creationId xmlns:a16="http://schemas.microsoft.com/office/drawing/2014/main" id="{6FB833FD-FC7A-46D8-BBE3-031B256B074E}"/>
              </a:ext>
            </a:extLst>
          </p:cNvPr>
          <p:cNvSpPr>
            <a:spLocks noGrp="1"/>
          </p:cNvSpPr>
          <p:nvPr/>
        </p:nvSpPr>
        <p:spPr>
          <a:xfrm>
            <a:off x="8724900" y="2381250"/>
            <a:ext cx="2266950" cy="0"/>
          </a:xfrm>
          <a:prstGeom prst="line">
            <a:avLst/>
          </a:prstGeom>
          <a:noFill/>
          <a:ln w="9525">
            <a:solidFill>
              <a:srgbClr val="C9CED8"/>
            </a:solidFill>
            <a:prstDash val="solid"/>
          </a:ln>
        </p:spPr>
      </p:sp>
      <p:sp>
        <p:nvSpPr>
          <p:cNvPr id="8" name="Rectangle 7">
            <a:extLst>
              <a:ext uri="{FF2B5EF4-FFF2-40B4-BE49-F238E27FC236}">
                <a16:creationId xmlns:a16="http://schemas.microsoft.com/office/drawing/2014/main" id="{077D7AAC-5C20-4283-B62E-E37C46B2108C}"/>
              </a:ext>
            </a:extLst>
          </p:cNvPr>
          <p:cNvSpPr>
            <a:spLocks noGrp="1"/>
          </p:cNvSpPr>
          <p:nvPr/>
        </p:nvSpPr>
        <p:spPr>
          <a:xfrm>
            <a:off x="8524875" y="2895600"/>
            <a:ext cx="2667000" cy="685800"/>
          </a:xfrm>
          <a:prstGeom prst="rect">
            <a:avLst/>
          </a:prstGeom>
          <a:noFill/>
          <a:ln w="0">
            <a:noFill/>
            <a:prstDash val="solid"/>
          </a:ln>
        </p:spPr>
        <p:txBody>
          <a:bodyPr wrap="square" lIns="0" tIns="0" rIns="0" bIns="0" anchor="t">
            <a:noAutofit/>
          </a:bodyPr>
          <a:lstStyle/>
          <a:p>
            <a:pPr algn="ctr">
              <a:buNone/>
              <a:defRPr sz="3600" b="1">
                <a:solidFill>
                  <a:srgbClr val="C98500"/>
                </a:solidFill>
                <a:latin typeface="Arial"/>
                <a:ea typeface="Arial"/>
                <a:cs typeface="Arial"/>
              </a:defRPr>
            </a:pPr>
            <a:r>
              <a:rPr sz="3600" b="1">
                <a:solidFill>
                  <a:srgbClr val="C98500"/>
                </a:solidFill>
                <a:latin typeface="Arial"/>
                <a:ea typeface="Arial"/>
                <a:cs typeface="Arial"/>
              </a:rPr>
              <a:t>CLARIFY</a:t>
            </a:r>
          </a:p>
        </p:txBody>
      </p:sp>
      <p:sp>
        <p:nvSpPr>
          <p:cNvPr id="9" name="Straight Connector 8">
            <a:extLst>
              <a:ext uri="{FF2B5EF4-FFF2-40B4-BE49-F238E27FC236}">
                <a16:creationId xmlns:a16="http://schemas.microsoft.com/office/drawing/2014/main" id="{56E62687-68BD-4F2D-B339-59AA4778964D}"/>
              </a:ext>
            </a:extLst>
          </p:cNvPr>
          <p:cNvSpPr>
            <a:spLocks noGrp="1"/>
          </p:cNvSpPr>
          <p:nvPr/>
        </p:nvSpPr>
        <p:spPr>
          <a:xfrm>
            <a:off x="8724900" y="3857625"/>
            <a:ext cx="2266950" cy="0"/>
          </a:xfrm>
          <a:prstGeom prst="line">
            <a:avLst/>
          </a:prstGeom>
          <a:noFill/>
          <a:ln w="9525">
            <a:solidFill>
              <a:srgbClr val="C9CED8"/>
            </a:solidFill>
            <a:prstDash val="solid"/>
          </a:ln>
        </p:spPr>
      </p:sp>
      <p:sp>
        <p:nvSpPr>
          <p:cNvPr id="10" name="Rectangle 9">
            <a:extLst>
              <a:ext uri="{FF2B5EF4-FFF2-40B4-BE49-F238E27FC236}">
                <a16:creationId xmlns:a16="http://schemas.microsoft.com/office/drawing/2014/main" id="{A4506D47-28CF-4B08-98F8-740CEF9AB3F5}"/>
              </a:ext>
            </a:extLst>
          </p:cNvPr>
          <p:cNvSpPr>
            <a:spLocks noGrp="1"/>
          </p:cNvSpPr>
          <p:nvPr/>
        </p:nvSpPr>
        <p:spPr>
          <a:xfrm>
            <a:off x="8667750" y="4400550"/>
            <a:ext cx="2381250" cy="685800"/>
          </a:xfrm>
          <a:prstGeom prst="rect">
            <a:avLst/>
          </a:prstGeom>
          <a:noFill/>
          <a:ln w="0">
            <a:noFill/>
            <a:prstDash val="solid"/>
          </a:ln>
        </p:spPr>
        <p:txBody>
          <a:bodyPr wrap="square" lIns="0" tIns="0" rIns="0" bIns="0" anchor="t">
            <a:noAutofit/>
          </a:bodyPr>
          <a:lstStyle/>
          <a:p>
            <a:pPr algn="ctr">
              <a:buNone/>
              <a:defRPr sz="3900" b="1">
                <a:solidFill>
                  <a:srgbClr val="5F6878"/>
                </a:solidFill>
                <a:latin typeface="Arial"/>
                <a:ea typeface="Arial"/>
                <a:cs typeface="Arial"/>
              </a:defRPr>
            </a:pPr>
            <a:r>
              <a:rPr sz="3900" b="1">
                <a:solidFill>
                  <a:srgbClr val="5F6878"/>
                </a:solidFill>
                <a:latin typeface="Arial"/>
                <a:ea typeface="Arial"/>
                <a:cs typeface="Arial"/>
              </a:rPr>
              <a:t>IGNORE</a:t>
            </a:r>
          </a:p>
        </p:txBody>
      </p:sp>
    </p:spTree>
    <p:extLst>
      <p:ext uri="{BB962C8B-B14F-4D97-AF65-F5344CB8AC3E}">
        <p14:creationId xmlns:p14="http://schemas.microsoft.com/office/powerpoint/2010/main" val="1545705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kicker-2">
            <a:extLst>
              <a:ext uri="{FF2B5EF4-FFF2-40B4-BE49-F238E27FC236}">
                <a16:creationId xmlns:a16="http://schemas.microsoft.com/office/drawing/2014/main" id="{656D898B-0324-4DF6-AE77-990D6C187AAF}"/>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RESEARCH QUESTION</a:t>
            </a:r>
          </a:p>
        </p:txBody>
      </p:sp>
      <p:sp>
        <p:nvSpPr>
          <p:cNvPr id="2" name="title-2">
            <a:extLst>
              <a:ext uri="{FF2B5EF4-FFF2-40B4-BE49-F238E27FC236}">
                <a16:creationId xmlns:a16="http://schemas.microsoft.com/office/drawing/2014/main" id="{8C8F918D-1465-4315-9201-2F5F2BF884FB}"/>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The problem is scope, not preference recall</a:t>
            </a:r>
          </a:p>
        </p:txBody>
      </p:sp>
      <p:sp>
        <p:nvSpPr>
          <p:cNvPr id="3" name="Straight Connector 2">
            <a:extLst>
              <a:ext uri="{FF2B5EF4-FFF2-40B4-BE49-F238E27FC236}">
                <a16:creationId xmlns:a16="http://schemas.microsoft.com/office/drawing/2014/main" id="{761605BA-F734-4392-BF93-242C34B57319}"/>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211A6109-532C-411D-A044-3646E41C38DB}"/>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02</a:t>
            </a:r>
          </a:p>
        </p:txBody>
      </p:sp>
      <p:sp>
        <p:nvSpPr>
          <p:cNvPr id="5" name="Rectangle 4">
            <a:extLst>
              <a:ext uri="{FF2B5EF4-FFF2-40B4-BE49-F238E27FC236}">
                <a16:creationId xmlns:a16="http://schemas.microsoft.com/office/drawing/2014/main" id="{FCC4D2BE-1B16-45B6-9307-034D2489B18C}"/>
              </a:ext>
            </a:extLst>
          </p:cNvPr>
          <p:cNvSpPr>
            <a:spLocks noGrp="1"/>
          </p:cNvSpPr>
          <p:nvPr/>
        </p:nvSpPr>
        <p:spPr>
          <a:xfrm>
            <a:off x="495300" y="1657350"/>
            <a:ext cx="10858500" cy="666750"/>
          </a:xfrm>
          <a:prstGeom prst="rect">
            <a:avLst/>
          </a:prstGeom>
          <a:noFill/>
          <a:ln w="0">
            <a:noFill/>
            <a:prstDash val="solid"/>
          </a:ln>
        </p:spPr>
        <p:txBody>
          <a:bodyPr wrap="square" lIns="0" tIns="0" rIns="0" bIns="0" anchor="t">
            <a:noAutofit/>
          </a:bodyPr>
          <a:lstStyle/>
          <a:p>
            <a:pPr algn="l">
              <a:buNone/>
              <a:defRPr sz="3000" b="1">
                <a:solidFill>
                  <a:srgbClr val="1357B8"/>
                </a:solidFill>
                <a:latin typeface="Arial"/>
                <a:ea typeface="Arial"/>
                <a:cs typeface="Arial"/>
              </a:defRPr>
            </a:pPr>
            <a:r>
              <a:rPr sz="3000" b="1">
                <a:solidFill>
                  <a:srgbClr val="1357B8"/>
                </a:solidFill>
                <a:latin typeface="Arial"/>
                <a:ea typeface="Arial"/>
                <a:cs typeface="Arial"/>
              </a:rPr>
              <a:t>How can an assistant know when a stored preference still applies?</a:t>
            </a:r>
          </a:p>
        </p:txBody>
      </p:sp>
      <p:sp>
        <p:nvSpPr>
          <p:cNvPr id="6" name="Rectangle 5">
            <a:extLst>
              <a:ext uri="{FF2B5EF4-FFF2-40B4-BE49-F238E27FC236}">
                <a16:creationId xmlns:a16="http://schemas.microsoft.com/office/drawing/2014/main" id="{C7AA6D0D-A646-455B-8D43-2FCEA4B8A971}"/>
              </a:ext>
            </a:extLst>
          </p:cNvPr>
          <p:cNvSpPr>
            <a:spLocks noGrp="1"/>
          </p:cNvSpPr>
          <p:nvPr/>
        </p:nvSpPr>
        <p:spPr>
          <a:xfrm>
            <a:off x="495300" y="2667000"/>
            <a:ext cx="4953000" cy="2705100"/>
          </a:xfrm>
          <a:prstGeom prst="rect">
            <a:avLst/>
          </a:prstGeom>
          <a:solidFill>
            <a:srgbClr val="FCEBEC"/>
          </a:solidFill>
          <a:ln w="19050">
            <a:solidFill>
              <a:srgbClr val="D94747"/>
            </a:solidFill>
            <a:prstDash val="solid"/>
          </a:ln>
        </p:spPr>
      </p:sp>
      <p:sp>
        <p:nvSpPr>
          <p:cNvPr id="7" name="Rectangle 6">
            <a:extLst>
              <a:ext uri="{FF2B5EF4-FFF2-40B4-BE49-F238E27FC236}">
                <a16:creationId xmlns:a16="http://schemas.microsoft.com/office/drawing/2014/main" id="{99ED2924-649C-4CBC-A713-92EEECEFAF4C}"/>
              </a:ext>
            </a:extLst>
          </p:cNvPr>
          <p:cNvSpPr>
            <a:spLocks noGrp="1"/>
          </p:cNvSpPr>
          <p:nvPr/>
        </p:nvSpPr>
        <p:spPr>
          <a:xfrm>
            <a:off x="762000" y="2971800"/>
            <a:ext cx="4286250" cy="361950"/>
          </a:xfrm>
          <a:prstGeom prst="rect">
            <a:avLst/>
          </a:prstGeom>
          <a:noFill/>
          <a:ln w="0">
            <a:noFill/>
            <a:prstDash val="solid"/>
          </a:ln>
        </p:spPr>
        <p:txBody>
          <a:bodyPr wrap="square" lIns="0" tIns="0" rIns="0" bIns="0" anchor="t">
            <a:normAutofit/>
          </a:bodyPr>
          <a:lstStyle/>
          <a:p>
            <a:pPr algn="l">
              <a:buNone/>
              <a:defRPr sz="2250" b="1">
                <a:solidFill>
                  <a:srgbClr val="D94747"/>
                </a:solidFill>
                <a:latin typeface="Arial"/>
                <a:ea typeface="Arial"/>
                <a:cs typeface="Arial"/>
              </a:defRPr>
            </a:pPr>
            <a:r>
              <a:rPr sz="2250" b="1">
                <a:solidFill>
                  <a:srgbClr val="D94747"/>
                </a:solidFill>
                <a:latin typeface="Arial"/>
                <a:ea typeface="Arial"/>
                <a:cs typeface="Arial"/>
              </a:rPr>
              <a:t>Flat memory</a:t>
            </a:r>
          </a:p>
        </p:txBody>
      </p:sp>
      <p:sp>
        <p:nvSpPr>
          <p:cNvPr id="8" name="Rectangle 7">
            <a:extLst>
              <a:ext uri="{FF2B5EF4-FFF2-40B4-BE49-F238E27FC236}">
                <a16:creationId xmlns:a16="http://schemas.microsoft.com/office/drawing/2014/main" id="{7335012D-BD6A-4E67-92DE-45D29781DF51}"/>
              </a:ext>
            </a:extLst>
          </p:cNvPr>
          <p:cNvSpPr>
            <a:spLocks noGrp="1"/>
          </p:cNvSpPr>
          <p:nvPr/>
        </p:nvSpPr>
        <p:spPr>
          <a:xfrm>
            <a:off x="762000" y="3543300"/>
            <a:ext cx="4286250" cy="609600"/>
          </a:xfrm>
          <a:prstGeom prst="rect">
            <a:avLst/>
          </a:prstGeom>
          <a:noFill/>
          <a:ln w="0">
            <a:noFill/>
            <a:prstDash val="solid"/>
          </a:ln>
        </p:spPr>
        <p:txBody>
          <a:bodyPr wrap="square" lIns="0" tIns="0" rIns="0" bIns="0" anchor="t">
            <a:normAutofit/>
          </a:bodyPr>
          <a:lstStyle/>
          <a:p>
            <a:pPr algn="l">
              <a:buNone/>
              <a:defRPr sz="2100" b="1">
                <a:solidFill>
                  <a:srgbClr val="0A1020"/>
                </a:solidFill>
                <a:latin typeface="Arial"/>
                <a:ea typeface="Arial"/>
                <a:cs typeface="Arial"/>
              </a:defRPr>
            </a:pPr>
            <a:r>
              <a:rPr sz="2100" b="1">
                <a:solidFill>
                  <a:srgbClr val="0A1020"/>
                </a:solidFill>
                <a:latin typeface="Arial"/>
                <a:ea typeface="Arial"/>
                <a:cs typeface="Arial"/>
              </a:rPr>
              <a:t>“The user prefers budget hotels.”</a:t>
            </a:r>
          </a:p>
        </p:txBody>
      </p:sp>
      <p:sp>
        <p:nvSpPr>
          <p:cNvPr id="9" name="Rectangle 8">
            <a:extLst>
              <a:ext uri="{FF2B5EF4-FFF2-40B4-BE49-F238E27FC236}">
                <a16:creationId xmlns:a16="http://schemas.microsoft.com/office/drawing/2014/main" id="{CD495B8A-EC92-434C-A798-A10FD82173EA}"/>
              </a:ext>
            </a:extLst>
          </p:cNvPr>
          <p:cNvSpPr>
            <a:spLocks noGrp="1"/>
          </p:cNvSpPr>
          <p:nvPr/>
        </p:nvSpPr>
        <p:spPr>
          <a:xfrm>
            <a:off x="762000" y="4362450"/>
            <a:ext cx="4286250" cy="742950"/>
          </a:xfrm>
          <a:prstGeom prst="rect">
            <a:avLst/>
          </a:prstGeom>
          <a:noFill/>
          <a:ln w="0">
            <a:noFill/>
            <a:prstDash val="solid"/>
          </a:ln>
        </p:spPr>
        <p:txBody>
          <a:bodyPr wrap="square" lIns="0" tIns="0" rIns="0" bIns="0" anchor="t">
            <a:norm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The same fact is applied to every trip, even when an employer pays without a cap.</a:t>
            </a:r>
          </a:p>
        </p:txBody>
      </p:sp>
      <p:sp>
        <p:nvSpPr>
          <p:cNvPr id="10" name="Rectangle 9">
            <a:extLst>
              <a:ext uri="{FF2B5EF4-FFF2-40B4-BE49-F238E27FC236}">
                <a16:creationId xmlns:a16="http://schemas.microsoft.com/office/drawing/2014/main" id="{D84CF8BD-7645-4A9F-A076-4E9338CDC2CD}"/>
              </a:ext>
            </a:extLst>
          </p:cNvPr>
          <p:cNvSpPr>
            <a:spLocks noGrp="1"/>
          </p:cNvSpPr>
          <p:nvPr/>
        </p:nvSpPr>
        <p:spPr>
          <a:xfrm>
            <a:off x="6743700" y="2667000"/>
            <a:ext cx="4953000" cy="2705100"/>
          </a:xfrm>
          <a:prstGeom prst="rect">
            <a:avLst/>
          </a:prstGeom>
          <a:solidFill>
            <a:srgbClr val="E6F6F2"/>
          </a:solidFill>
          <a:ln w="19050">
            <a:solidFill>
              <a:srgbClr val="159A7D"/>
            </a:solidFill>
            <a:prstDash val="solid"/>
          </a:ln>
        </p:spPr>
      </p:sp>
      <p:sp>
        <p:nvSpPr>
          <p:cNvPr id="11" name="Rectangle 10">
            <a:extLst>
              <a:ext uri="{FF2B5EF4-FFF2-40B4-BE49-F238E27FC236}">
                <a16:creationId xmlns:a16="http://schemas.microsoft.com/office/drawing/2014/main" id="{61D450DD-762C-4BF9-A3CE-E8210B16A4AE}"/>
              </a:ext>
            </a:extLst>
          </p:cNvPr>
          <p:cNvSpPr>
            <a:spLocks noGrp="1"/>
          </p:cNvSpPr>
          <p:nvPr/>
        </p:nvSpPr>
        <p:spPr>
          <a:xfrm>
            <a:off x="7010400" y="2971800"/>
            <a:ext cx="4381500" cy="361950"/>
          </a:xfrm>
          <a:prstGeom prst="rect">
            <a:avLst/>
          </a:prstGeom>
          <a:noFill/>
          <a:ln w="0">
            <a:noFill/>
            <a:prstDash val="solid"/>
          </a:ln>
        </p:spPr>
        <p:txBody>
          <a:bodyPr wrap="square" lIns="0" tIns="0" rIns="0" bIns="0" anchor="t">
            <a:normAutofit/>
          </a:bodyPr>
          <a:lstStyle/>
          <a:p>
            <a:pPr algn="l">
              <a:buNone/>
              <a:defRPr sz="2250" b="1">
                <a:solidFill>
                  <a:srgbClr val="159A7D"/>
                </a:solidFill>
                <a:latin typeface="Arial"/>
                <a:ea typeface="Arial"/>
                <a:cs typeface="Arial"/>
              </a:defRPr>
            </a:pPr>
            <a:r>
              <a:rPr sz="2250" b="1">
                <a:solidFill>
                  <a:srgbClr val="159A7D"/>
                </a:solidFill>
                <a:latin typeface="Arial"/>
                <a:ea typeface="Arial"/>
                <a:cs typeface="Arial"/>
              </a:rPr>
              <a:t>Boundary-aware memory</a:t>
            </a:r>
          </a:p>
        </p:txBody>
      </p:sp>
      <p:sp>
        <p:nvSpPr>
          <p:cNvPr id="12" name="Rectangle 11">
            <a:extLst>
              <a:ext uri="{FF2B5EF4-FFF2-40B4-BE49-F238E27FC236}">
                <a16:creationId xmlns:a16="http://schemas.microsoft.com/office/drawing/2014/main" id="{DB2477D0-647E-468D-9A76-12FF60627BEF}"/>
              </a:ext>
            </a:extLst>
          </p:cNvPr>
          <p:cNvSpPr>
            <a:spLocks noGrp="1"/>
          </p:cNvSpPr>
          <p:nvPr/>
        </p:nvSpPr>
        <p:spPr>
          <a:xfrm>
            <a:off x="7010400" y="3543300"/>
            <a:ext cx="4381500" cy="666750"/>
          </a:xfrm>
          <a:prstGeom prst="rect">
            <a:avLst/>
          </a:prstGeom>
          <a:noFill/>
          <a:ln w="0">
            <a:noFill/>
            <a:prstDash val="solid"/>
          </a:ln>
        </p:spPr>
        <p:txBody>
          <a:bodyPr wrap="square" lIns="0" tIns="0" rIns="0" bIns="0" anchor="t">
            <a:normAutofit/>
          </a:bodyPr>
          <a:lstStyle/>
          <a:p>
            <a:pPr algn="l">
              <a:buNone/>
              <a:defRPr sz="2025" b="1">
                <a:solidFill>
                  <a:srgbClr val="0A1020"/>
                </a:solidFill>
                <a:latin typeface="Arial"/>
                <a:ea typeface="Arial"/>
                <a:cs typeface="Arial"/>
              </a:defRPr>
            </a:pPr>
            <a:r>
              <a:rPr sz="2025" b="1">
                <a:solidFill>
                  <a:srgbClr val="0A1020"/>
                </a:solidFill>
                <a:latin typeface="Arial"/>
                <a:ea typeface="Arial"/>
                <a:cs typeface="Arial"/>
              </a:rPr>
              <a:t>“Use budget hotels when I pay or a cap applies.”</a:t>
            </a:r>
          </a:p>
        </p:txBody>
      </p:sp>
      <p:sp>
        <p:nvSpPr>
          <p:cNvPr id="13" name="Rectangle 12">
            <a:extLst>
              <a:ext uri="{FF2B5EF4-FFF2-40B4-BE49-F238E27FC236}">
                <a16:creationId xmlns:a16="http://schemas.microsoft.com/office/drawing/2014/main" id="{050914C8-949B-4D7F-B71F-730785B32575}"/>
              </a:ext>
            </a:extLst>
          </p:cNvPr>
          <p:cNvSpPr>
            <a:spLocks noGrp="1"/>
          </p:cNvSpPr>
          <p:nvPr/>
        </p:nvSpPr>
        <p:spPr>
          <a:xfrm>
            <a:off x="7010400" y="4362450"/>
            <a:ext cx="4381500" cy="742950"/>
          </a:xfrm>
          <a:prstGeom prst="rect">
            <a:avLst/>
          </a:prstGeom>
          <a:noFill/>
          <a:ln w="0">
            <a:noFill/>
            <a:prstDash val="solid"/>
          </a:ln>
        </p:spPr>
        <p:txBody>
          <a:bodyPr wrap="square" lIns="0" tIns="0" rIns="0" bIns="0" anchor="t">
            <a:normAutofit fontScale="98485"/>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The assistant can APPLY, IGNORE, or CLARIFY based on evidence and current context.</a:t>
            </a:r>
          </a:p>
        </p:txBody>
      </p:sp>
    </p:spTree>
    <p:extLst>
      <p:ext uri="{BB962C8B-B14F-4D97-AF65-F5344CB8AC3E}">
        <p14:creationId xmlns:p14="http://schemas.microsoft.com/office/powerpoint/2010/main" val="53792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kicker-3">
            <a:extLst>
              <a:ext uri="{FF2B5EF4-FFF2-40B4-BE49-F238E27FC236}">
                <a16:creationId xmlns:a16="http://schemas.microsoft.com/office/drawing/2014/main" id="{F537E0E5-FEB1-4B72-AF96-9C88BE177A0D}"/>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PROJECT MAP</a:t>
            </a:r>
          </a:p>
        </p:txBody>
      </p:sp>
      <p:sp>
        <p:nvSpPr>
          <p:cNvPr id="2" name="title-3">
            <a:extLst>
              <a:ext uri="{FF2B5EF4-FFF2-40B4-BE49-F238E27FC236}">
                <a16:creationId xmlns:a16="http://schemas.microsoft.com/office/drawing/2014/main" id="{FFB220DC-127E-49FD-84F1-EC167970744E}"/>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We built FrontierMem as a seven-stage pipeline</a:t>
            </a:r>
          </a:p>
        </p:txBody>
      </p:sp>
      <p:sp>
        <p:nvSpPr>
          <p:cNvPr id="3" name="Straight Connector 2">
            <a:extLst>
              <a:ext uri="{FF2B5EF4-FFF2-40B4-BE49-F238E27FC236}">
                <a16:creationId xmlns:a16="http://schemas.microsoft.com/office/drawing/2014/main" id="{0F7D8257-C25A-4FBB-B1C7-5404DDD440C2}"/>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18F1FA6F-5006-49E3-B804-7B8DAB90C68B}"/>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03</a:t>
            </a:r>
          </a:p>
        </p:txBody>
      </p:sp>
      <p:sp>
        <p:nvSpPr>
          <p:cNvPr id="5" name="Straight Connector 4">
            <a:extLst>
              <a:ext uri="{FF2B5EF4-FFF2-40B4-BE49-F238E27FC236}">
                <a16:creationId xmlns:a16="http://schemas.microsoft.com/office/drawing/2014/main" id="{5C6C39BB-EB6C-4BDC-A97D-C4FF99307CF4}"/>
              </a:ext>
            </a:extLst>
          </p:cNvPr>
          <p:cNvSpPr>
            <a:spLocks noGrp="1"/>
          </p:cNvSpPr>
          <p:nvPr/>
        </p:nvSpPr>
        <p:spPr>
          <a:xfrm>
            <a:off x="847725" y="1581150"/>
            <a:ext cx="0" cy="4457700"/>
          </a:xfrm>
          <a:prstGeom prst="line">
            <a:avLst/>
          </a:prstGeom>
          <a:noFill/>
          <a:ln w="28575">
            <a:solidFill>
              <a:srgbClr val="3D8DFF"/>
            </a:solidFill>
            <a:prstDash val="solid"/>
          </a:ln>
        </p:spPr>
      </p:sp>
      <p:sp>
        <p:nvSpPr>
          <p:cNvPr id="6" name="Oval 5">
            <a:extLst>
              <a:ext uri="{FF2B5EF4-FFF2-40B4-BE49-F238E27FC236}">
                <a16:creationId xmlns:a16="http://schemas.microsoft.com/office/drawing/2014/main" id="{D33E2304-5C4E-4417-A646-4C8D4D7B3D0D}"/>
              </a:ext>
            </a:extLst>
          </p:cNvPr>
          <p:cNvSpPr>
            <a:spLocks noGrp="1"/>
          </p:cNvSpPr>
          <p:nvPr/>
        </p:nvSpPr>
        <p:spPr>
          <a:xfrm>
            <a:off x="695325" y="1543050"/>
            <a:ext cx="304800" cy="304800"/>
          </a:xfrm>
          <a:prstGeom prst="ellipse">
            <a:avLst/>
          </a:prstGeom>
          <a:solidFill>
            <a:srgbClr val="3D8DFF"/>
          </a:solidFill>
          <a:ln w="0">
            <a:noFill/>
            <a:prstDash val="solid"/>
          </a:ln>
        </p:spPr>
      </p:sp>
      <p:sp>
        <p:nvSpPr>
          <p:cNvPr id="7" name="Rectangle 6">
            <a:extLst>
              <a:ext uri="{FF2B5EF4-FFF2-40B4-BE49-F238E27FC236}">
                <a16:creationId xmlns:a16="http://schemas.microsoft.com/office/drawing/2014/main" id="{5DA5C557-5B8A-4122-8C7D-194A8DF59CFC}"/>
              </a:ext>
            </a:extLst>
          </p:cNvPr>
          <p:cNvSpPr>
            <a:spLocks noGrp="1"/>
          </p:cNvSpPr>
          <p:nvPr/>
        </p:nvSpPr>
        <p:spPr>
          <a:xfrm>
            <a:off x="695325" y="159067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F5BB3B86-0536-4722-ABAF-91236A107AAA}"/>
              </a:ext>
            </a:extLst>
          </p:cNvPr>
          <p:cNvSpPr>
            <a:spLocks noGrp="1"/>
          </p:cNvSpPr>
          <p:nvPr/>
        </p:nvSpPr>
        <p:spPr>
          <a:xfrm>
            <a:off x="1314450" y="144780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Controlled data</a:t>
            </a:r>
          </a:p>
        </p:txBody>
      </p:sp>
      <p:sp>
        <p:nvSpPr>
          <p:cNvPr id="9" name="Rectangle 8">
            <a:extLst>
              <a:ext uri="{FF2B5EF4-FFF2-40B4-BE49-F238E27FC236}">
                <a16:creationId xmlns:a16="http://schemas.microsoft.com/office/drawing/2014/main" id="{2AD80C7E-B74A-452F-81C9-88720493B3B2}"/>
              </a:ext>
            </a:extLst>
          </p:cNvPr>
          <p:cNvSpPr>
            <a:spLocks noGrp="1"/>
          </p:cNvSpPr>
          <p:nvPr/>
        </p:nvSpPr>
        <p:spPr>
          <a:xfrm>
            <a:off x="4171950" y="146685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Scenario specifications → counterfactual twin histories</a:t>
            </a:r>
          </a:p>
        </p:txBody>
      </p:sp>
      <p:sp>
        <p:nvSpPr>
          <p:cNvPr id="10" name="Straight Connector 9">
            <a:extLst>
              <a:ext uri="{FF2B5EF4-FFF2-40B4-BE49-F238E27FC236}">
                <a16:creationId xmlns:a16="http://schemas.microsoft.com/office/drawing/2014/main" id="{A3349FC2-708A-418E-8614-C545FD721967}"/>
              </a:ext>
            </a:extLst>
          </p:cNvPr>
          <p:cNvSpPr>
            <a:spLocks noGrp="1"/>
          </p:cNvSpPr>
          <p:nvPr/>
        </p:nvSpPr>
        <p:spPr>
          <a:xfrm>
            <a:off x="1314450" y="1962150"/>
            <a:ext cx="9810750" cy="0"/>
          </a:xfrm>
          <a:prstGeom prst="line">
            <a:avLst/>
          </a:prstGeom>
          <a:noFill/>
          <a:ln w="9525">
            <a:solidFill>
              <a:srgbClr val="E4E7EC"/>
            </a:solidFill>
            <a:prstDash val="solid"/>
          </a:ln>
        </p:spPr>
      </p:sp>
      <p:sp>
        <p:nvSpPr>
          <p:cNvPr id="11" name="Oval 10">
            <a:extLst>
              <a:ext uri="{FF2B5EF4-FFF2-40B4-BE49-F238E27FC236}">
                <a16:creationId xmlns:a16="http://schemas.microsoft.com/office/drawing/2014/main" id="{087F06DA-1D9D-427C-97B3-A4037D997298}"/>
              </a:ext>
            </a:extLst>
          </p:cNvPr>
          <p:cNvSpPr>
            <a:spLocks noGrp="1"/>
          </p:cNvSpPr>
          <p:nvPr/>
        </p:nvSpPr>
        <p:spPr>
          <a:xfrm>
            <a:off x="695325" y="2209800"/>
            <a:ext cx="304800" cy="304800"/>
          </a:xfrm>
          <a:prstGeom prst="ellipse">
            <a:avLst/>
          </a:prstGeom>
          <a:solidFill>
            <a:srgbClr val="3D8DFF"/>
          </a:solidFill>
          <a:ln w="0">
            <a:noFill/>
            <a:prstDash val="solid"/>
          </a:ln>
        </p:spPr>
      </p:sp>
      <p:sp>
        <p:nvSpPr>
          <p:cNvPr id="12" name="Rectangle 11">
            <a:extLst>
              <a:ext uri="{FF2B5EF4-FFF2-40B4-BE49-F238E27FC236}">
                <a16:creationId xmlns:a16="http://schemas.microsoft.com/office/drawing/2014/main" id="{D7506162-C2A5-4C80-BD48-11196FA7E139}"/>
              </a:ext>
            </a:extLst>
          </p:cNvPr>
          <p:cNvSpPr>
            <a:spLocks noGrp="1"/>
          </p:cNvSpPr>
          <p:nvPr/>
        </p:nvSpPr>
        <p:spPr>
          <a:xfrm>
            <a:off x="695325" y="225742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Rectangle 12">
            <a:extLst>
              <a:ext uri="{FF2B5EF4-FFF2-40B4-BE49-F238E27FC236}">
                <a16:creationId xmlns:a16="http://schemas.microsoft.com/office/drawing/2014/main" id="{CF1213A5-B007-4B95-9A03-F19C0782EA82}"/>
              </a:ext>
            </a:extLst>
          </p:cNvPr>
          <p:cNvSpPr>
            <a:spLocks noGrp="1"/>
          </p:cNvSpPr>
          <p:nvPr/>
        </p:nvSpPr>
        <p:spPr>
          <a:xfrm>
            <a:off x="1314450" y="211455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Boundary queries</a:t>
            </a:r>
          </a:p>
        </p:txBody>
      </p:sp>
      <p:sp>
        <p:nvSpPr>
          <p:cNvPr id="14" name="Rectangle 13">
            <a:extLst>
              <a:ext uri="{FF2B5EF4-FFF2-40B4-BE49-F238E27FC236}">
                <a16:creationId xmlns:a16="http://schemas.microsoft.com/office/drawing/2014/main" id="{EF004C2F-FAC3-44FB-9ED4-618F06481F81}"/>
              </a:ext>
            </a:extLst>
          </p:cNvPr>
          <p:cNvSpPr>
            <a:spLocks noGrp="1"/>
          </p:cNvSpPr>
          <p:nvPr/>
        </p:nvSpPr>
        <p:spPr>
          <a:xfrm>
            <a:off x="4171950" y="213360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Inside / outside / near tests for every preference</a:t>
            </a:r>
          </a:p>
        </p:txBody>
      </p:sp>
      <p:sp>
        <p:nvSpPr>
          <p:cNvPr id="15" name="Straight Connector 14">
            <a:extLst>
              <a:ext uri="{FF2B5EF4-FFF2-40B4-BE49-F238E27FC236}">
                <a16:creationId xmlns:a16="http://schemas.microsoft.com/office/drawing/2014/main" id="{9545B5FA-551A-4059-B47E-9B2A92996715}"/>
              </a:ext>
            </a:extLst>
          </p:cNvPr>
          <p:cNvSpPr>
            <a:spLocks noGrp="1"/>
          </p:cNvSpPr>
          <p:nvPr/>
        </p:nvSpPr>
        <p:spPr>
          <a:xfrm>
            <a:off x="1314450" y="2628900"/>
            <a:ext cx="9810750" cy="0"/>
          </a:xfrm>
          <a:prstGeom prst="line">
            <a:avLst/>
          </a:prstGeom>
          <a:noFill/>
          <a:ln w="9525">
            <a:solidFill>
              <a:srgbClr val="E4E7EC"/>
            </a:solidFill>
            <a:prstDash val="solid"/>
          </a:ln>
        </p:spPr>
      </p:sp>
      <p:sp>
        <p:nvSpPr>
          <p:cNvPr id="16" name="Oval 15">
            <a:extLst>
              <a:ext uri="{FF2B5EF4-FFF2-40B4-BE49-F238E27FC236}">
                <a16:creationId xmlns:a16="http://schemas.microsoft.com/office/drawing/2014/main" id="{79B77E4F-949A-4E9E-B37F-0EEE8E125387}"/>
              </a:ext>
            </a:extLst>
          </p:cNvPr>
          <p:cNvSpPr>
            <a:spLocks noGrp="1"/>
          </p:cNvSpPr>
          <p:nvPr/>
        </p:nvSpPr>
        <p:spPr>
          <a:xfrm>
            <a:off x="695325" y="2876550"/>
            <a:ext cx="304800" cy="304800"/>
          </a:xfrm>
          <a:prstGeom prst="ellipse">
            <a:avLst/>
          </a:prstGeom>
          <a:solidFill>
            <a:srgbClr val="3D8DFF"/>
          </a:solidFill>
          <a:ln w="0">
            <a:noFill/>
            <a:prstDash val="solid"/>
          </a:ln>
        </p:spPr>
      </p:sp>
      <p:sp>
        <p:nvSpPr>
          <p:cNvPr id="17" name="Rectangle 16">
            <a:extLst>
              <a:ext uri="{FF2B5EF4-FFF2-40B4-BE49-F238E27FC236}">
                <a16:creationId xmlns:a16="http://schemas.microsoft.com/office/drawing/2014/main" id="{E8DBD99E-4459-43D6-8826-63F61121AA13}"/>
              </a:ext>
            </a:extLst>
          </p:cNvPr>
          <p:cNvSpPr>
            <a:spLocks noGrp="1"/>
          </p:cNvSpPr>
          <p:nvPr/>
        </p:nvSpPr>
        <p:spPr>
          <a:xfrm>
            <a:off x="695325" y="292417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13B80231-1E86-40FC-8884-8480B692CDC1}"/>
              </a:ext>
            </a:extLst>
          </p:cNvPr>
          <p:cNvSpPr>
            <a:spLocks noGrp="1"/>
          </p:cNvSpPr>
          <p:nvPr/>
        </p:nvSpPr>
        <p:spPr>
          <a:xfrm>
            <a:off x="1314450" y="278130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Baselines</a:t>
            </a:r>
          </a:p>
        </p:txBody>
      </p:sp>
      <p:sp>
        <p:nvSpPr>
          <p:cNvPr id="19" name="Rectangle 18">
            <a:extLst>
              <a:ext uri="{FF2B5EF4-FFF2-40B4-BE49-F238E27FC236}">
                <a16:creationId xmlns:a16="http://schemas.microsoft.com/office/drawing/2014/main" id="{EED4CDA1-1438-4D0D-95D7-018A2103EDB9}"/>
              </a:ext>
            </a:extLst>
          </p:cNvPr>
          <p:cNvSpPr>
            <a:spLocks noGrp="1"/>
          </p:cNvSpPr>
          <p:nvPr/>
        </p:nvSpPr>
        <p:spPr>
          <a:xfrm>
            <a:off x="4171950" y="280035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Flat facts, query-only, long context, transparent rules</a:t>
            </a:r>
          </a:p>
        </p:txBody>
      </p:sp>
      <p:sp>
        <p:nvSpPr>
          <p:cNvPr id="20" name="Straight Connector 19">
            <a:extLst>
              <a:ext uri="{FF2B5EF4-FFF2-40B4-BE49-F238E27FC236}">
                <a16:creationId xmlns:a16="http://schemas.microsoft.com/office/drawing/2014/main" id="{D2AFEB70-148E-4012-B58C-9CA4547F409D}"/>
              </a:ext>
            </a:extLst>
          </p:cNvPr>
          <p:cNvSpPr>
            <a:spLocks noGrp="1"/>
          </p:cNvSpPr>
          <p:nvPr/>
        </p:nvSpPr>
        <p:spPr>
          <a:xfrm>
            <a:off x="1314450" y="3295650"/>
            <a:ext cx="9810750" cy="0"/>
          </a:xfrm>
          <a:prstGeom prst="line">
            <a:avLst/>
          </a:prstGeom>
          <a:noFill/>
          <a:ln w="9525">
            <a:solidFill>
              <a:srgbClr val="E4E7EC"/>
            </a:solidFill>
            <a:prstDash val="solid"/>
          </a:ln>
        </p:spPr>
      </p:sp>
      <p:sp>
        <p:nvSpPr>
          <p:cNvPr id="21" name="Oval 20">
            <a:extLst>
              <a:ext uri="{FF2B5EF4-FFF2-40B4-BE49-F238E27FC236}">
                <a16:creationId xmlns:a16="http://schemas.microsoft.com/office/drawing/2014/main" id="{7451CCBE-D9B9-493F-8A9C-B3DC786AC543}"/>
              </a:ext>
            </a:extLst>
          </p:cNvPr>
          <p:cNvSpPr>
            <a:spLocks noGrp="1"/>
          </p:cNvSpPr>
          <p:nvPr/>
        </p:nvSpPr>
        <p:spPr>
          <a:xfrm>
            <a:off x="695325" y="3543300"/>
            <a:ext cx="304800" cy="304800"/>
          </a:xfrm>
          <a:prstGeom prst="ellipse">
            <a:avLst/>
          </a:prstGeom>
          <a:solidFill>
            <a:srgbClr val="3D8DFF"/>
          </a:solidFill>
          <a:ln w="0">
            <a:noFill/>
            <a:prstDash val="solid"/>
          </a:ln>
        </p:spPr>
      </p:sp>
      <p:sp>
        <p:nvSpPr>
          <p:cNvPr id="22" name="Rectangle 21">
            <a:extLst>
              <a:ext uri="{FF2B5EF4-FFF2-40B4-BE49-F238E27FC236}">
                <a16:creationId xmlns:a16="http://schemas.microsoft.com/office/drawing/2014/main" id="{B6A42141-6959-451E-BA21-4FD2E03A72A2}"/>
              </a:ext>
            </a:extLst>
          </p:cNvPr>
          <p:cNvSpPr>
            <a:spLocks noGrp="1"/>
          </p:cNvSpPr>
          <p:nvPr/>
        </p:nvSpPr>
        <p:spPr>
          <a:xfrm>
            <a:off x="695325" y="359092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3" name="Rectangle 22">
            <a:extLst>
              <a:ext uri="{FF2B5EF4-FFF2-40B4-BE49-F238E27FC236}">
                <a16:creationId xmlns:a16="http://schemas.microsoft.com/office/drawing/2014/main" id="{31DD2E98-7291-42C3-8A80-FD996668F0DD}"/>
              </a:ext>
            </a:extLst>
          </p:cNvPr>
          <p:cNvSpPr>
            <a:spLocks noGrp="1"/>
          </p:cNvSpPr>
          <p:nvPr/>
        </p:nvSpPr>
        <p:spPr>
          <a:xfrm>
            <a:off x="1314450" y="344805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Frontier Memory</a:t>
            </a:r>
          </a:p>
        </p:txBody>
      </p:sp>
      <p:sp>
        <p:nvSpPr>
          <p:cNvPr id="24" name="Rectangle 23">
            <a:extLst>
              <a:ext uri="{FF2B5EF4-FFF2-40B4-BE49-F238E27FC236}">
                <a16:creationId xmlns:a16="http://schemas.microsoft.com/office/drawing/2014/main" id="{17F97EB4-A602-4DD8-832C-4E9A828D6507}"/>
              </a:ext>
            </a:extLst>
          </p:cNvPr>
          <p:cNvSpPr>
            <a:spLocks noGrp="1"/>
          </p:cNvSpPr>
          <p:nvPr/>
        </p:nvSpPr>
        <p:spPr>
          <a:xfrm>
            <a:off x="4171950" y="346710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Structured JSON with cause, scope, evidence, and permission</a:t>
            </a:r>
          </a:p>
        </p:txBody>
      </p:sp>
      <p:sp>
        <p:nvSpPr>
          <p:cNvPr id="25" name="Straight Connector 24">
            <a:extLst>
              <a:ext uri="{FF2B5EF4-FFF2-40B4-BE49-F238E27FC236}">
                <a16:creationId xmlns:a16="http://schemas.microsoft.com/office/drawing/2014/main" id="{19B09B38-2A2A-41A8-A965-0BD81B4E5E0C}"/>
              </a:ext>
            </a:extLst>
          </p:cNvPr>
          <p:cNvSpPr>
            <a:spLocks noGrp="1"/>
          </p:cNvSpPr>
          <p:nvPr/>
        </p:nvSpPr>
        <p:spPr>
          <a:xfrm>
            <a:off x="1314450" y="3962400"/>
            <a:ext cx="9810750" cy="0"/>
          </a:xfrm>
          <a:prstGeom prst="line">
            <a:avLst/>
          </a:prstGeom>
          <a:noFill/>
          <a:ln w="9525">
            <a:solidFill>
              <a:srgbClr val="E4E7EC"/>
            </a:solidFill>
            <a:prstDash val="solid"/>
          </a:ln>
        </p:spPr>
      </p:sp>
      <p:sp>
        <p:nvSpPr>
          <p:cNvPr id="26" name="Oval 25">
            <a:extLst>
              <a:ext uri="{FF2B5EF4-FFF2-40B4-BE49-F238E27FC236}">
                <a16:creationId xmlns:a16="http://schemas.microsoft.com/office/drawing/2014/main" id="{5A095622-1141-4A99-B89D-B6F81B2CD0DE}"/>
              </a:ext>
            </a:extLst>
          </p:cNvPr>
          <p:cNvSpPr>
            <a:spLocks noGrp="1"/>
          </p:cNvSpPr>
          <p:nvPr/>
        </p:nvSpPr>
        <p:spPr>
          <a:xfrm>
            <a:off x="695325" y="4210050"/>
            <a:ext cx="304800" cy="304800"/>
          </a:xfrm>
          <a:prstGeom prst="ellipse">
            <a:avLst/>
          </a:prstGeom>
          <a:solidFill>
            <a:srgbClr val="3D8DFF"/>
          </a:solidFill>
          <a:ln w="0">
            <a:noFill/>
            <a:prstDash val="solid"/>
          </a:ln>
        </p:spPr>
      </p:sp>
      <p:sp>
        <p:nvSpPr>
          <p:cNvPr id="27" name="Rectangle 26">
            <a:extLst>
              <a:ext uri="{FF2B5EF4-FFF2-40B4-BE49-F238E27FC236}">
                <a16:creationId xmlns:a16="http://schemas.microsoft.com/office/drawing/2014/main" id="{328AC52D-FFB7-41B8-96D6-AA6B6FEA6541}"/>
              </a:ext>
            </a:extLst>
          </p:cNvPr>
          <p:cNvSpPr>
            <a:spLocks noGrp="1"/>
          </p:cNvSpPr>
          <p:nvPr/>
        </p:nvSpPr>
        <p:spPr>
          <a:xfrm>
            <a:off x="695325" y="425767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28" name="Rectangle 27">
            <a:extLst>
              <a:ext uri="{FF2B5EF4-FFF2-40B4-BE49-F238E27FC236}">
                <a16:creationId xmlns:a16="http://schemas.microsoft.com/office/drawing/2014/main" id="{C9332D57-745A-4C1D-AD8F-3464455648F3}"/>
              </a:ext>
            </a:extLst>
          </p:cNvPr>
          <p:cNvSpPr>
            <a:spLocks noGrp="1"/>
          </p:cNvSpPr>
          <p:nvPr/>
        </p:nvSpPr>
        <p:spPr>
          <a:xfrm>
            <a:off x="1314450" y="411480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Tiny Transformer</a:t>
            </a:r>
          </a:p>
        </p:txBody>
      </p:sp>
      <p:sp>
        <p:nvSpPr>
          <p:cNvPr id="29" name="Rectangle 28">
            <a:extLst>
              <a:ext uri="{FF2B5EF4-FFF2-40B4-BE49-F238E27FC236}">
                <a16:creationId xmlns:a16="http://schemas.microsoft.com/office/drawing/2014/main" id="{3AEE4172-3F78-4C78-9D1E-491B448223FB}"/>
              </a:ext>
            </a:extLst>
          </p:cNvPr>
          <p:cNvSpPr>
            <a:spLocks noGrp="1"/>
          </p:cNvSpPr>
          <p:nvPr/>
        </p:nvSpPr>
        <p:spPr>
          <a:xfrm>
            <a:off x="4171950" y="413385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Learn memory typing and end-to-end boundary decisions</a:t>
            </a:r>
          </a:p>
        </p:txBody>
      </p:sp>
      <p:sp>
        <p:nvSpPr>
          <p:cNvPr id="30" name="Straight Connector 29">
            <a:extLst>
              <a:ext uri="{FF2B5EF4-FFF2-40B4-BE49-F238E27FC236}">
                <a16:creationId xmlns:a16="http://schemas.microsoft.com/office/drawing/2014/main" id="{82027A1D-B25E-4CD5-B90C-11B52430F217}"/>
              </a:ext>
            </a:extLst>
          </p:cNvPr>
          <p:cNvSpPr>
            <a:spLocks noGrp="1"/>
          </p:cNvSpPr>
          <p:nvPr/>
        </p:nvSpPr>
        <p:spPr>
          <a:xfrm>
            <a:off x="1314450" y="4629150"/>
            <a:ext cx="9810750" cy="0"/>
          </a:xfrm>
          <a:prstGeom prst="line">
            <a:avLst/>
          </a:prstGeom>
          <a:noFill/>
          <a:ln w="9525">
            <a:solidFill>
              <a:srgbClr val="E4E7EC"/>
            </a:solidFill>
            <a:prstDash val="solid"/>
          </a:ln>
        </p:spPr>
      </p:sp>
      <p:sp>
        <p:nvSpPr>
          <p:cNvPr id="31" name="Oval 30">
            <a:extLst>
              <a:ext uri="{FF2B5EF4-FFF2-40B4-BE49-F238E27FC236}">
                <a16:creationId xmlns:a16="http://schemas.microsoft.com/office/drawing/2014/main" id="{22F6241C-3D4F-400B-AA12-AB9535F16E81}"/>
              </a:ext>
            </a:extLst>
          </p:cNvPr>
          <p:cNvSpPr>
            <a:spLocks noGrp="1"/>
          </p:cNvSpPr>
          <p:nvPr/>
        </p:nvSpPr>
        <p:spPr>
          <a:xfrm>
            <a:off x="695325" y="4876800"/>
            <a:ext cx="304800" cy="304800"/>
          </a:xfrm>
          <a:prstGeom prst="ellipse">
            <a:avLst/>
          </a:prstGeom>
          <a:solidFill>
            <a:srgbClr val="3D8DFF"/>
          </a:solidFill>
          <a:ln w="0">
            <a:noFill/>
            <a:prstDash val="solid"/>
          </a:ln>
        </p:spPr>
      </p:sp>
      <p:sp>
        <p:nvSpPr>
          <p:cNvPr id="32" name="Rectangle 31">
            <a:extLst>
              <a:ext uri="{FF2B5EF4-FFF2-40B4-BE49-F238E27FC236}">
                <a16:creationId xmlns:a16="http://schemas.microsoft.com/office/drawing/2014/main" id="{282A778D-942E-46CB-94DD-C3DE5E2852C9}"/>
              </a:ext>
            </a:extLst>
          </p:cNvPr>
          <p:cNvSpPr>
            <a:spLocks noGrp="1"/>
          </p:cNvSpPr>
          <p:nvPr/>
        </p:nvSpPr>
        <p:spPr>
          <a:xfrm>
            <a:off x="695325" y="492442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6</a:t>
            </a:r>
          </a:p>
        </p:txBody>
      </p:sp>
      <p:sp>
        <p:nvSpPr>
          <p:cNvPr id="33" name="Rectangle 32">
            <a:extLst>
              <a:ext uri="{FF2B5EF4-FFF2-40B4-BE49-F238E27FC236}">
                <a16:creationId xmlns:a16="http://schemas.microsoft.com/office/drawing/2014/main" id="{137419B3-EC16-43FF-893D-991A0AEF4D4B}"/>
              </a:ext>
            </a:extLst>
          </p:cNvPr>
          <p:cNvSpPr>
            <a:spLocks noGrp="1"/>
          </p:cNvSpPr>
          <p:nvPr/>
        </p:nvSpPr>
        <p:spPr>
          <a:xfrm>
            <a:off x="1314450" y="478155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Hybrid controller</a:t>
            </a:r>
          </a:p>
        </p:txBody>
      </p:sp>
      <p:sp>
        <p:nvSpPr>
          <p:cNvPr id="34" name="Rectangle 33">
            <a:extLst>
              <a:ext uri="{FF2B5EF4-FFF2-40B4-BE49-F238E27FC236}">
                <a16:creationId xmlns:a16="http://schemas.microsoft.com/office/drawing/2014/main" id="{DC1790E7-09A4-45F2-9155-11A9BD3474E0}"/>
              </a:ext>
            </a:extLst>
          </p:cNvPr>
          <p:cNvSpPr>
            <a:spLocks noGrp="1"/>
          </p:cNvSpPr>
          <p:nvPr/>
        </p:nvSpPr>
        <p:spPr>
          <a:xfrm>
            <a:off x="4171950" y="480060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Learn interpretation; keep the final policy auditable</a:t>
            </a:r>
          </a:p>
        </p:txBody>
      </p:sp>
      <p:sp>
        <p:nvSpPr>
          <p:cNvPr id="35" name="Straight Connector 34">
            <a:extLst>
              <a:ext uri="{FF2B5EF4-FFF2-40B4-BE49-F238E27FC236}">
                <a16:creationId xmlns:a16="http://schemas.microsoft.com/office/drawing/2014/main" id="{84F102B4-DABE-4102-847A-73D5E2C99A17}"/>
              </a:ext>
            </a:extLst>
          </p:cNvPr>
          <p:cNvSpPr>
            <a:spLocks noGrp="1"/>
          </p:cNvSpPr>
          <p:nvPr/>
        </p:nvSpPr>
        <p:spPr>
          <a:xfrm>
            <a:off x="1314450" y="5295900"/>
            <a:ext cx="9810750" cy="0"/>
          </a:xfrm>
          <a:prstGeom prst="line">
            <a:avLst/>
          </a:prstGeom>
          <a:noFill/>
          <a:ln w="9525">
            <a:solidFill>
              <a:srgbClr val="E4E7EC"/>
            </a:solidFill>
            <a:prstDash val="solid"/>
          </a:ln>
        </p:spPr>
      </p:sp>
      <p:sp>
        <p:nvSpPr>
          <p:cNvPr id="36" name="Oval 35">
            <a:extLst>
              <a:ext uri="{FF2B5EF4-FFF2-40B4-BE49-F238E27FC236}">
                <a16:creationId xmlns:a16="http://schemas.microsoft.com/office/drawing/2014/main" id="{171AD0D6-671C-4F2D-8F95-4876088A480B}"/>
              </a:ext>
            </a:extLst>
          </p:cNvPr>
          <p:cNvSpPr>
            <a:spLocks noGrp="1"/>
          </p:cNvSpPr>
          <p:nvPr/>
        </p:nvSpPr>
        <p:spPr>
          <a:xfrm>
            <a:off x="695325" y="5543550"/>
            <a:ext cx="304800" cy="304800"/>
          </a:xfrm>
          <a:prstGeom prst="ellipse">
            <a:avLst/>
          </a:prstGeom>
          <a:solidFill>
            <a:srgbClr val="3D8DFF"/>
          </a:solidFill>
          <a:ln w="0">
            <a:noFill/>
            <a:prstDash val="solid"/>
          </a:ln>
        </p:spPr>
      </p:sp>
      <p:sp>
        <p:nvSpPr>
          <p:cNvPr id="37" name="Rectangle 36">
            <a:extLst>
              <a:ext uri="{FF2B5EF4-FFF2-40B4-BE49-F238E27FC236}">
                <a16:creationId xmlns:a16="http://schemas.microsoft.com/office/drawing/2014/main" id="{34EA64D6-6C72-48C4-8489-6695A54FAF6B}"/>
              </a:ext>
            </a:extLst>
          </p:cNvPr>
          <p:cNvSpPr>
            <a:spLocks noGrp="1"/>
          </p:cNvSpPr>
          <p:nvPr/>
        </p:nvSpPr>
        <p:spPr>
          <a:xfrm>
            <a:off x="695325" y="5591175"/>
            <a:ext cx="304800" cy="209550"/>
          </a:xfrm>
          <a:prstGeom prst="rect">
            <a:avLst/>
          </a:prstGeom>
          <a:noFill/>
          <a:ln w="0">
            <a:noFill/>
            <a:prstDash val="solid"/>
          </a:ln>
        </p:spPr>
        <p:txBody>
          <a:bodyPr wrap="square" lIns="0" tIns="0" rIns="0" bIns="0" anchor="t">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7</a:t>
            </a:r>
          </a:p>
        </p:txBody>
      </p:sp>
      <p:sp>
        <p:nvSpPr>
          <p:cNvPr id="38" name="Rectangle 37">
            <a:extLst>
              <a:ext uri="{FF2B5EF4-FFF2-40B4-BE49-F238E27FC236}">
                <a16:creationId xmlns:a16="http://schemas.microsoft.com/office/drawing/2014/main" id="{C93403BF-7BB4-4A0F-94E5-F61653EFD2AC}"/>
              </a:ext>
            </a:extLst>
          </p:cNvPr>
          <p:cNvSpPr>
            <a:spLocks noGrp="1"/>
          </p:cNvSpPr>
          <p:nvPr/>
        </p:nvSpPr>
        <p:spPr>
          <a:xfrm>
            <a:off x="1314450" y="5448300"/>
            <a:ext cx="2724150" cy="3619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Small-LLM ablations</a:t>
            </a:r>
          </a:p>
        </p:txBody>
      </p:sp>
      <p:sp>
        <p:nvSpPr>
          <p:cNvPr id="39" name="Rectangle 38">
            <a:extLst>
              <a:ext uri="{FF2B5EF4-FFF2-40B4-BE49-F238E27FC236}">
                <a16:creationId xmlns:a16="http://schemas.microsoft.com/office/drawing/2014/main" id="{D4D9EE26-7F81-4A37-BF0E-39B4AAB27ACC}"/>
              </a:ext>
            </a:extLst>
          </p:cNvPr>
          <p:cNvSpPr>
            <a:spLocks noGrp="1"/>
          </p:cNvSpPr>
          <p:nvPr/>
        </p:nvSpPr>
        <p:spPr>
          <a:xfrm>
            <a:off x="4171950" y="5467350"/>
            <a:ext cx="6953250" cy="381000"/>
          </a:xfrm>
          <a:prstGeom prst="rect">
            <a:avLst/>
          </a:prstGeom>
          <a:noFill/>
          <a:ln w="0">
            <a:noFill/>
            <a:prstDash val="solid"/>
          </a:ln>
        </p:spPr>
        <p:txBody>
          <a:bodyPr wrap="square" lIns="0" tIns="0" rIns="0" bIns="0" anchor="t">
            <a:noAutofit/>
          </a:bodyPr>
          <a:lstStyle/>
          <a:p>
            <a:pPr algn="l">
              <a:buNone/>
              <a:defRPr sz="1650" b="0">
                <a:solidFill>
                  <a:srgbClr val="5D6677"/>
                </a:solidFill>
                <a:latin typeface="Arial"/>
                <a:ea typeface="Arial"/>
                <a:cs typeface="Arial"/>
              </a:defRPr>
            </a:pPr>
            <a:r>
              <a:rPr sz="1650" b="0">
                <a:solidFill>
                  <a:srgbClr val="5D6677"/>
                </a:solidFill>
                <a:latin typeface="Arial"/>
                <a:ea typeface="Arial"/>
                <a:cs typeface="Arial"/>
              </a:rPr>
              <a:t>Ablate extraction, decision, response; audit memory construction</a:t>
            </a:r>
          </a:p>
        </p:txBody>
      </p:sp>
    </p:spTree>
    <p:extLst>
      <p:ext uri="{BB962C8B-B14F-4D97-AF65-F5344CB8AC3E}">
        <p14:creationId xmlns:p14="http://schemas.microsoft.com/office/powerpoint/2010/main" val="628642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kicker-4">
            <a:extLst>
              <a:ext uri="{FF2B5EF4-FFF2-40B4-BE49-F238E27FC236}">
                <a16:creationId xmlns:a16="http://schemas.microsoft.com/office/drawing/2014/main" id="{89065E4F-5324-449D-A7F0-3A9CA5AE374E}"/>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1 · DATA</a:t>
            </a:r>
          </a:p>
        </p:txBody>
      </p:sp>
      <p:sp>
        <p:nvSpPr>
          <p:cNvPr id="2" name="title-4">
            <a:extLst>
              <a:ext uri="{FF2B5EF4-FFF2-40B4-BE49-F238E27FC236}">
                <a16:creationId xmlns:a16="http://schemas.microsoft.com/office/drawing/2014/main" id="{4954D8FD-0461-4919-91F0-2E9963F98FF9}"/>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Each example starts from a scenario specification</a:t>
            </a:r>
          </a:p>
        </p:txBody>
      </p:sp>
      <p:sp>
        <p:nvSpPr>
          <p:cNvPr id="3" name="Straight Connector 2">
            <a:extLst>
              <a:ext uri="{FF2B5EF4-FFF2-40B4-BE49-F238E27FC236}">
                <a16:creationId xmlns:a16="http://schemas.microsoft.com/office/drawing/2014/main" id="{7FB34AFB-4582-4D44-93BA-1C72FB3A7E28}"/>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C982EB11-7979-4303-8341-FD6B3078E561}"/>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04</a:t>
            </a:r>
          </a:p>
        </p:txBody>
      </p:sp>
      <p:sp>
        <p:nvSpPr>
          <p:cNvPr id="5" name="Arrow: Right 4">
            <a:extLst>
              <a:ext uri="{FF2B5EF4-FFF2-40B4-BE49-F238E27FC236}">
                <a16:creationId xmlns:a16="http://schemas.microsoft.com/office/drawing/2014/main" id="{8ADA0DF4-7CDE-4DA8-9DBF-9DAE3E65518E}"/>
              </a:ext>
            </a:extLst>
          </p:cNvPr>
          <p:cNvSpPr>
            <a:spLocks noGrp="1"/>
          </p:cNvSpPr>
          <p:nvPr/>
        </p:nvSpPr>
        <p:spPr>
          <a:xfrm>
            <a:off x="2381250" y="3067050"/>
            <a:ext cx="323850" cy="266700"/>
          </a:xfrm>
          <a:prstGeom prst="rightArrow">
            <a:avLst/>
          </a:prstGeom>
          <a:solidFill>
            <a:srgbClr val="6DCBF4"/>
          </a:solidFill>
          <a:ln w="0">
            <a:solidFill>
              <a:srgbClr val="6DCBF4"/>
            </a:solidFill>
            <a:prstDash val="solid"/>
          </a:ln>
        </p:spPr>
      </p:sp>
      <p:sp>
        <p:nvSpPr>
          <p:cNvPr id="6" name="Arrow: Right 5">
            <a:extLst>
              <a:ext uri="{FF2B5EF4-FFF2-40B4-BE49-F238E27FC236}">
                <a16:creationId xmlns:a16="http://schemas.microsoft.com/office/drawing/2014/main" id="{4A0ECD50-93E0-4032-8C83-94BA12B1AEAF}"/>
              </a:ext>
            </a:extLst>
          </p:cNvPr>
          <p:cNvSpPr>
            <a:spLocks noGrp="1"/>
          </p:cNvSpPr>
          <p:nvPr/>
        </p:nvSpPr>
        <p:spPr>
          <a:xfrm>
            <a:off x="4686300" y="3067050"/>
            <a:ext cx="323850" cy="266700"/>
          </a:xfrm>
          <a:prstGeom prst="rightArrow">
            <a:avLst/>
          </a:prstGeom>
          <a:solidFill>
            <a:srgbClr val="6DCBF4"/>
          </a:solidFill>
          <a:ln w="0">
            <a:solidFill>
              <a:srgbClr val="6DCBF4"/>
            </a:solidFill>
            <a:prstDash val="solid"/>
          </a:ln>
        </p:spPr>
      </p:sp>
      <p:sp>
        <p:nvSpPr>
          <p:cNvPr id="7" name="Arrow: Right 6">
            <a:extLst>
              <a:ext uri="{FF2B5EF4-FFF2-40B4-BE49-F238E27FC236}">
                <a16:creationId xmlns:a16="http://schemas.microsoft.com/office/drawing/2014/main" id="{D0DDDFFD-FDD4-40F0-A41C-F91182513C5E}"/>
              </a:ext>
            </a:extLst>
          </p:cNvPr>
          <p:cNvSpPr>
            <a:spLocks noGrp="1"/>
          </p:cNvSpPr>
          <p:nvPr/>
        </p:nvSpPr>
        <p:spPr>
          <a:xfrm>
            <a:off x="6991350" y="3067050"/>
            <a:ext cx="323850" cy="266700"/>
          </a:xfrm>
          <a:prstGeom prst="rightArrow">
            <a:avLst/>
          </a:prstGeom>
          <a:solidFill>
            <a:srgbClr val="6DCBF4"/>
          </a:solidFill>
          <a:ln w="0">
            <a:solidFill>
              <a:srgbClr val="6DCBF4"/>
            </a:solidFill>
            <a:prstDash val="solid"/>
          </a:ln>
        </p:spPr>
      </p:sp>
      <p:sp>
        <p:nvSpPr>
          <p:cNvPr id="8" name="Arrow: Right 7">
            <a:extLst>
              <a:ext uri="{FF2B5EF4-FFF2-40B4-BE49-F238E27FC236}">
                <a16:creationId xmlns:a16="http://schemas.microsoft.com/office/drawing/2014/main" id="{7053060D-BF76-4704-B92E-DDDC9D01DC11}"/>
              </a:ext>
            </a:extLst>
          </p:cNvPr>
          <p:cNvSpPr>
            <a:spLocks noGrp="1"/>
          </p:cNvSpPr>
          <p:nvPr/>
        </p:nvSpPr>
        <p:spPr>
          <a:xfrm>
            <a:off x="9296400" y="3067050"/>
            <a:ext cx="323850" cy="266700"/>
          </a:xfrm>
          <a:prstGeom prst="rightArrow">
            <a:avLst/>
          </a:prstGeom>
          <a:solidFill>
            <a:srgbClr val="159A7D"/>
          </a:solidFill>
          <a:ln w="0">
            <a:solidFill>
              <a:srgbClr val="159A7D"/>
            </a:solidFill>
            <a:prstDash val="solid"/>
          </a:ln>
        </p:spPr>
      </p:sp>
      <p:sp>
        <p:nvSpPr>
          <p:cNvPr id="9" name="Rectangle 8">
            <a:extLst>
              <a:ext uri="{FF2B5EF4-FFF2-40B4-BE49-F238E27FC236}">
                <a16:creationId xmlns:a16="http://schemas.microsoft.com/office/drawing/2014/main" id="{A0D48607-2899-4450-ABC3-9D4BA314B138}"/>
              </a:ext>
            </a:extLst>
          </p:cNvPr>
          <p:cNvSpPr>
            <a:spLocks noGrp="1"/>
          </p:cNvSpPr>
          <p:nvPr/>
        </p:nvSpPr>
        <p:spPr>
          <a:xfrm>
            <a:off x="495300" y="2133600"/>
            <a:ext cx="1885950" cy="2152650"/>
          </a:xfrm>
          <a:prstGeom prst="rect">
            <a:avLst/>
          </a:prstGeom>
          <a:solidFill>
            <a:srgbClr val="EAF3FF"/>
          </a:solidFill>
          <a:ln w="14288">
            <a:solidFill>
              <a:srgbClr val="3D8DFF"/>
            </a:solidFill>
            <a:prstDash val="solid"/>
          </a:ln>
        </p:spPr>
      </p:sp>
      <p:sp>
        <p:nvSpPr>
          <p:cNvPr id="10" name="Rectangle 9">
            <a:extLst>
              <a:ext uri="{FF2B5EF4-FFF2-40B4-BE49-F238E27FC236}">
                <a16:creationId xmlns:a16="http://schemas.microsoft.com/office/drawing/2014/main" id="{4620524D-4928-44CE-8298-373DF90CF638}"/>
              </a:ext>
            </a:extLst>
          </p:cNvPr>
          <p:cNvSpPr>
            <a:spLocks noGrp="1"/>
          </p:cNvSpPr>
          <p:nvPr/>
        </p:nvSpPr>
        <p:spPr>
          <a:xfrm>
            <a:off x="666750" y="2324100"/>
            <a:ext cx="361950" cy="323850"/>
          </a:xfrm>
          <a:prstGeom prst="rect">
            <a:avLst/>
          </a:prstGeom>
          <a:noFill/>
          <a:ln w="0">
            <a:noFill/>
            <a:prstDash val="solid"/>
          </a:ln>
        </p:spPr>
        <p:txBody>
          <a:bodyPr wrap="square" lIns="0" tIns="0" rIns="0" bIns="0" anchor="t">
            <a:noAutofit/>
          </a:bodyPr>
          <a:lstStyle/>
          <a:p>
            <a:pPr algn="l">
              <a:buNone/>
              <a:defRPr sz="2100" b="1">
                <a:solidFill>
                  <a:srgbClr val="3D8DFF"/>
                </a:solidFill>
                <a:latin typeface="Arial"/>
                <a:ea typeface="Arial"/>
                <a:cs typeface="Arial"/>
              </a:defRPr>
            </a:pPr>
            <a:r>
              <a:rPr sz="2100" b="1">
                <a:solidFill>
                  <a:srgbClr val="3D8DFF"/>
                </a:solidFill>
                <a:latin typeface="Arial"/>
                <a:ea typeface="Arial"/>
                <a:cs typeface="Arial"/>
              </a:rPr>
              <a:t>1</a:t>
            </a:r>
          </a:p>
        </p:txBody>
      </p:sp>
      <p:sp>
        <p:nvSpPr>
          <p:cNvPr id="11" name="Rectangle 10">
            <a:extLst>
              <a:ext uri="{FF2B5EF4-FFF2-40B4-BE49-F238E27FC236}">
                <a16:creationId xmlns:a16="http://schemas.microsoft.com/office/drawing/2014/main" id="{CD52A1B2-014E-4EE9-8BCA-73ABBD738A40}"/>
              </a:ext>
            </a:extLst>
          </p:cNvPr>
          <p:cNvSpPr>
            <a:spLocks noGrp="1"/>
          </p:cNvSpPr>
          <p:nvPr/>
        </p:nvSpPr>
        <p:spPr>
          <a:xfrm>
            <a:off x="666750" y="2800350"/>
            <a:ext cx="1543050" cy="590550"/>
          </a:xfrm>
          <a:prstGeom prst="rect">
            <a:avLst/>
          </a:prstGeom>
          <a:noFill/>
          <a:ln w="0">
            <a:noFill/>
            <a:prstDash val="solid"/>
          </a:ln>
        </p:spPr>
        <p:txBody>
          <a:bodyPr wrap="square" lIns="0" tIns="0" rIns="0" bIns="0" anchor="t">
            <a:normAutofit fontScale="99359"/>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Scenario spec</a:t>
            </a:r>
          </a:p>
        </p:txBody>
      </p:sp>
      <p:sp>
        <p:nvSpPr>
          <p:cNvPr id="12" name="Rectangle 11">
            <a:extLst>
              <a:ext uri="{FF2B5EF4-FFF2-40B4-BE49-F238E27FC236}">
                <a16:creationId xmlns:a16="http://schemas.microsoft.com/office/drawing/2014/main" id="{722C4B25-CF17-421D-8A9B-1888F73C49DA}"/>
              </a:ext>
            </a:extLst>
          </p:cNvPr>
          <p:cNvSpPr>
            <a:spLocks noGrp="1"/>
          </p:cNvSpPr>
          <p:nvPr/>
        </p:nvSpPr>
        <p:spPr>
          <a:xfrm>
            <a:off x="666750" y="3486150"/>
            <a:ext cx="1543050" cy="609600"/>
          </a:xfrm>
          <a:prstGeom prst="rect">
            <a:avLst/>
          </a:prstGeom>
          <a:noFill/>
          <a:ln w="0">
            <a:noFill/>
            <a:prstDash val="solid"/>
          </a:ln>
        </p:spPr>
        <p:txBody>
          <a:bodyPr wrap="square" lIns="0" tIns="0" rIns="0" bIns="0" anchor="t">
            <a:normAutofit fontScale="93567"/>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Preference, cause, owner, valid scope, exception, queries</a:t>
            </a:r>
          </a:p>
        </p:txBody>
      </p:sp>
      <p:sp>
        <p:nvSpPr>
          <p:cNvPr id="13" name="Rectangle 12">
            <a:extLst>
              <a:ext uri="{FF2B5EF4-FFF2-40B4-BE49-F238E27FC236}">
                <a16:creationId xmlns:a16="http://schemas.microsoft.com/office/drawing/2014/main" id="{EEC04A45-AE7A-44EB-9415-A6DD6650D40F}"/>
              </a:ext>
            </a:extLst>
          </p:cNvPr>
          <p:cNvSpPr>
            <a:spLocks noGrp="1"/>
          </p:cNvSpPr>
          <p:nvPr/>
        </p:nvSpPr>
        <p:spPr>
          <a:xfrm>
            <a:off x="2800350" y="2133600"/>
            <a:ext cx="1885950" cy="2152650"/>
          </a:xfrm>
          <a:prstGeom prst="rect">
            <a:avLst/>
          </a:prstGeom>
          <a:solidFill>
            <a:srgbClr val="F1F3F6"/>
          </a:solidFill>
          <a:ln w="14288">
            <a:solidFill>
              <a:srgbClr val="C9CED8"/>
            </a:solidFill>
            <a:prstDash val="solid"/>
          </a:ln>
        </p:spPr>
      </p:sp>
      <p:sp>
        <p:nvSpPr>
          <p:cNvPr id="14" name="Rectangle 13">
            <a:extLst>
              <a:ext uri="{FF2B5EF4-FFF2-40B4-BE49-F238E27FC236}">
                <a16:creationId xmlns:a16="http://schemas.microsoft.com/office/drawing/2014/main" id="{44445945-0302-48E0-B31A-F0D60B9927BA}"/>
              </a:ext>
            </a:extLst>
          </p:cNvPr>
          <p:cNvSpPr>
            <a:spLocks noGrp="1"/>
          </p:cNvSpPr>
          <p:nvPr/>
        </p:nvSpPr>
        <p:spPr>
          <a:xfrm>
            <a:off x="2971800" y="2324100"/>
            <a:ext cx="361950" cy="323850"/>
          </a:xfrm>
          <a:prstGeom prst="rect">
            <a:avLst/>
          </a:prstGeom>
          <a:noFill/>
          <a:ln w="0">
            <a:noFill/>
            <a:prstDash val="solid"/>
          </a:ln>
        </p:spPr>
        <p:txBody>
          <a:bodyPr wrap="square" lIns="0" tIns="0" rIns="0" bIns="0" anchor="t">
            <a:noAutofit/>
          </a:bodyPr>
          <a:lstStyle/>
          <a:p>
            <a:pPr algn="l">
              <a:buNone/>
              <a:defRPr sz="2100" b="1">
                <a:solidFill>
                  <a:srgbClr val="C9CED8"/>
                </a:solidFill>
                <a:latin typeface="Arial"/>
                <a:ea typeface="Arial"/>
                <a:cs typeface="Arial"/>
              </a:defRPr>
            </a:pPr>
            <a:r>
              <a:rPr sz="2100" b="1">
                <a:solidFill>
                  <a:srgbClr val="C9CED8"/>
                </a:solidFill>
                <a:latin typeface="Arial"/>
                <a:ea typeface="Arial"/>
                <a:cs typeface="Arial"/>
              </a:rPr>
              <a:t>2</a:t>
            </a:r>
          </a:p>
        </p:txBody>
      </p:sp>
      <p:sp>
        <p:nvSpPr>
          <p:cNvPr id="15" name="Rectangle 14">
            <a:extLst>
              <a:ext uri="{FF2B5EF4-FFF2-40B4-BE49-F238E27FC236}">
                <a16:creationId xmlns:a16="http://schemas.microsoft.com/office/drawing/2014/main" id="{D3882D78-A857-4DE1-B92B-E9249088C7FC}"/>
              </a:ext>
            </a:extLst>
          </p:cNvPr>
          <p:cNvSpPr>
            <a:spLocks noGrp="1"/>
          </p:cNvSpPr>
          <p:nvPr/>
        </p:nvSpPr>
        <p:spPr>
          <a:xfrm>
            <a:off x="2971800" y="2800350"/>
            <a:ext cx="1543050" cy="590550"/>
          </a:xfrm>
          <a:prstGeom prst="rect">
            <a:avLst/>
          </a:prstGeom>
          <a:noFill/>
          <a:ln w="0">
            <a:noFill/>
            <a:prstDash val="solid"/>
          </a:ln>
        </p:spPr>
        <p:txBody>
          <a:bodyPr wrap="square" lIns="0" tIns="0" rIns="0" bIns="0" anchor="t">
            <a:normAutofit fontScale="99359"/>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Twin histories</a:t>
            </a:r>
          </a:p>
        </p:txBody>
      </p:sp>
      <p:sp>
        <p:nvSpPr>
          <p:cNvPr id="16" name="Rectangle 15">
            <a:extLst>
              <a:ext uri="{FF2B5EF4-FFF2-40B4-BE49-F238E27FC236}">
                <a16:creationId xmlns:a16="http://schemas.microsoft.com/office/drawing/2014/main" id="{2F14ED69-6B91-4BFA-A3EF-1941621C1FD7}"/>
              </a:ext>
            </a:extLst>
          </p:cNvPr>
          <p:cNvSpPr>
            <a:spLocks noGrp="1"/>
          </p:cNvSpPr>
          <p:nvPr/>
        </p:nvSpPr>
        <p:spPr>
          <a:xfrm>
            <a:off x="2971800" y="3486150"/>
            <a:ext cx="1543050" cy="609600"/>
          </a:xfrm>
          <a:prstGeom prst="rect">
            <a:avLst/>
          </a:prstGeom>
          <a:noFill/>
          <a:ln w="0">
            <a:noFill/>
            <a:prstDash val="solid"/>
          </a:ln>
        </p:spPr>
        <p:txBody>
          <a:bodyPr wrap="square" lIns="0" tIns="0" rIns="0" bIns="0" anchor="t">
            <a:normAutofit fontScale="93567"/>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Sample one stable history and one scoped history</a:t>
            </a:r>
          </a:p>
        </p:txBody>
      </p:sp>
      <p:sp>
        <p:nvSpPr>
          <p:cNvPr id="17" name="Rectangle 16">
            <a:extLst>
              <a:ext uri="{FF2B5EF4-FFF2-40B4-BE49-F238E27FC236}">
                <a16:creationId xmlns:a16="http://schemas.microsoft.com/office/drawing/2014/main" id="{F1D263A2-C487-441B-910B-7610483A129D}"/>
              </a:ext>
            </a:extLst>
          </p:cNvPr>
          <p:cNvSpPr>
            <a:spLocks noGrp="1"/>
          </p:cNvSpPr>
          <p:nvPr/>
        </p:nvSpPr>
        <p:spPr>
          <a:xfrm>
            <a:off x="5105400" y="2133600"/>
            <a:ext cx="1885950" cy="2152650"/>
          </a:xfrm>
          <a:prstGeom prst="rect">
            <a:avLst/>
          </a:prstGeom>
          <a:solidFill>
            <a:srgbClr val="F1F3F6"/>
          </a:solidFill>
          <a:ln w="14288">
            <a:solidFill>
              <a:srgbClr val="C9CED8"/>
            </a:solidFill>
            <a:prstDash val="solid"/>
          </a:ln>
        </p:spPr>
      </p:sp>
      <p:sp>
        <p:nvSpPr>
          <p:cNvPr id="18" name="Rectangle 17">
            <a:extLst>
              <a:ext uri="{FF2B5EF4-FFF2-40B4-BE49-F238E27FC236}">
                <a16:creationId xmlns:a16="http://schemas.microsoft.com/office/drawing/2014/main" id="{20699344-FF23-452E-92C4-5A620EEAE86F}"/>
              </a:ext>
            </a:extLst>
          </p:cNvPr>
          <p:cNvSpPr>
            <a:spLocks noGrp="1"/>
          </p:cNvSpPr>
          <p:nvPr/>
        </p:nvSpPr>
        <p:spPr>
          <a:xfrm>
            <a:off x="5276850" y="2324100"/>
            <a:ext cx="361950" cy="323850"/>
          </a:xfrm>
          <a:prstGeom prst="rect">
            <a:avLst/>
          </a:prstGeom>
          <a:noFill/>
          <a:ln w="0">
            <a:noFill/>
            <a:prstDash val="solid"/>
          </a:ln>
        </p:spPr>
        <p:txBody>
          <a:bodyPr wrap="square" lIns="0" tIns="0" rIns="0" bIns="0" anchor="t">
            <a:noAutofit/>
          </a:bodyPr>
          <a:lstStyle/>
          <a:p>
            <a:pPr algn="l">
              <a:buNone/>
              <a:defRPr sz="2100" b="1">
                <a:solidFill>
                  <a:srgbClr val="C9CED8"/>
                </a:solidFill>
                <a:latin typeface="Arial"/>
                <a:ea typeface="Arial"/>
                <a:cs typeface="Arial"/>
              </a:defRPr>
            </a:pPr>
            <a:r>
              <a:rPr sz="2100" b="1">
                <a:solidFill>
                  <a:srgbClr val="C9CED8"/>
                </a:solidFill>
                <a:latin typeface="Arial"/>
                <a:ea typeface="Arial"/>
                <a:cs typeface="Arial"/>
              </a:rPr>
              <a:t>3</a:t>
            </a:r>
          </a:p>
        </p:txBody>
      </p:sp>
      <p:sp>
        <p:nvSpPr>
          <p:cNvPr id="19" name="Rectangle 18">
            <a:extLst>
              <a:ext uri="{FF2B5EF4-FFF2-40B4-BE49-F238E27FC236}">
                <a16:creationId xmlns:a16="http://schemas.microsoft.com/office/drawing/2014/main" id="{AD64B9F9-135E-4F31-8F8C-F6A9C872CEE5}"/>
              </a:ext>
            </a:extLst>
          </p:cNvPr>
          <p:cNvSpPr>
            <a:spLocks noGrp="1"/>
          </p:cNvSpPr>
          <p:nvPr/>
        </p:nvSpPr>
        <p:spPr>
          <a:xfrm>
            <a:off x="5276850" y="2800350"/>
            <a:ext cx="1543050" cy="590550"/>
          </a:xfrm>
          <a:prstGeom prst="rect">
            <a:avLst/>
          </a:prstGeom>
          <a:noFill/>
          <a:ln w="0">
            <a:noFill/>
            <a:prstDash val="solid"/>
          </a:ln>
        </p:spPr>
        <p:txBody>
          <a:bodyPr wrap="square" lIns="0" tIns="0" rIns="0" bIns="0" anchor="t">
            <a:normAutofit fontScale="99359"/>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Three queries</a:t>
            </a:r>
          </a:p>
        </p:txBody>
      </p:sp>
      <p:sp>
        <p:nvSpPr>
          <p:cNvPr id="20" name="Rectangle 19">
            <a:extLst>
              <a:ext uri="{FF2B5EF4-FFF2-40B4-BE49-F238E27FC236}">
                <a16:creationId xmlns:a16="http://schemas.microsoft.com/office/drawing/2014/main" id="{AC966B0B-8F16-4C2F-9F26-3AFEF54F10F1}"/>
              </a:ext>
            </a:extLst>
          </p:cNvPr>
          <p:cNvSpPr>
            <a:spLocks noGrp="1"/>
          </p:cNvSpPr>
          <p:nvPr/>
        </p:nvSpPr>
        <p:spPr>
          <a:xfrm>
            <a:off x="5276850" y="3486150"/>
            <a:ext cx="1543050" cy="609600"/>
          </a:xfrm>
          <a:prstGeom prst="rect">
            <a:avLst/>
          </a:prstGeom>
          <a:noFill/>
          <a:ln w="0">
            <a:noFill/>
            <a:prstDash val="solid"/>
          </a:ln>
        </p:spPr>
        <p:txBody>
          <a:bodyPr wrap="square" lIns="0" tIns="0" rIns="0" bIns="0" anchor="t">
            <a:normAutofit fontScale="86839"/>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Reuse inside, outside, and near-boundary queries</a:t>
            </a:r>
          </a:p>
        </p:txBody>
      </p:sp>
      <p:sp>
        <p:nvSpPr>
          <p:cNvPr id="21" name="Rectangle 20">
            <a:extLst>
              <a:ext uri="{FF2B5EF4-FFF2-40B4-BE49-F238E27FC236}">
                <a16:creationId xmlns:a16="http://schemas.microsoft.com/office/drawing/2014/main" id="{05F3E6AD-10A4-4B67-B877-25A587BA3C3F}"/>
              </a:ext>
            </a:extLst>
          </p:cNvPr>
          <p:cNvSpPr>
            <a:spLocks noGrp="1"/>
          </p:cNvSpPr>
          <p:nvPr/>
        </p:nvSpPr>
        <p:spPr>
          <a:xfrm>
            <a:off x="7410450" y="2133600"/>
            <a:ext cx="1885950" cy="2152650"/>
          </a:xfrm>
          <a:prstGeom prst="rect">
            <a:avLst/>
          </a:prstGeom>
          <a:solidFill>
            <a:srgbClr val="F1F3F6"/>
          </a:solidFill>
          <a:ln w="14288">
            <a:solidFill>
              <a:srgbClr val="C9CED8"/>
            </a:solidFill>
            <a:prstDash val="solid"/>
          </a:ln>
        </p:spPr>
      </p:sp>
      <p:sp>
        <p:nvSpPr>
          <p:cNvPr id="22" name="Rectangle 21">
            <a:extLst>
              <a:ext uri="{FF2B5EF4-FFF2-40B4-BE49-F238E27FC236}">
                <a16:creationId xmlns:a16="http://schemas.microsoft.com/office/drawing/2014/main" id="{F06FC66C-7A12-48C0-B392-242F6BB7FAA6}"/>
              </a:ext>
            </a:extLst>
          </p:cNvPr>
          <p:cNvSpPr>
            <a:spLocks noGrp="1"/>
          </p:cNvSpPr>
          <p:nvPr/>
        </p:nvSpPr>
        <p:spPr>
          <a:xfrm>
            <a:off x="7581900" y="2324100"/>
            <a:ext cx="361950" cy="323850"/>
          </a:xfrm>
          <a:prstGeom prst="rect">
            <a:avLst/>
          </a:prstGeom>
          <a:noFill/>
          <a:ln w="0">
            <a:noFill/>
            <a:prstDash val="solid"/>
          </a:ln>
        </p:spPr>
        <p:txBody>
          <a:bodyPr wrap="square" lIns="0" tIns="0" rIns="0" bIns="0" anchor="t">
            <a:noAutofit/>
          </a:bodyPr>
          <a:lstStyle/>
          <a:p>
            <a:pPr algn="l">
              <a:buNone/>
              <a:defRPr sz="2100" b="1">
                <a:solidFill>
                  <a:srgbClr val="C9CED8"/>
                </a:solidFill>
                <a:latin typeface="Arial"/>
                <a:ea typeface="Arial"/>
                <a:cs typeface="Arial"/>
              </a:defRPr>
            </a:pPr>
            <a:r>
              <a:rPr sz="2100" b="1">
                <a:solidFill>
                  <a:srgbClr val="C9CED8"/>
                </a:solidFill>
                <a:latin typeface="Arial"/>
                <a:ea typeface="Arial"/>
                <a:cs typeface="Arial"/>
              </a:rPr>
              <a:t>4</a:t>
            </a:r>
          </a:p>
        </p:txBody>
      </p:sp>
      <p:sp>
        <p:nvSpPr>
          <p:cNvPr id="23" name="Rectangle 22">
            <a:extLst>
              <a:ext uri="{FF2B5EF4-FFF2-40B4-BE49-F238E27FC236}">
                <a16:creationId xmlns:a16="http://schemas.microsoft.com/office/drawing/2014/main" id="{FB7EAE74-059E-4819-A94B-84FF4EF60FC6}"/>
              </a:ext>
            </a:extLst>
          </p:cNvPr>
          <p:cNvSpPr>
            <a:spLocks noGrp="1"/>
          </p:cNvSpPr>
          <p:nvPr/>
        </p:nvSpPr>
        <p:spPr>
          <a:xfrm>
            <a:off x="7581900" y="2800350"/>
            <a:ext cx="1543050" cy="590550"/>
          </a:xfrm>
          <a:prstGeom prst="rect">
            <a:avLst/>
          </a:prstGeom>
          <a:noFill/>
          <a:ln w="0">
            <a:noFill/>
            <a:prstDash val="solid"/>
          </a:ln>
        </p:spPr>
        <p:txBody>
          <a:bodyPr wrap="square" lIns="0" tIns="0" rIns="0" bIns="0" anchor="t">
            <a:norm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Six rows</a:t>
            </a:r>
          </a:p>
        </p:txBody>
      </p:sp>
      <p:sp>
        <p:nvSpPr>
          <p:cNvPr id="24" name="Rectangle 23">
            <a:extLst>
              <a:ext uri="{FF2B5EF4-FFF2-40B4-BE49-F238E27FC236}">
                <a16:creationId xmlns:a16="http://schemas.microsoft.com/office/drawing/2014/main" id="{BB2986E9-93C5-419E-A4D5-A129AE984A54}"/>
              </a:ext>
            </a:extLst>
          </p:cNvPr>
          <p:cNvSpPr>
            <a:spLocks noGrp="1"/>
          </p:cNvSpPr>
          <p:nvPr/>
        </p:nvSpPr>
        <p:spPr>
          <a:xfrm>
            <a:off x="7581900" y="3486150"/>
            <a:ext cx="1543050" cy="609600"/>
          </a:xfrm>
          <a:prstGeom prst="rect">
            <a:avLst/>
          </a:prstGeom>
          <a:noFill/>
          <a:ln w="0">
            <a:noFill/>
            <a:prstDash val="solid"/>
          </a:ln>
        </p:spPr>
        <p:txBody>
          <a:bodyPr wrap="square" lIns="0" tIns="0" rIns="0" bIns="0" anchor="t">
            <a:normAutofit fontScale="93567"/>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2 histories × 3 query kinds with gold actions</a:t>
            </a:r>
          </a:p>
        </p:txBody>
      </p:sp>
      <p:sp>
        <p:nvSpPr>
          <p:cNvPr id="25" name="Rectangle 24">
            <a:extLst>
              <a:ext uri="{FF2B5EF4-FFF2-40B4-BE49-F238E27FC236}">
                <a16:creationId xmlns:a16="http://schemas.microsoft.com/office/drawing/2014/main" id="{78D60B3C-A600-47CF-8B5C-5F07C965C73B}"/>
              </a:ext>
            </a:extLst>
          </p:cNvPr>
          <p:cNvSpPr>
            <a:spLocks noGrp="1"/>
          </p:cNvSpPr>
          <p:nvPr/>
        </p:nvSpPr>
        <p:spPr>
          <a:xfrm>
            <a:off x="9715500" y="2133600"/>
            <a:ext cx="1885950" cy="2152650"/>
          </a:xfrm>
          <a:prstGeom prst="rect">
            <a:avLst/>
          </a:prstGeom>
          <a:solidFill>
            <a:srgbClr val="E6F6F2"/>
          </a:solidFill>
          <a:ln w="14288">
            <a:solidFill>
              <a:srgbClr val="159A7D"/>
            </a:solidFill>
            <a:prstDash val="solid"/>
          </a:ln>
        </p:spPr>
      </p:sp>
      <p:sp>
        <p:nvSpPr>
          <p:cNvPr id="26" name="Rectangle 25">
            <a:extLst>
              <a:ext uri="{FF2B5EF4-FFF2-40B4-BE49-F238E27FC236}">
                <a16:creationId xmlns:a16="http://schemas.microsoft.com/office/drawing/2014/main" id="{21EF2F11-6B6F-4ABB-B974-65F0C34AE3D8}"/>
              </a:ext>
            </a:extLst>
          </p:cNvPr>
          <p:cNvSpPr>
            <a:spLocks noGrp="1"/>
          </p:cNvSpPr>
          <p:nvPr/>
        </p:nvSpPr>
        <p:spPr>
          <a:xfrm>
            <a:off x="9886950" y="2324100"/>
            <a:ext cx="361950" cy="323850"/>
          </a:xfrm>
          <a:prstGeom prst="rect">
            <a:avLst/>
          </a:prstGeom>
          <a:noFill/>
          <a:ln w="0">
            <a:noFill/>
            <a:prstDash val="solid"/>
          </a:ln>
        </p:spPr>
        <p:txBody>
          <a:bodyPr wrap="square" lIns="0" tIns="0" rIns="0" bIns="0" anchor="t">
            <a:noAutofit/>
          </a:bodyPr>
          <a:lstStyle/>
          <a:p>
            <a:pPr algn="l">
              <a:buNone/>
              <a:defRPr sz="2100" b="1">
                <a:solidFill>
                  <a:srgbClr val="159A7D"/>
                </a:solidFill>
                <a:latin typeface="Arial"/>
                <a:ea typeface="Arial"/>
                <a:cs typeface="Arial"/>
              </a:defRPr>
            </a:pPr>
            <a:r>
              <a:rPr sz="2100" b="1">
                <a:solidFill>
                  <a:srgbClr val="159A7D"/>
                </a:solidFill>
                <a:latin typeface="Arial"/>
                <a:ea typeface="Arial"/>
                <a:cs typeface="Arial"/>
              </a:rPr>
              <a:t>5</a:t>
            </a:r>
          </a:p>
        </p:txBody>
      </p:sp>
      <p:sp>
        <p:nvSpPr>
          <p:cNvPr id="27" name="Rectangle 26">
            <a:extLst>
              <a:ext uri="{FF2B5EF4-FFF2-40B4-BE49-F238E27FC236}">
                <a16:creationId xmlns:a16="http://schemas.microsoft.com/office/drawing/2014/main" id="{9B2FC68C-C60B-43E7-B29B-5EBE3D369257}"/>
              </a:ext>
            </a:extLst>
          </p:cNvPr>
          <p:cNvSpPr>
            <a:spLocks noGrp="1"/>
          </p:cNvSpPr>
          <p:nvPr/>
        </p:nvSpPr>
        <p:spPr>
          <a:xfrm>
            <a:off x="9886950" y="2800350"/>
            <a:ext cx="1543050" cy="590550"/>
          </a:xfrm>
          <a:prstGeom prst="rect">
            <a:avLst/>
          </a:prstGeom>
          <a:noFill/>
          <a:ln w="0">
            <a:noFill/>
            <a:prstDash val="solid"/>
          </a:ln>
        </p:spPr>
        <p:txBody>
          <a:bodyPr wrap="square" lIns="0" tIns="0" rIns="0" bIns="0" anchor="t">
            <a:norm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Group split</a:t>
            </a:r>
          </a:p>
        </p:txBody>
      </p:sp>
      <p:sp>
        <p:nvSpPr>
          <p:cNvPr id="28" name="Rectangle 27">
            <a:extLst>
              <a:ext uri="{FF2B5EF4-FFF2-40B4-BE49-F238E27FC236}">
                <a16:creationId xmlns:a16="http://schemas.microsoft.com/office/drawing/2014/main" id="{89B4B33B-C5E0-4B33-94AA-B3ED97539AE9}"/>
              </a:ext>
            </a:extLst>
          </p:cNvPr>
          <p:cNvSpPr>
            <a:spLocks noGrp="1"/>
          </p:cNvSpPr>
          <p:nvPr/>
        </p:nvSpPr>
        <p:spPr>
          <a:xfrm>
            <a:off x="9886950" y="3486150"/>
            <a:ext cx="1543050" cy="609600"/>
          </a:xfrm>
          <a:prstGeom prst="rect">
            <a:avLst/>
          </a:prstGeom>
          <a:noFill/>
          <a:ln w="0">
            <a:noFill/>
            <a:prstDash val="solid"/>
          </a:ln>
        </p:spPr>
        <p:txBody>
          <a:bodyPr wrap="square" lIns="0" tIns="0" rIns="0" bIns="0" anchor="t">
            <a:normAutofit fontScale="93567"/>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Keep every twin and paraphrase in the same split</a:t>
            </a:r>
          </a:p>
        </p:txBody>
      </p:sp>
      <p:sp>
        <p:nvSpPr>
          <p:cNvPr id="29" name="Rectangle 28">
            <a:extLst>
              <a:ext uri="{FF2B5EF4-FFF2-40B4-BE49-F238E27FC236}">
                <a16:creationId xmlns:a16="http://schemas.microsoft.com/office/drawing/2014/main" id="{EC592FCF-A9F4-4EBD-9B55-8A1055C23AD8}"/>
              </a:ext>
            </a:extLst>
          </p:cNvPr>
          <p:cNvSpPr>
            <a:spLocks noGrp="1"/>
          </p:cNvSpPr>
          <p:nvPr/>
        </p:nvSpPr>
        <p:spPr>
          <a:xfrm>
            <a:off x="1219200" y="4953000"/>
            <a:ext cx="9715500" cy="495300"/>
          </a:xfrm>
          <a:prstGeom prst="rect">
            <a:avLst/>
          </a:prstGeom>
          <a:noFill/>
          <a:ln w="0">
            <a:noFill/>
            <a:prstDash val="solid"/>
          </a:ln>
        </p:spPr>
        <p:txBody>
          <a:bodyPr wrap="square" lIns="0" tIns="0" rIns="0" bIns="0" anchor="t">
            <a:noAutofit/>
          </a:bodyPr>
          <a:lstStyle/>
          <a:p>
            <a:pPr algn="ctr">
              <a:buNone/>
              <a:defRPr sz="2250" b="1">
                <a:solidFill>
                  <a:srgbClr val="1357B8"/>
                </a:solidFill>
                <a:latin typeface="Arial"/>
                <a:ea typeface="Arial"/>
                <a:cs typeface="Arial"/>
              </a:defRPr>
            </a:pPr>
            <a:r>
              <a:rPr sz="2250" b="1">
                <a:solidFill>
                  <a:srgbClr val="1357B8"/>
                </a:solidFill>
                <a:latin typeface="Arial"/>
                <a:ea typeface="Arial"/>
                <a:cs typeface="Arial"/>
              </a:rPr>
              <a:t>The unit of evaluation is the counterfactual group, not an isolated row.</a:t>
            </a:r>
          </a:p>
        </p:txBody>
      </p:sp>
      <p:sp>
        <p:nvSpPr>
          <p:cNvPr id="30" name="Rectangle 29">
            <a:extLst>
              <a:ext uri="{FF2B5EF4-FFF2-40B4-BE49-F238E27FC236}">
                <a16:creationId xmlns:a16="http://schemas.microsoft.com/office/drawing/2014/main" id="{E761E19E-22AB-488E-B67B-96ED401C74D8}"/>
              </a:ext>
            </a:extLst>
          </p:cNvPr>
          <p:cNvSpPr>
            <a:spLocks noGrp="1"/>
          </p:cNvSpPr>
          <p:nvPr/>
        </p:nvSpPr>
        <p:spPr>
          <a:xfrm>
            <a:off x="1710244" y="5505450"/>
            <a:ext cx="8771512" cy="400050"/>
          </a:xfrm>
          <a:prstGeom prst="rect">
            <a:avLst/>
          </a:prstGeom>
          <a:noFill/>
          <a:ln w="0">
            <a:noFill/>
            <a:prstDash val="solid"/>
          </a:ln>
        </p:spPr>
        <p:txBody>
          <a:bodyPr wrap="square" lIns="0" tIns="0" rIns="0" bIns="0" anchor="t">
            <a:noAutofit/>
          </a:bodyPr>
          <a:lstStyle/>
          <a:p>
            <a:pPr algn="ctr">
              <a:buNone/>
              <a:defRPr sz="1650" b="0">
                <a:solidFill>
                  <a:srgbClr val="5D6677"/>
                </a:solidFill>
                <a:latin typeface="Arial"/>
                <a:ea typeface="Arial"/>
                <a:cs typeface="Arial"/>
              </a:defRPr>
            </a:pPr>
            <a:r>
              <a:rPr sz="1650" b="0">
                <a:solidFill>
                  <a:srgbClr val="5D6677"/>
                </a:solidFill>
                <a:latin typeface="Arial"/>
                <a:ea typeface="Arial"/>
                <a:cs typeface="Arial"/>
              </a:rPr>
              <a:t>This prevents the model from seeing one twin during training and its paired twin during testing.</a:t>
            </a:r>
          </a:p>
        </p:txBody>
      </p:sp>
    </p:spTree>
    <p:extLst>
      <p:ext uri="{BB962C8B-B14F-4D97-AF65-F5344CB8AC3E}">
        <p14:creationId xmlns:p14="http://schemas.microsoft.com/office/powerpoint/2010/main" val="172458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kicker-5">
            <a:extLst>
              <a:ext uri="{FF2B5EF4-FFF2-40B4-BE49-F238E27FC236}">
                <a16:creationId xmlns:a16="http://schemas.microsoft.com/office/drawing/2014/main" id="{39F6A1AD-8D12-40C0-897C-8D6013D55704}"/>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1 · COUNTERFACTUAL CONTROL</a:t>
            </a:r>
          </a:p>
        </p:txBody>
      </p:sp>
      <p:sp>
        <p:nvSpPr>
          <p:cNvPr id="2" name="title-5">
            <a:extLst>
              <a:ext uri="{FF2B5EF4-FFF2-40B4-BE49-F238E27FC236}">
                <a16:creationId xmlns:a16="http://schemas.microsoft.com/office/drawing/2014/main" id="{BB8C4379-D1A8-4C29-BF3F-35DF2F454D63}"/>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Twins reveal stable versus scoped preferences</a:t>
            </a:r>
          </a:p>
        </p:txBody>
      </p:sp>
      <p:sp>
        <p:nvSpPr>
          <p:cNvPr id="3" name="Straight Connector 2">
            <a:extLst>
              <a:ext uri="{FF2B5EF4-FFF2-40B4-BE49-F238E27FC236}">
                <a16:creationId xmlns:a16="http://schemas.microsoft.com/office/drawing/2014/main" id="{92CCE71F-D373-4569-AB33-1A461CA04F24}"/>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05052005-C97F-42A0-8F1F-B5065C0439C2}"/>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05</a:t>
            </a:r>
          </a:p>
        </p:txBody>
      </p:sp>
      <p:sp>
        <p:nvSpPr>
          <p:cNvPr id="5" name="Rectangle 4">
            <a:extLst>
              <a:ext uri="{FF2B5EF4-FFF2-40B4-BE49-F238E27FC236}">
                <a16:creationId xmlns:a16="http://schemas.microsoft.com/office/drawing/2014/main" id="{08F10439-76E5-4F8E-94A4-7BDA0BC52E6A}"/>
              </a:ext>
            </a:extLst>
          </p:cNvPr>
          <p:cNvSpPr>
            <a:spLocks noGrp="1"/>
          </p:cNvSpPr>
          <p:nvPr/>
        </p:nvSpPr>
        <p:spPr>
          <a:xfrm>
            <a:off x="1390447" y="1409701"/>
            <a:ext cx="9373005" cy="704850"/>
          </a:xfrm>
          <a:prstGeom prst="rect">
            <a:avLst/>
          </a:prstGeom>
          <a:solidFill>
            <a:srgbClr val="EAF3FF"/>
          </a:solidFill>
          <a:ln w="9525">
            <a:solidFill>
              <a:srgbClr val="3D8DFF"/>
            </a:solidFill>
            <a:prstDash val="solid"/>
          </a:ln>
        </p:spPr>
      </p:sp>
      <p:sp>
        <p:nvSpPr>
          <p:cNvPr id="6" name="Rectangle 5">
            <a:extLst>
              <a:ext uri="{FF2B5EF4-FFF2-40B4-BE49-F238E27FC236}">
                <a16:creationId xmlns:a16="http://schemas.microsoft.com/office/drawing/2014/main" id="{DE22C428-CEEF-4E48-A1DA-ED791E3470AB}"/>
              </a:ext>
            </a:extLst>
          </p:cNvPr>
          <p:cNvSpPr>
            <a:spLocks noGrp="1"/>
          </p:cNvSpPr>
          <p:nvPr/>
        </p:nvSpPr>
        <p:spPr>
          <a:xfrm>
            <a:off x="1571625" y="1609725"/>
            <a:ext cx="142875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SAME QUERY</a:t>
            </a:r>
          </a:p>
        </p:txBody>
      </p:sp>
      <p:sp>
        <p:nvSpPr>
          <p:cNvPr id="7" name="Rectangle 6">
            <a:extLst>
              <a:ext uri="{FF2B5EF4-FFF2-40B4-BE49-F238E27FC236}">
                <a16:creationId xmlns:a16="http://schemas.microsoft.com/office/drawing/2014/main" id="{459B4061-EE53-449A-BD7F-6DD891252525}"/>
              </a:ext>
            </a:extLst>
          </p:cNvPr>
          <p:cNvSpPr>
            <a:spLocks noGrp="1"/>
          </p:cNvSpPr>
          <p:nvPr/>
        </p:nvSpPr>
        <p:spPr>
          <a:xfrm>
            <a:off x="2933903" y="1562101"/>
            <a:ext cx="7867650" cy="400050"/>
          </a:xfrm>
          <a:prstGeom prst="rect">
            <a:avLst/>
          </a:prstGeom>
          <a:noFill/>
          <a:ln w="0">
            <a:noFill/>
            <a:prstDash val="solid"/>
          </a:ln>
        </p:spPr>
        <p:txBody>
          <a:bodyPr wrap="square" lIns="0" tIns="0" rIns="0" bIns="0" anchor="t">
            <a:no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“The organization is paying and there is no spending limit for lodging.”</a:t>
            </a:r>
          </a:p>
        </p:txBody>
      </p:sp>
      <p:sp>
        <p:nvSpPr>
          <p:cNvPr id="8" name="Rectangle 7">
            <a:extLst>
              <a:ext uri="{FF2B5EF4-FFF2-40B4-BE49-F238E27FC236}">
                <a16:creationId xmlns:a16="http://schemas.microsoft.com/office/drawing/2014/main" id="{62E278E5-54C2-4C7D-9A30-FCA11FC14E31}"/>
              </a:ext>
            </a:extLst>
          </p:cNvPr>
          <p:cNvSpPr>
            <a:spLocks noGrp="1"/>
          </p:cNvSpPr>
          <p:nvPr/>
        </p:nvSpPr>
        <p:spPr>
          <a:xfrm>
            <a:off x="495300" y="2514600"/>
            <a:ext cx="5257800" cy="3143250"/>
          </a:xfrm>
          <a:prstGeom prst="rect">
            <a:avLst/>
          </a:prstGeom>
          <a:solidFill>
            <a:srgbClr val="E6F6F2"/>
          </a:solidFill>
          <a:ln w="19050">
            <a:solidFill>
              <a:srgbClr val="159A7D"/>
            </a:solidFill>
            <a:prstDash val="solid"/>
          </a:ln>
        </p:spPr>
      </p:sp>
      <p:sp>
        <p:nvSpPr>
          <p:cNvPr id="9" name="Rectangle 8">
            <a:extLst>
              <a:ext uri="{FF2B5EF4-FFF2-40B4-BE49-F238E27FC236}">
                <a16:creationId xmlns:a16="http://schemas.microsoft.com/office/drawing/2014/main" id="{BE8AEED0-BF24-4980-BFE9-94C01F0159F4}"/>
              </a:ext>
            </a:extLst>
          </p:cNvPr>
          <p:cNvSpPr>
            <a:spLocks noGrp="1"/>
          </p:cNvSpPr>
          <p:nvPr/>
        </p:nvSpPr>
        <p:spPr>
          <a:xfrm>
            <a:off x="742950" y="2743200"/>
            <a:ext cx="2381250" cy="285750"/>
          </a:xfrm>
          <a:prstGeom prst="rect">
            <a:avLst/>
          </a:prstGeom>
          <a:noFill/>
          <a:ln w="0">
            <a:noFill/>
            <a:prstDash val="solid"/>
          </a:ln>
        </p:spPr>
        <p:txBody>
          <a:bodyPr wrap="square" lIns="0" tIns="0" rIns="0" bIns="0" anchor="t">
            <a:noAutofit/>
          </a:bodyPr>
          <a:lstStyle/>
          <a:p>
            <a:pPr algn="l">
              <a:buNone/>
              <a:defRPr sz="1425" b="1">
                <a:solidFill>
                  <a:srgbClr val="159A7D"/>
                </a:solidFill>
                <a:latin typeface="Arial"/>
                <a:ea typeface="Arial"/>
                <a:cs typeface="Arial"/>
              </a:defRPr>
            </a:pPr>
            <a:r>
              <a:rPr sz="1425" b="1">
                <a:solidFill>
                  <a:srgbClr val="159A7D"/>
                </a:solidFill>
                <a:latin typeface="Arial"/>
                <a:ea typeface="Arial"/>
                <a:cs typeface="Arial"/>
              </a:rPr>
              <a:t>STABLE TWIN</a:t>
            </a:r>
          </a:p>
        </p:txBody>
      </p:sp>
      <p:sp>
        <p:nvSpPr>
          <p:cNvPr id="10" name="Rectangle 9">
            <a:extLst>
              <a:ext uri="{FF2B5EF4-FFF2-40B4-BE49-F238E27FC236}">
                <a16:creationId xmlns:a16="http://schemas.microsoft.com/office/drawing/2014/main" id="{F310D554-E3E4-4E79-B811-B7867E61676E}"/>
              </a:ext>
            </a:extLst>
          </p:cNvPr>
          <p:cNvSpPr>
            <a:spLocks noGrp="1"/>
          </p:cNvSpPr>
          <p:nvPr/>
        </p:nvSpPr>
        <p:spPr>
          <a:xfrm>
            <a:off x="742950" y="3143250"/>
            <a:ext cx="4286250" cy="36195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Persistent preference</a:t>
            </a:r>
          </a:p>
        </p:txBody>
      </p:sp>
      <p:sp>
        <p:nvSpPr>
          <p:cNvPr id="11" name="Rectangle 10">
            <a:extLst>
              <a:ext uri="{FF2B5EF4-FFF2-40B4-BE49-F238E27FC236}">
                <a16:creationId xmlns:a16="http://schemas.microsoft.com/office/drawing/2014/main" id="{FAE03E7E-1664-452D-BDF0-12A815EA6901}"/>
              </a:ext>
            </a:extLst>
          </p:cNvPr>
          <p:cNvSpPr>
            <a:spLocks noGrp="1"/>
          </p:cNvSpPr>
          <p:nvPr/>
        </p:nvSpPr>
        <p:spPr>
          <a:xfrm>
            <a:off x="742950" y="3695700"/>
            <a:ext cx="4514850" cy="1104900"/>
          </a:xfrm>
          <a:prstGeom prst="rect">
            <a:avLst/>
          </a:prstGeom>
          <a:noFill/>
          <a:ln w="0">
            <a:noFill/>
            <a:prstDash val="solid"/>
          </a:ln>
        </p:spPr>
        <p:txBody>
          <a:bodyPr wrap="square" lIns="0" tIns="0" rIns="0" bIns="0" anchor="t">
            <a:normAutofit/>
          </a:bodyPr>
          <a:lstStyle/>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Across trips, price matters more than luxury.</a:t>
            </a:r>
          </a:p>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Budget hotels are my default.</a:t>
            </a:r>
          </a:p>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I choose them even when someone else pays.</a:t>
            </a:r>
          </a:p>
        </p:txBody>
      </p:sp>
      <p:sp>
        <p:nvSpPr>
          <p:cNvPr id="12" name="Rectangle 11">
            <a:extLst>
              <a:ext uri="{FF2B5EF4-FFF2-40B4-BE49-F238E27FC236}">
                <a16:creationId xmlns:a16="http://schemas.microsoft.com/office/drawing/2014/main" id="{0148D0CD-53BA-4E05-B785-69857E62491F}"/>
              </a:ext>
            </a:extLst>
          </p:cNvPr>
          <p:cNvSpPr>
            <a:spLocks noGrp="1"/>
          </p:cNvSpPr>
          <p:nvPr/>
        </p:nvSpPr>
        <p:spPr>
          <a:xfrm>
            <a:off x="742950" y="5067300"/>
            <a:ext cx="4095750" cy="361950"/>
          </a:xfrm>
          <a:prstGeom prst="rect">
            <a:avLst/>
          </a:prstGeom>
          <a:noFill/>
          <a:ln w="0">
            <a:noFill/>
            <a:prstDash val="solid"/>
          </a:ln>
        </p:spPr>
        <p:txBody>
          <a:bodyPr wrap="square" lIns="0" tIns="0" rIns="0" bIns="0" anchor="t">
            <a:noAutofit/>
          </a:bodyPr>
          <a:lstStyle/>
          <a:p>
            <a:pPr algn="l">
              <a:buNone/>
              <a:defRPr sz="2100" b="1">
                <a:solidFill>
                  <a:srgbClr val="159A7D"/>
                </a:solidFill>
                <a:latin typeface="Arial"/>
                <a:ea typeface="Arial"/>
                <a:cs typeface="Arial"/>
              </a:defRPr>
            </a:pPr>
            <a:r>
              <a:rPr sz="2100" b="1">
                <a:solidFill>
                  <a:srgbClr val="159A7D"/>
                </a:solidFill>
                <a:latin typeface="Arial"/>
                <a:ea typeface="Arial"/>
                <a:cs typeface="Arial"/>
              </a:rPr>
              <a:t>GOLD ACTION: APPLY</a:t>
            </a:r>
          </a:p>
        </p:txBody>
      </p:sp>
      <p:sp>
        <p:nvSpPr>
          <p:cNvPr id="13" name="Rectangle 12">
            <a:extLst>
              <a:ext uri="{FF2B5EF4-FFF2-40B4-BE49-F238E27FC236}">
                <a16:creationId xmlns:a16="http://schemas.microsoft.com/office/drawing/2014/main" id="{296A29D1-FF0D-42CD-89FB-2C8D19F24991}"/>
              </a:ext>
            </a:extLst>
          </p:cNvPr>
          <p:cNvSpPr>
            <a:spLocks noGrp="1"/>
          </p:cNvSpPr>
          <p:nvPr/>
        </p:nvSpPr>
        <p:spPr>
          <a:xfrm>
            <a:off x="6438900" y="2514600"/>
            <a:ext cx="5257800" cy="3143250"/>
          </a:xfrm>
          <a:prstGeom prst="rect">
            <a:avLst/>
          </a:prstGeom>
          <a:solidFill>
            <a:srgbClr val="EEF0F3"/>
          </a:solidFill>
          <a:ln w="19050">
            <a:solidFill>
              <a:srgbClr val="5F6878"/>
            </a:solidFill>
            <a:prstDash val="solid"/>
          </a:ln>
        </p:spPr>
      </p:sp>
      <p:sp>
        <p:nvSpPr>
          <p:cNvPr id="14" name="Rectangle 13">
            <a:extLst>
              <a:ext uri="{FF2B5EF4-FFF2-40B4-BE49-F238E27FC236}">
                <a16:creationId xmlns:a16="http://schemas.microsoft.com/office/drawing/2014/main" id="{FC72680C-4948-4DE4-90E0-1E5234E3DC02}"/>
              </a:ext>
            </a:extLst>
          </p:cNvPr>
          <p:cNvSpPr>
            <a:spLocks noGrp="1"/>
          </p:cNvSpPr>
          <p:nvPr/>
        </p:nvSpPr>
        <p:spPr>
          <a:xfrm>
            <a:off x="6686550" y="2743200"/>
            <a:ext cx="2381250" cy="285750"/>
          </a:xfrm>
          <a:prstGeom prst="rect">
            <a:avLst/>
          </a:prstGeom>
          <a:noFill/>
          <a:ln w="0">
            <a:noFill/>
            <a:prstDash val="solid"/>
          </a:ln>
        </p:spPr>
        <p:txBody>
          <a:bodyPr wrap="square" lIns="0" tIns="0" rIns="0" bIns="0" anchor="t">
            <a:noAutofit/>
          </a:bodyPr>
          <a:lstStyle/>
          <a:p>
            <a:pPr algn="l">
              <a:buNone/>
              <a:defRPr sz="1425" b="1">
                <a:solidFill>
                  <a:srgbClr val="5F6878"/>
                </a:solidFill>
                <a:latin typeface="Arial"/>
                <a:ea typeface="Arial"/>
                <a:cs typeface="Arial"/>
              </a:defRPr>
            </a:pPr>
            <a:r>
              <a:rPr sz="1425" b="1">
                <a:solidFill>
                  <a:srgbClr val="5F6878"/>
                </a:solidFill>
                <a:latin typeface="Arial"/>
                <a:ea typeface="Arial"/>
                <a:cs typeface="Arial"/>
              </a:rPr>
              <a:t>SCOPED TWIN</a:t>
            </a:r>
          </a:p>
        </p:txBody>
      </p:sp>
      <p:sp>
        <p:nvSpPr>
          <p:cNvPr id="15" name="Rectangle 14">
            <a:extLst>
              <a:ext uri="{FF2B5EF4-FFF2-40B4-BE49-F238E27FC236}">
                <a16:creationId xmlns:a16="http://schemas.microsoft.com/office/drawing/2014/main" id="{4ED69EF4-2C46-4F55-9D97-4AC751569BB7}"/>
              </a:ext>
            </a:extLst>
          </p:cNvPr>
          <p:cNvSpPr>
            <a:spLocks noGrp="1"/>
          </p:cNvSpPr>
          <p:nvPr/>
        </p:nvSpPr>
        <p:spPr>
          <a:xfrm>
            <a:off x="6686550" y="3143250"/>
            <a:ext cx="4286250" cy="36195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Temporary constraint</a:t>
            </a:r>
          </a:p>
        </p:txBody>
      </p:sp>
      <p:sp>
        <p:nvSpPr>
          <p:cNvPr id="16" name="Rectangle 15">
            <a:extLst>
              <a:ext uri="{FF2B5EF4-FFF2-40B4-BE49-F238E27FC236}">
                <a16:creationId xmlns:a16="http://schemas.microsoft.com/office/drawing/2014/main" id="{CB711BDB-8615-478B-9080-98FE15F1E6F1}"/>
              </a:ext>
            </a:extLst>
          </p:cNvPr>
          <p:cNvSpPr>
            <a:spLocks noGrp="1"/>
          </p:cNvSpPr>
          <p:nvPr/>
        </p:nvSpPr>
        <p:spPr>
          <a:xfrm>
            <a:off x="6686550" y="3695700"/>
            <a:ext cx="4514850" cy="1104900"/>
          </a:xfrm>
          <a:prstGeom prst="rect">
            <a:avLst/>
          </a:prstGeom>
          <a:noFill/>
          <a:ln w="0">
            <a:noFill/>
            <a:prstDash val="solid"/>
          </a:ln>
        </p:spPr>
        <p:txBody>
          <a:bodyPr wrap="square" lIns="0" tIns="0" rIns="0" bIns="0" anchor="t">
            <a:normAutofit/>
          </a:bodyPr>
          <a:lstStyle/>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Cheap lodging is only for this capped trip.</a:t>
            </a:r>
          </a:p>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I normally enjoy premium hotels.</a:t>
            </a:r>
          </a:p>
          <a:p>
            <a:pPr marL="22" indent="-12" algn="l">
              <a:spcAft>
                <a:spcPts val="8"/>
              </a:spcAft>
              <a:buChar char="•"/>
              <a:defRPr sz="1575" b="0">
                <a:solidFill>
                  <a:srgbClr val="0A1020"/>
                </a:solidFill>
                <a:latin typeface="Arial"/>
                <a:ea typeface="Arial"/>
                <a:cs typeface="Arial"/>
              </a:defRPr>
            </a:pPr>
            <a:r>
              <a:rPr sz="1575" b="0">
                <a:solidFill>
                  <a:srgbClr val="0A1020"/>
                </a:solidFill>
                <a:latin typeface="Arial"/>
                <a:ea typeface="Arial"/>
                <a:cs typeface="Arial"/>
              </a:rPr>
              <a:t>No general budget preference should be stored.</a:t>
            </a:r>
          </a:p>
        </p:txBody>
      </p:sp>
      <p:sp>
        <p:nvSpPr>
          <p:cNvPr id="17" name="Rectangle 16">
            <a:extLst>
              <a:ext uri="{FF2B5EF4-FFF2-40B4-BE49-F238E27FC236}">
                <a16:creationId xmlns:a16="http://schemas.microsoft.com/office/drawing/2014/main" id="{9102AD86-0714-4DEE-ABF1-5B8E8E7FC613}"/>
              </a:ext>
            </a:extLst>
          </p:cNvPr>
          <p:cNvSpPr>
            <a:spLocks noGrp="1"/>
          </p:cNvSpPr>
          <p:nvPr/>
        </p:nvSpPr>
        <p:spPr>
          <a:xfrm>
            <a:off x="6686550" y="5067300"/>
            <a:ext cx="4095750" cy="361950"/>
          </a:xfrm>
          <a:prstGeom prst="rect">
            <a:avLst/>
          </a:prstGeom>
          <a:noFill/>
          <a:ln w="0">
            <a:noFill/>
            <a:prstDash val="solid"/>
          </a:ln>
        </p:spPr>
        <p:txBody>
          <a:bodyPr wrap="square" lIns="0" tIns="0" rIns="0" bIns="0" anchor="t">
            <a:noAutofit/>
          </a:bodyPr>
          <a:lstStyle/>
          <a:p>
            <a:pPr algn="l">
              <a:buNone/>
              <a:defRPr sz="2100" b="1">
                <a:solidFill>
                  <a:srgbClr val="5F6878"/>
                </a:solidFill>
                <a:latin typeface="Arial"/>
                <a:ea typeface="Arial"/>
                <a:cs typeface="Arial"/>
              </a:defRPr>
            </a:pPr>
            <a:r>
              <a:rPr sz="2100" b="1">
                <a:solidFill>
                  <a:srgbClr val="5F6878"/>
                </a:solidFill>
                <a:latin typeface="Arial"/>
                <a:ea typeface="Arial"/>
                <a:cs typeface="Arial"/>
              </a:rPr>
              <a:t>GOLD ACTION: IGNORE</a:t>
            </a:r>
          </a:p>
        </p:txBody>
      </p:sp>
      <p:sp>
        <p:nvSpPr>
          <p:cNvPr id="18" name="Rectangle 17">
            <a:extLst>
              <a:ext uri="{FF2B5EF4-FFF2-40B4-BE49-F238E27FC236}">
                <a16:creationId xmlns:a16="http://schemas.microsoft.com/office/drawing/2014/main" id="{81275FCD-FF39-4700-B2A2-A082BF640379}"/>
              </a:ext>
            </a:extLst>
          </p:cNvPr>
          <p:cNvSpPr>
            <a:spLocks noGrp="1"/>
          </p:cNvSpPr>
          <p:nvPr/>
        </p:nvSpPr>
        <p:spPr>
          <a:xfrm>
            <a:off x="1714500" y="5905500"/>
            <a:ext cx="8763000" cy="285750"/>
          </a:xfrm>
          <a:prstGeom prst="rect">
            <a:avLst/>
          </a:prstGeom>
          <a:noFill/>
          <a:ln w="0">
            <a:noFill/>
            <a:prstDash val="solid"/>
          </a:ln>
        </p:spPr>
        <p:txBody>
          <a:bodyPr wrap="square" lIns="0" tIns="0" rIns="0" bIns="0" anchor="t">
            <a:noAutofit/>
          </a:bodyPr>
          <a:lstStyle/>
          <a:p>
            <a:pPr algn="ctr">
              <a:buNone/>
              <a:defRPr sz="1650" b="1">
                <a:solidFill>
                  <a:srgbClr val="1357B8"/>
                </a:solidFill>
                <a:latin typeface="Arial"/>
                <a:ea typeface="Arial"/>
                <a:cs typeface="Arial"/>
              </a:defRPr>
            </a:pPr>
            <a:r>
              <a:rPr sz="1650" b="1">
                <a:solidFill>
                  <a:srgbClr val="1357B8"/>
                </a:solidFill>
                <a:latin typeface="Arial"/>
                <a:ea typeface="Arial"/>
                <a:cs typeface="Arial"/>
              </a:rPr>
              <a:t>Same surface preference + same query; only the causal scope changes.</a:t>
            </a:r>
          </a:p>
        </p:txBody>
      </p:sp>
    </p:spTree>
    <p:extLst>
      <p:ext uri="{BB962C8B-B14F-4D97-AF65-F5344CB8AC3E}">
        <p14:creationId xmlns:p14="http://schemas.microsoft.com/office/powerpoint/2010/main" val="140669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kicker-6">
            <a:extLst>
              <a:ext uri="{FF2B5EF4-FFF2-40B4-BE49-F238E27FC236}">
                <a16:creationId xmlns:a16="http://schemas.microsoft.com/office/drawing/2014/main" id="{F9B1678D-4AA8-4719-B377-8334210B338E}"/>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2 · BOUNDARY QUERIES</a:t>
            </a:r>
          </a:p>
        </p:txBody>
      </p:sp>
      <p:sp>
        <p:nvSpPr>
          <p:cNvPr id="2" name="title-6">
            <a:extLst>
              <a:ext uri="{FF2B5EF4-FFF2-40B4-BE49-F238E27FC236}">
                <a16:creationId xmlns:a16="http://schemas.microsoft.com/office/drawing/2014/main" id="{DBBF4E51-3933-433D-9E0F-C11B15C6A6AD}"/>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One scoped preference creates three boundary tests</a:t>
            </a:r>
          </a:p>
        </p:txBody>
      </p:sp>
      <p:sp>
        <p:nvSpPr>
          <p:cNvPr id="3" name="Straight Connector 2">
            <a:extLst>
              <a:ext uri="{FF2B5EF4-FFF2-40B4-BE49-F238E27FC236}">
                <a16:creationId xmlns:a16="http://schemas.microsoft.com/office/drawing/2014/main" id="{641DCC1C-A4C9-42DE-A238-4C189DD650E2}"/>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5686A927-F196-4FA7-ACE2-3664284B4946}"/>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06</a:t>
            </a:r>
          </a:p>
        </p:txBody>
      </p:sp>
      <p:sp>
        <p:nvSpPr>
          <p:cNvPr id="5" name="Rectangle 4">
            <a:extLst>
              <a:ext uri="{FF2B5EF4-FFF2-40B4-BE49-F238E27FC236}">
                <a16:creationId xmlns:a16="http://schemas.microsoft.com/office/drawing/2014/main" id="{450363D0-AFFA-429E-9E14-47C4EA4A88C1}"/>
              </a:ext>
            </a:extLst>
          </p:cNvPr>
          <p:cNvSpPr>
            <a:spLocks noGrp="1"/>
          </p:cNvSpPr>
          <p:nvPr/>
        </p:nvSpPr>
        <p:spPr>
          <a:xfrm>
            <a:off x="495300" y="1581150"/>
            <a:ext cx="3048000" cy="4381500"/>
          </a:xfrm>
          <a:prstGeom prst="rect">
            <a:avLst/>
          </a:prstGeom>
          <a:solidFill>
            <a:srgbClr val="EAF3FF"/>
          </a:solidFill>
          <a:ln w="14288">
            <a:solidFill>
              <a:srgbClr val="3D8DFF"/>
            </a:solidFill>
            <a:prstDash val="solid"/>
          </a:ln>
        </p:spPr>
      </p:sp>
      <p:sp>
        <p:nvSpPr>
          <p:cNvPr id="6" name="Rectangle 5">
            <a:extLst>
              <a:ext uri="{FF2B5EF4-FFF2-40B4-BE49-F238E27FC236}">
                <a16:creationId xmlns:a16="http://schemas.microsoft.com/office/drawing/2014/main" id="{40BBA601-D440-43E4-90BD-D435AD7BBFE2}"/>
              </a:ext>
            </a:extLst>
          </p:cNvPr>
          <p:cNvSpPr>
            <a:spLocks noGrp="1"/>
          </p:cNvSpPr>
          <p:nvPr/>
        </p:nvSpPr>
        <p:spPr>
          <a:xfrm>
            <a:off x="742950" y="1847850"/>
            <a:ext cx="2381250" cy="285750"/>
          </a:xfrm>
          <a:prstGeom prst="rect">
            <a:avLst/>
          </a:prstGeom>
          <a:noFill/>
          <a:ln w="0">
            <a:noFill/>
            <a:prstDash val="solid"/>
          </a:ln>
        </p:spPr>
        <p:txBody>
          <a:bodyPr wrap="square" lIns="0" tIns="0" rIns="0" bIns="0" anchor="t">
            <a:noAutofit/>
          </a:bodyPr>
          <a:lstStyle/>
          <a:p>
            <a:pPr algn="l">
              <a:buNone/>
              <a:defRPr sz="1425" b="1">
                <a:solidFill>
                  <a:srgbClr val="3D8DFF"/>
                </a:solidFill>
                <a:latin typeface="Arial"/>
                <a:ea typeface="Arial"/>
                <a:cs typeface="Arial"/>
              </a:defRPr>
            </a:pPr>
            <a:r>
              <a:rPr sz="1425" b="1">
                <a:solidFill>
                  <a:srgbClr val="3D8DFF"/>
                </a:solidFill>
                <a:latin typeface="Arial"/>
                <a:ea typeface="Arial"/>
                <a:cs typeface="Arial"/>
              </a:rPr>
              <a:t>SCOPED MEMORY</a:t>
            </a:r>
          </a:p>
        </p:txBody>
      </p:sp>
      <p:sp>
        <p:nvSpPr>
          <p:cNvPr id="7" name="Rectangle 6">
            <a:extLst>
              <a:ext uri="{FF2B5EF4-FFF2-40B4-BE49-F238E27FC236}">
                <a16:creationId xmlns:a16="http://schemas.microsoft.com/office/drawing/2014/main" id="{5D8F5430-C782-4D48-94A4-B2AABC3A4F25}"/>
              </a:ext>
            </a:extLst>
          </p:cNvPr>
          <p:cNvSpPr>
            <a:spLocks noGrp="1"/>
          </p:cNvSpPr>
          <p:nvPr/>
        </p:nvSpPr>
        <p:spPr>
          <a:xfrm>
            <a:off x="742950" y="2286000"/>
            <a:ext cx="2514600" cy="70485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Budget-conscious accommodation</a:t>
            </a:r>
          </a:p>
        </p:txBody>
      </p:sp>
      <p:sp>
        <p:nvSpPr>
          <p:cNvPr id="8" name="Rectangle 7">
            <a:extLst>
              <a:ext uri="{FF2B5EF4-FFF2-40B4-BE49-F238E27FC236}">
                <a16:creationId xmlns:a16="http://schemas.microsoft.com/office/drawing/2014/main" id="{BDE9444C-6885-4C98-8D54-82DEEE4039DC}"/>
              </a:ext>
            </a:extLst>
          </p:cNvPr>
          <p:cNvSpPr>
            <a:spLocks noGrp="1"/>
          </p:cNvSpPr>
          <p:nvPr/>
        </p:nvSpPr>
        <p:spPr>
          <a:xfrm>
            <a:off x="742950" y="3295650"/>
            <a:ext cx="2000250" cy="266700"/>
          </a:xfrm>
          <a:prstGeom prst="rect">
            <a:avLst/>
          </a:prstGeom>
          <a:noFill/>
          <a:ln w="0">
            <a:noFill/>
            <a:prstDash val="solid"/>
          </a:ln>
        </p:spPr>
        <p:txBody>
          <a:bodyPr wrap="square" lIns="0" tIns="0" rIns="0" bIns="0" anchor="t">
            <a:noAutofit/>
          </a:bodyPr>
          <a:lstStyle/>
          <a:p>
            <a:pPr algn="l">
              <a:buNone/>
              <a:defRPr sz="1350" b="1">
                <a:solidFill>
                  <a:srgbClr val="159A7D"/>
                </a:solidFill>
                <a:latin typeface="Arial"/>
                <a:ea typeface="Arial"/>
                <a:cs typeface="Arial"/>
              </a:defRPr>
            </a:pPr>
            <a:r>
              <a:rPr sz="1350" b="1">
                <a:solidFill>
                  <a:srgbClr val="159A7D"/>
                </a:solidFill>
                <a:latin typeface="Arial"/>
                <a:ea typeface="Arial"/>
                <a:cs typeface="Arial"/>
              </a:rPr>
              <a:t>APPLIES WHEN</a:t>
            </a:r>
          </a:p>
        </p:txBody>
      </p:sp>
      <p:sp>
        <p:nvSpPr>
          <p:cNvPr id="9" name="Rectangle 8">
            <a:extLst>
              <a:ext uri="{FF2B5EF4-FFF2-40B4-BE49-F238E27FC236}">
                <a16:creationId xmlns:a16="http://schemas.microsoft.com/office/drawing/2014/main" id="{B6AB4EE2-AA56-4544-9917-EC8D3D422AF6}"/>
              </a:ext>
            </a:extLst>
          </p:cNvPr>
          <p:cNvSpPr>
            <a:spLocks noGrp="1"/>
          </p:cNvSpPr>
          <p:nvPr/>
        </p:nvSpPr>
        <p:spPr>
          <a:xfrm>
            <a:off x="742950" y="3638550"/>
            <a:ext cx="2514600" cy="723900"/>
          </a:xfrm>
          <a:prstGeom prst="rect">
            <a:avLst/>
          </a:prstGeom>
          <a:noFill/>
          <a:ln w="0">
            <a:noFill/>
            <a:prstDash val="solid"/>
          </a:ln>
        </p:spPr>
        <p:txBody>
          <a:bodyPr wrap="square" lIns="0" tIns="0" rIns="0" bIns="0" anchor="t">
            <a:normAutofit/>
          </a:bodyPr>
          <a:lstStyle/>
          <a:p>
            <a:pPr algn="l">
              <a:buNone/>
              <a:defRPr sz="1575" b="0">
                <a:solidFill>
                  <a:srgbClr val="0A1020"/>
                </a:solidFill>
                <a:latin typeface="Arial"/>
                <a:ea typeface="Arial"/>
                <a:cs typeface="Arial"/>
              </a:defRPr>
            </a:pPr>
            <a:r>
              <a:rPr sz="1575" b="0">
                <a:solidFill>
                  <a:srgbClr val="0A1020"/>
                </a:solidFill>
                <a:latin typeface="Arial"/>
                <a:ea typeface="Arial"/>
                <a:cs typeface="Arial"/>
              </a:rPr>
              <a:t>I pay personally or a strict reimbursement cap applies.</a:t>
            </a:r>
          </a:p>
        </p:txBody>
      </p:sp>
      <p:sp>
        <p:nvSpPr>
          <p:cNvPr id="10" name="Rectangle 9">
            <a:extLst>
              <a:ext uri="{FF2B5EF4-FFF2-40B4-BE49-F238E27FC236}">
                <a16:creationId xmlns:a16="http://schemas.microsoft.com/office/drawing/2014/main" id="{BE9517B2-77E4-4398-A2B3-878142909EAB}"/>
              </a:ext>
            </a:extLst>
          </p:cNvPr>
          <p:cNvSpPr>
            <a:spLocks noGrp="1"/>
          </p:cNvSpPr>
          <p:nvPr/>
        </p:nvSpPr>
        <p:spPr>
          <a:xfrm>
            <a:off x="742950" y="4629150"/>
            <a:ext cx="2381250" cy="266700"/>
          </a:xfrm>
          <a:prstGeom prst="rect">
            <a:avLst/>
          </a:prstGeom>
          <a:noFill/>
          <a:ln w="0">
            <a:noFill/>
            <a:prstDash val="solid"/>
          </a:ln>
        </p:spPr>
        <p:txBody>
          <a:bodyPr wrap="square" lIns="0" tIns="0" rIns="0" bIns="0" anchor="t">
            <a:noAutofit/>
          </a:bodyPr>
          <a:lstStyle/>
          <a:p>
            <a:pPr algn="l">
              <a:buNone/>
              <a:defRPr sz="1350" b="1">
                <a:solidFill>
                  <a:srgbClr val="5F6878"/>
                </a:solidFill>
                <a:latin typeface="Arial"/>
                <a:ea typeface="Arial"/>
                <a:cs typeface="Arial"/>
              </a:defRPr>
            </a:pPr>
            <a:r>
              <a:rPr sz="1350" b="1">
                <a:solidFill>
                  <a:srgbClr val="5F6878"/>
                </a:solidFill>
                <a:latin typeface="Arial"/>
                <a:ea typeface="Arial"/>
                <a:cs typeface="Arial"/>
              </a:rPr>
              <a:t>DOES NOT APPLY WHEN</a:t>
            </a:r>
          </a:p>
        </p:txBody>
      </p:sp>
      <p:sp>
        <p:nvSpPr>
          <p:cNvPr id="11" name="Rectangle 10">
            <a:extLst>
              <a:ext uri="{FF2B5EF4-FFF2-40B4-BE49-F238E27FC236}">
                <a16:creationId xmlns:a16="http://schemas.microsoft.com/office/drawing/2014/main" id="{79D99654-F03B-4EB2-9626-BA170BD788B1}"/>
              </a:ext>
            </a:extLst>
          </p:cNvPr>
          <p:cNvSpPr>
            <a:spLocks noGrp="1"/>
          </p:cNvSpPr>
          <p:nvPr/>
        </p:nvSpPr>
        <p:spPr>
          <a:xfrm>
            <a:off x="742950" y="4972050"/>
            <a:ext cx="2514600" cy="666750"/>
          </a:xfrm>
          <a:prstGeom prst="rect">
            <a:avLst/>
          </a:prstGeom>
          <a:noFill/>
          <a:ln w="0">
            <a:noFill/>
            <a:prstDash val="solid"/>
          </a:ln>
        </p:spPr>
        <p:txBody>
          <a:bodyPr wrap="square" lIns="0" tIns="0" rIns="0" bIns="0" anchor="t">
            <a:normAutofit/>
          </a:bodyPr>
          <a:lstStyle/>
          <a:p>
            <a:pPr algn="l">
              <a:buNone/>
              <a:defRPr sz="1575" b="0">
                <a:solidFill>
                  <a:srgbClr val="0A1020"/>
                </a:solidFill>
                <a:latin typeface="Arial"/>
                <a:ea typeface="Arial"/>
                <a:cs typeface="Arial"/>
              </a:defRPr>
            </a:pPr>
            <a:r>
              <a:rPr sz="1575" b="0">
                <a:solidFill>
                  <a:srgbClr val="0A1020"/>
                </a:solidFill>
                <a:latin typeface="Arial"/>
                <a:ea typeface="Arial"/>
                <a:cs typeface="Arial"/>
              </a:rPr>
              <a:t>The trip is fully reimbursed without a cap.</a:t>
            </a:r>
          </a:p>
        </p:txBody>
      </p:sp>
      <p:sp>
        <p:nvSpPr>
          <p:cNvPr id="12" name="Rectangle 11">
            <a:extLst>
              <a:ext uri="{FF2B5EF4-FFF2-40B4-BE49-F238E27FC236}">
                <a16:creationId xmlns:a16="http://schemas.microsoft.com/office/drawing/2014/main" id="{6C9F30A5-EF5A-4D34-8B0A-3D504DABA5C1}"/>
              </a:ext>
            </a:extLst>
          </p:cNvPr>
          <p:cNvSpPr>
            <a:spLocks noGrp="1"/>
          </p:cNvSpPr>
          <p:nvPr/>
        </p:nvSpPr>
        <p:spPr>
          <a:xfrm>
            <a:off x="3905250" y="1581150"/>
            <a:ext cx="7791450" cy="1257300"/>
          </a:xfrm>
          <a:prstGeom prst="rect">
            <a:avLst/>
          </a:prstGeom>
          <a:solidFill>
            <a:srgbClr val="E6F6F2"/>
          </a:solidFill>
          <a:ln w="14288">
            <a:solidFill>
              <a:srgbClr val="159A7D"/>
            </a:solidFill>
            <a:prstDash val="solid"/>
          </a:ln>
        </p:spPr>
      </p:sp>
      <p:sp>
        <p:nvSpPr>
          <p:cNvPr id="13" name="Rectangle 12">
            <a:extLst>
              <a:ext uri="{FF2B5EF4-FFF2-40B4-BE49-F238E27FC236}">
                <a16:creationId xmlns:a16="http://schemas.microsoft.com/office/drawing/2014/main" id="{00E38D5A-E451-4831-B037-0FB079D44CB3}"/>
              </a:ext>
            </a:extLst>
          </p:cNvPr>
          <p:cNvSpPr>
            <a:spLocks noGrp="1"/>
          </p:cNvSpPr>
          <p:nvPr/>
        </p:nvSpPr>
        <p:spPr>
          <a:xfrm>
            <a:off x="4152900" y="1771650"/>
            <a:ext cx="1428750" cy="266700"/>
          </a:xfrm>
          <a:prstGeom prst="rect">
            <a:avLst/>
          </a:prstGeom>
          <a:noFill/>
          <a:ln w="0">
            <a:noFill/>
            <a:prstDash val="solid"/>
          </a:ln>
        </p:spPr>
        <p:txBody>
          <a:bodyPr wrap="square" lIns="0" tIns="0" rIns="0" bIns="0" anchor="t">
            <a:noAutofit/>
          </a:bodyPr>
          <a:lstStyle/>
          <a:p>
            <a:pPr algn="l">
              <a:buNone/>
              <a:defRPr sz="1350" b="1">
                <a:solidFill>
                  <a:srgbClr val="159A7D"/>
                </a:solidFill>
                <a:latin typeface="Arial"/>
                <a:ea typeface="Arial"/>
                <a:cs typeface="Arial"/>
              </a:defRPr>
            </a:pPr>
            <a:r>
              <a:rPr sz="1350" b="1">
                <a:solidFill>
                  <a:srgbClr val="159A7D"/>
                </a:solidFill>
                <a:latin typeface="Arial"/>
                <a:ea typeface="Arial"/>
                <a:cs typeface="Arial"/>
              </a:rPr>
              <a:t>INSIDE</a:t>
            </a:r>
          </a:p>
        </p:txBody>
      </p:sp>
      <p:sp>
        <p:nvSpPr>
          <p:cNvPr id="14" name="Rectangle 13">
            <a:extLst>
              <a:ext uri="{FF2B5EF4-FFF2-40B4-BE49-F238E27FC236}">
                <a16:creationId xmlns:a16="http://schemas.microsoft.com/office/drawing/2014/main" id="{9DF2862A-5C60-4271-8A8B-F6D316EC7FCB}"/>
              </a:ext>
            </a:extLst>
          </p:cNvPr>
          <p:cNvSpPr>
            <a:spLocks noGrp="1"/>
          </p:cNvSpPr>
          <p:nvPr/>
        </p:nvSpPr>
        <p:spPr>
          <a:xfrm>
            <a:off x="4152900" y="2095500"/>
            <a:ext cx="5734050" cy="5334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This journey comes out of my own pocket, so cost matters a lot.</a:t>
            </a:r>
          </a:p>
        </p:txBody>
      </p:sp>
      <p:sp>
        <p:nvSpPr>
          <p:cNvPr id="15" name="Rectangle 14">
            <a:extLst>
              <a:ext uri="{FF2B5EF4-FFF2-40B4-BE49-F238E27FC236}">
                <a16:creationId xmlns:a16="http://schemas.microsoft.com/office/drawing/2014/main" id="{713C47AF-7C7B-4F51-AC81-DEB9D977BC8C}"/>
              </a:ext>
            </a:extLst>
          </p:cNvPr>
          <p:cNvSpPr>
            <a:spLocks noGrp="1"/>
          </p:cNvSpPr>
          <p:nvPr/>
        </p:nvSpPr>
        <p:spPr>
          <a:xfrm>
            <a:off x="10096500" y="2038350"/>
            <a:ext cx="1314450" cy="342900"/>
          </a:xfrm>
          <a:prstGeom prst="rect">
            <a:avLst/>
          </a:prstGeom>
          <a:noFill/>
          <a:ln w="0">
            <a:noFill/>
            <a:prstDash val="solid"/>
          </a:ln>
        </p:spPr>
        <p:txBody>
          <a:bodyPr wrap="square" lIns="0" tIns="0" rIns="0" bIns="0" anchor="t">
            <a:noAutofit/>
          </a:bodyPr>
          <a:lstStyle/>
          <a:p>
            <a:pPr algn="r">
              <a:buNone/>
              <a:defRPr sz="1800" b="1">
                <a:solidFill>
                  <a:srgbClr val="159A7D"/>
                </a:solidFill>
                <a:latin typeface="Arial"/>
                <a:ea typeface="Arial"/>
                <a:cs typeface="Arial"/>
              </a:defRPr>
            </a:pPr>
            <a:r>
              <a:rPr sz="1800" b="1">
                <a:solidFill>
                  <a:srgbClr val="159A7D"/>
                </a:solidFill>
                <a:latin typeface="Arial"/>
                <a:ea typeface="Arial"/>
                <a:cs typeface="Arial"/>
              </a:rPr>
              <a:t>APPLY</a:t>
            </a:r>
          </a:p>
        </p:txBody>
      </p:sp>
      <p:sp>
        <p:nvSpPr>
          <p:cNvPr id="16" name="Rectangle 15">
            <a:extLst>
              <a:ext uri="{FF2B5EF4-FFF2-40B4-BE49-F238E27FC236}">
                <a16:creationId xmlns:a16="http://schemas.microsoft.com/office/drawing/2014/main" id="{7C20D185-443B-489D-A4DF-A11EF078C677}"/>
              </a:ext>
            </a:extLst>
          </p:cNvPr>
          <p:cNvSpPr>
            <a:spLocks noGrp="1"/>
          </p:cNvSpPr>
          <p:nvPr/>
        </p:nvSpPr>
        <p:spPr>
          <a:xfrm>
            <a:off x="3905250" y="3048000"/>
            <a:ext cx="7791450" cy="1257300"/>
          </a:xfrm>
          <a:prstGeom prst="rect">
            <a:avLst/>
          </a:prstGeom>
          <a:solidFill>
            <a:srgbClr val="EEF0F3"/>
          </a:solidFill>
          <a:ln w="14288">
            <a:solidFill>
              <a:srgbClr val="5F6878"/>
            </a:solidFill>
            <a:prstDash val="solid"/>
          </a:ln>
        </p:spPr>
      </p:sp>
      <p:sp>
        <p:nvSpPr>
          <p:cNvPr id="17" name="Rectangle 16">
            <a:extLst>
              <a:ext uri="{FF2B5EF4-FFF2-40B4-BE49-F238E27FC236}">
                <a16:creationId xmlns:a16="http://schemas.microsoft.com/office/drawing/2014/main" id="{72F7800D-BB09-42F9-80D0-E0ADDAFE0C21}"/>
              </a:ext>
            </a:extLst>
          </p:cNvPr>
          <p:cNvSpPr>
            <a:spLocks noGrp="1"/>
          </p:cNvSpPr>
          <p:nvPr/>
        </p:nvSpPr>
        <p:spPr>
          <a:xfrm>
            <a:off x="4152900" y="3238500"/>
            <a:ext cx="1428750" cy="266700"/>
          </a:xfrm>
          <a:prstGeom prst="rect">
            <a:avLst/>
          </a:prstGeom>
          <a:noFill/>
          <a:ln w="0">
            <a:noFill/>
            <a:prstDash val="solid"/>
          </a:ln>
        </p:spPr>
        <p:txBody>
          <a:bodyPr wrap="square" lIns="0" tIns="0" rIns="0" bIns="0" anchor="t">
            <a:noAutofit/>
          </a:bodyPr>
          <a:lstStyle/>
          <a:p>
            <a:pPr algn="l">
              <a:buNone/>
              <a:defRPr sz="1350" b="1">
                <a:solidFill>
                  <a:srgbClr val="5F6878"/>
                </a:solidFill>
                <a:latin typeface="Arial"/>
                <a:ea typeface="Arial"/>
                <a:cs typeface="Arial"/>
              </a:defRPr>
            </a:pPr>
            <a:r>
              <a:rPr sz="1350" b="1">
                <a:solidFill>
                  <a:srgbClr val="5F6878"/>
                </a:solidFill>
                <a:latin typeface="Arial"/>
                <a:ea typeface="Arial"/>
                <a:cs typeface="Arial"/>
              </a:rPr>
              <a:t>OUTSIDE</a:t>
            </a:r>
          </a:p>
        </p:txBody>
      </p:sp>
      <p:sp>
        <p:nvSpPr>
          <p:cNvPr id="18" name="Rectangle 17">
            <a:extLst>
              <a:ext uri="{FF2B5EF4-FFF2-40B4-BE49-F238E27FC236}">
                <a16:creationId xmlns:a16="http://schemas.microsoft.com/office/drawing/2014/main" id="{790691B8-DB82-4455-B422-7FAE4A366B01}"/>
              </a:ext>
            </a:extLst>
          </p:cNvPr>
          <p:cNvSpPr>
            <a:spLocks noGrp="1"/>
          </p:cNvSpPr>
          <p:nvPr/>
        </p:nvSpPr>
        <p:spPr>
          <a:xfrm>
            <a:off x="4152900" y="3562350"/>
            <a:ext cx="5734050" cy="5334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The organization is paying and there is no spending limit for lodging.</a:t>
            </a:r>
          </a:p>
        </p:txBody>
      </p:sp>
      <p:sp>
        <p:nvSpPr>
          <p:cNvPr id="19" name="Rectangle 18">
            <a:extLst>
              <a:ext uri="{FF2B5EF4-FFF2-40B4-BE49-F238E27FC236}">
                <a16:creationId xmlns:a16="http://schemas.microsoft.com/office/drawing/2014/main" id="{4AE1C4DB-8EE1-4859-BC37-B53357DF7056}"/>
              </a:ext>
            </a:extLst>
          </p:cNvPr>
          <p:cNvSpPr>
            <a:spLocks noGrp="1"/>
          </p:cNvSpPr>
          <p:nvPr/>
        </p:nvSpPr>
        <p:spPr>
          <a:xfrm>
            <a:off x="10096500" y="3505200"/>
            <a:ext cx="1314450" cy="342900"/>
          </a:xfrm>
          <a:prstGeom prst="rect">
            <a:avLst/>
          </a:prstGeom>
          <a:noFill/>
          <a:ln w="0">
            <a:noFill/>
            <a:prstDash val="solid"/>
          </a:ln>
        </p:spPr>
        <p:txBody>
          <a:bodyPr wrap="square" lIns="0" tIns="0" rIns="0" bIns="0" anchor="t">
            <a:noAutofit/>
          </a:bodyPr>
          <a:lstStyle/>
          <a:p>
            <a:pPr algn="r">
              <a:buNone/>
              <a:defRPr sz="1800" b="1">
                <a:solidFill>
                  <a:srgbClr val="5F6878"/>
                </a:solidFill>
                <a:latin typeface="Arial"/>
                <a:ea typeface="Arial"/>
                <a:cs typeface="Arial"/>
              </a:defRPr>
            </a:pPr>
            <a:r>
              <a:rPr sz="1800" b="1">
                <a:solidFill>
                  <a:srgbClr val="5F6878"/>
                </a:solidFill>
                <a:latin typeface="Arial"/>
                <a:ea typeface="Arial"/>
                <a:cs typeface="Arial"/>
              </a:rPr>
              <a:t>IGNORE</a:t>
            </a:r>
          </a:p>
        </p:txBody>
      </p:sp>
      <p:sp>
        <p:nvSpPr>
          <p:cNvPr id="20" name="Rectangle 19">
            <a:extLst>
              <a:ext uri="{FF2B5EF4-FFF2-40B4-BE49-F238E27FC236}">
                <a16:creationId xmlns:a16="http://schemas.microsoft.com/office/drawing/2014/main" id="{3EA7A1F1-F57A-48B5-978E-3147197D2A06}"/>
              </a:ext>
            </a:extLst>
          </p:cNvPr>
          <p:cNvSpPr>
            <a:spLocks noGrp="1"/>
          </p:cNvSpPr>
          <p:nvPr/>
        </p:nvSpPr>
        <p:spPr>
          <a:xfrm>
            <a:off x="3905250" y="4514850"/>
            <a:ext cx="7791450" cy="1257300"/>
          </a:xfrm>
          <a:prstGeom prst="rect">
            <a:avLst/>
          </a:prstGeom>
          <a:solidFill>
            <a:srgbClr val="FFF2CF"/>
          </a:solidFill>
          <a:ln w="14288">
            <a:solidFill>
              <a:srgbClr val="C98500"/>
            </a:solidFill>
            <a:prstDash val="solid"/>
          </a:ln>
        </p:spPr>
      </p:sp>
      <p:sp>
        <p:nvSpPr>
          <p:cNvPr id="21" name="Rectangle 20">
            <a:extLst>
              <a:ext uri="{FF2B5EF4-FFF2-40B4-BE49-F238E27FC236}">
                <a16:creationId xmlns:a16="http://schemas.microsoft.com/office/drawing/2014/main" id="{45606355-37AD-4995-8035-C64C0AAE40A3}"/>
              </a:ext>
            </a:extLst>
          </p:cNvPr>
          <p:cNvSpPr>
            <a:spLocks noGrp="1"/>
          </p:cNvSpPr>
          <p:nvPr/>
        </p:nvSpPr>
        <p:spPr>
          <a:xfrm>
            <a:off x="4152900" y="4705350"/>
            <a:ext cx="1428750" cy="266700"/>
          </a:xfrm>
          <a:prstGeom prst="rect">
            <a:avLst/>
          </a:prstGeom>
          <a:noFill/>
          <a:ln w="0">
            <a:noFill/>
            <a:prstDash val="solid"/>
          </a:ln>
        </p:spPr>
        <p:txBody>
          <a:bodyPr wrap="square" lIns="0" tIns="0" rIns="0" bIns="0" anchor="t">
            <a:noAutofit/>
          </a:bodyPr>
          <a:lstStyle/>
          <a:p>
            <a:pPr algn="l">
              <a:buNone/>
              <a:defRPr sz="1350" b="1">
                <a:solidFill>
                  <a:srgbClr val="C98500"/>
                </a:solidFill>
                <a:latin typeface="Arial"/>
                <a:ea typeface="Arial"/>
                <a:cs typeface="Arial"/>
              </a:defRPr>
            </a:pPr>
            <a:r>
              <a:rPr sz="1350" b="1">
                <a:solidFill>
                  <a:srgbClr val="C98500"/>
                </a:solidFill>
                <a:latin typeface="Arial"/>
                <a:ea typeface="Arial"/>
                <a:cs typeface="Arial"/>
              </a:rPr>
              <a:t>NEAR</a:t>
            </a:r>
          </a:p>
        </p:txBody>
      </p:sp>
      <p:sp>
        <p:nvSpPr>
          <p:cNvPr id="22" name="Rectangle 21">
            <a:extLst>
              <a:ext uri="{FF2B5EF4-FFF2-40B4-BE49-F238E27FC236}">
                <a16:creationId xmlns:a16="http://schemas.microsoft.com/office/drawing/2014/main" id="{B11F5948-8E1F-44EF-ACEF-D758A534B251}"/>
              </a:ext>
            </a:extLst>
          </p:cNvPr>
          <p:cNvSpPr>
            <a:spLocks noGrp="1"/>
          </p:cNvSpPr>
          <p:nvPr/>
        </p:nvSpPr>
        <p:spPr>
          <a:xfrm>
            <a:off x="4152900" y="5029200"/>
            <a:ext cx="5734050" cy="5334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I need a hotel, but the funding arrangement has not been decided.</a:t>
            </a:r>
          </a:p>
        </p:txBody>
      </p:sp>
      <p:sp>
        <p:nvSpPr>
          <p:cNvPr id="23" name="Rectangle 22">
            <a:extLst>
              <a:ext uri="{FF2B5EF4-FFF2-40B4-BE49-F238E27FC236}">
                <a16:creationId xmlns:a16="http://schemas.microsoft.com/office/drawing/2014/main" id="{F602693D-64FD-484E-8F3C-16265FBE4567}"/>
              </a:ext>
            </a:extLst>
          </p:cNvPr>
          <p:cNvSpPr>
            <a:spLocks noGrp="1"/>
          </p:cNvSpPr>
          <p:nvPr/>
        </p:nvSpPr>
        <p:spPr>
          <a:xfrm>
            <a:off x="10096500" y="4972050"/>
            <a:ext cx="1314450" cy="342900"/>
          </a:xfrm>
          <a:prstGeom prst="rect">
            <a:avLst/>
          </a:prstGeom>
          <a:noFill/>
          <a:ln w="0">
            <a:noFill/>
            <a:prstDash val="solid"/>
          </a:ln>
        </p:spPr>
        <p:txBody>
          <a:bodyPr wrap="square" lIns="0" tIns="0" rIns="0" bIns="0" anchor="t">
            <a:noAutofit/>
          </a:bodyPr>
          <a:lstStyle/>
          <a:p>
            <a:pPr algn="r">
              <a:buNone/>
              <a:defRPr sz="1800" b="1">
                <a:solidFill>
                  <a:srgbClr val="C98500"/>
                </a:solidFill>
                <a:latin typeface="Arial"/>
                <a:ea typeface="Arial"/>
                <a:cs typeface="Arial"/>
              </a:defRPr>
            </a:pPr>
            <a:r>
              <a:rPr sz="1800" b="1">
                <a:solidFill>
                  <a:srgbClr val="C98500"/>
                </a:solidFill>
                <a:latin typeface="Arial"/>
                <a:ea typeface="Arial"/>
                <a:cs typeface="Arial"/>
              </a:rPr>
              <a:t>CLARIFY</a:t>
            </a:r>
          </a:p>
        </p:txBody>
      </p:sp>
    </p:spTree>
    <p:extLst>
      <p:ext uri="{BB962C8B-B14F-4D97-AF65-F5344CB8AC3E}">
        <p14:creationId xmlns:p14="http://schemas.microsoft.com/office/powerpoint/2010/main" val="1252081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kicker-7">
            <a:extLst>
              <a:ext uri="{FF2B5EF4-FFF2-40B4-BE49-F238E27FC236}">
                <a16:creationId xmlns:a16="http://schemas.microsoft.com/office/drawing/2014/main" id="{F767581D-F1F1-48FE-B98D-30D2371173A0}"/>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FRONTIERSUITE</a:t>
            </a:r>
          </a:p>
        </p:txBody>
      </p:sp>
      <p:sp>
        <p:nvSpPr>
          <p:cNvPr id="2" name="title-7">
            <a:extLst>
              <a:ext uri="{FF2B5EF4-FFF2-40B4-BE49-F238E27FC236}">
                <a16:creationId xmlns:a16="http://schemas.microsoft.com/office/drawing/2014/main" id="{37F3C41F-898A-4F37-8833-0EFEC1B61293}"/>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FrontierSuite controls the counterfactual structure</a:t>
            </a:r>
          </a:p>
        </p:txBody>
      </p:sp>
      <p:sp>
        <p:nvSpPr>
          <p:cNvPr id="3" name="Straight Connector 2">
            <a:extLst>
              <a:ext uri="{FF2B5EF4-FFF2-40B4-BE49-F238E27FC236}">
                <a16:creationId xmlns:a16="http://schemas.microsoft.com/office/drawing/2014/main" id="{CD83DE02-6269-4EA9-8723-06F747F4CAAF}"/>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83F3571F-5A9B-48E0-93E8-186500267ACB}"/>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07</a:t>
            </a:r>
          </a:p>
        </p:txBody>
      </p:sp>
      <p:sp>
        <p:nvSpPr>
          <p:cNvPr id="5" name="Rectangle 4">
            <a:extLst>
              <a:ext uri="{FF2B5EF4-FFF2-40B4-BE49-F238E27FC236}">
                <a16:creationId xmlns:a16="http://schemas.microsoft.com/office/drawing/2014/main" id="{53F6F00B-B205-4973-9899-515B7014BE34}"/>
              </a:ext>
            </a:extLst>
          </p:cNvPr>
          <p:cNvSpPr>
            <a:spLocks noGrp="1"/>
          </p:cNvSpPr>
          <p:nvPr/>
        </p:nvSpPr>
        <p:spPr>
          <a:xfrm>
            <a:off x="762000" y="1638300"/>
            <a:ext cx="10668000" cy="685800"/>
          </a:xfrm>
          <a:prstGeom prst="rect">
            <a:avLst/>
          </a:prstGeom>
          <a:noFill/>
          <a:ln w="0">
            <a:noFill/>
            <a:prstDash val="solid"/>
          </a:ln>
        </p:spPr>
        <p:txBody>
          <a:bodyPr wrap="square" lIns="0" tIns="0" rIns="0" bIns="0" anchor="t">
            <a:noAutofit/>
          </a:bodyPr>
          <a:lstStyle/>
          <a:p>
            <a:pPr algn="ctr">
              <a:buNone/>
              <a:defRPr sz="3150" b="1">
                <a:solidFill>
                  <a:srgbClr val="1357B8"/>
                </a:solidFill>
                <a:latin typeface="Arial"/>
                <a:ea typeface="Arial"/>
                <a:cs typeface="Arial"/>
              </a:defRPr>
            </a:pPr>
            <a:r>
              <a:rPr sz="3150" b="1">
                <a:solidFill>
                  <a:srgbClr val="1357B8"/>
                </a:solidFill>
                <a:latin typeface="Arial"/>
                <a:ea typeface="Arial"/>
                <a:cs typeface="Arial"/>
              </a:rPr>
              <a:t>768 groups × 3 query kinds × 2 twins = 4,608 examples</a:t>
            </a:r>
          </a:p>
        </p:txBody>
      </p:sp>
      <p:sp>
        <p:nvSpPr>
          <p:cNvPr id="6" name="Straight Connector 5">
            <a:extLst>
              <a:ext uri="{FF2B5EF4-FFF2-40B4-BE49-F238E27FC236}">
                <a16:creationId xmlns:a16="http://schemas.microsoft.com/office/drawing/2014/main" id="{D6374F7C-7710-42C1-937F-E79CF5BCC8BB}"/>
              </a:ext>
            </a:extLst>
          </p:cNvPr>
          <p:cNvSpPr>
            <a:spLocks noGrp="1"/>
          </p:cNvSpPr>
          <p:nvPr/>
        </p:nvSpPr>
        <p:spPr>
          <a:xfrm>
            <a:off x="3048000" y="2628900"/>
            <a:ext cx="6096000" cy="0"/>
          </a:xfrm>
          <a:prstGeom prst="line">
            <a:avLst/>
          </a:prstGeom>
          <a:noFill/>
          <a:ln w="9525">
            <a:solidFill>
              <a:srgbClr val="C9CED8"/>
            </a:solidFill>
            <a:prstDash val="solid"/>
          </a:ln>
        </p:spPr>
      </p:sp>
      <p:sp>
        <p:nvSpPr>
          <p:cNvPr id="7" name="Rectangle 6">
            <a:extLst>
              <a:ext uri="{FF2B5EF4-FFF2-40B4-BE49-F238E27FC236}">
                <a16:creationId xmlns:a16="http://schemas.microsoft.com/office/drawing/2014/main" id="{C40193E3-9C65-4475-9D72-042BD5516758}"/>
              </a:ext>
            </a:extLst>
          </p:cNvPr>
          <p:cNvSpPr>
            <a:spLocks noGrp="1"/>
          </p:cNvSpPr>
          <p:nvPr/>
        </p:nvSpPr>
        <p:spPr>
          <a:xfrm>
            <a:off x="495300" y="2914650"/>
            <a:ext cx="2476500" cy="666750"/>
          </a:xfrm>
          <a:prstGeom prst="rect">
            <a:avLst/>
          </a:prstGeom>
          <a:noFill/>
          <a:ln w="0">
            <a:noFill/>
            <a:prstDash val="solid"/>
          </a:ln>
        </p:spPr>
        <p:txBody>
          <a:bodyPr wrap="none" lIns="0" tIns="0" rIns="0" bIns="0" anchor="t">
            <a:noAutofit/>
          </a:bodyPr>
          <a:lstStyle/>
          <a:p>
            <a:pPr algn="l">
              <a:buNone/>
              <a:defRPr sz="4350" b="1">
                <a:solidFill>
                  <a:srgbClr val="3D8DFF"/>
                </a:solidFill>
                <a:latin typeface="Arial"/>
                <a:ea typeface="Arial"/>
                <a:cs typeface="Arial"/>
              </a:defRPr>
            </a:pPr>
            <a:r>
              <a:rPr sz="4350" b="1">
                <a:solidFill>
                  <a:srgbClr val="3D8DFF"/>
                </a:solidFill>
                <a:latin typeface="Arial"/>
                <a:ea typeface="Arial"/>
                <a:cs typeface="Arial"/>
              </a:rPr>
              <a:t>12</a:t>
            </a:r>
          </a:p>
        </p:txBody>
      </p:sp>
      <p:sp>
        <p:nvSpPr>
          <p:cNvPr id="8" name="Rectangle 7">
            <a:extLst>
              <a:ext uri="{FF2B5EF4-FFF2-40B4-BE49-F238E27FC236}">
                <a16:creationId xmlns:a16="http://schemas.microsoft.com/office/drawing/2014/main" id="{F86D5342-454B-4313-8F34-3E11BF981C34}"/>
              </a:ext>
            </a:extLst>
          </p:cNvPr>
          <p:cNvSpPr>
            <a:spLocks noGrp="1"/>
          </p:cNvSpPr>
          <p:nvPr/>
        </p:nvSpPr>
        <p:spPr>
          <a:xfrm>
            <a:off x="495300" y="3619500"/>
            <a:ext cx="247650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scenario families</a:t>
            </a:r>
          </a:p>
        </p:txBody>
      </p:sp>
      <p:sp>
        <p:nvSpPr>
          <p:cNvPr id="9" name="Rectangle 8">
            <a:extLst>
              <a:ext uri="{FF2B5EF4-FFF2-40B4-BE49-F238E27FC236}">
                <a16:creationId xmlns:a16="http://schemas.microsoft.com/office/drawing/2014/main" id="{6F92D5FE-4E75-48FD-B8B0-2FEAD4E32B4A}"/>
              </a:ext>
            </a:extLst>
          </p:cNvPr>
          <p:cNvSpPr>
            <a:spLocks noGrp="1"/>
          </p:cNvSpPr>
          <p:nvPr/>
        </p:nvSpPr>
        <p:spPr>
          <a:xfrm>
            <a:off x="495300" y="3981450"/>
            <a:ext cx="247650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3 per domain</a:t>
            </a:r>
          </a:p>
        </p:txBody>
      </p:sp>
      <p:sp>
        <p:nvSpPr>
          <p:cNvPr id="10" name="Rectangle 9">
            <a:extLst>
              <a:ext uri="{FF2B5EF4-FFF2-40B4-BE49-F238E27FC236}">
                <a16:creationId xmlns:a16="http://schemas.microsoft.com/office/drawing/2014/main" id="{34058D94-9CFB-4648-BFBA-489E9ECFE65F}"/>
              </a:ext>
            </a:extLst>
          </p:cNvPr>
          <p:cNvSpPr>
            <a:spLocks noGrp="1"/>
          </p:cNvSpPr>
          <p:nvPr/>
        </p:nvSpPr>
        <p:spPr>
          <a:xfrm>
            <a:off x="3295650" y="2914650"/>
            <a:ext cx="2476500" cy="666750"/>
          </a:xfrm>
          <a:prstGeom prst="rect">
            <a:avLst/>
          </a:prstGeom>
          <a:noFill/>
          <a:ln w="0">
            <a:noFill/>
            <a:prstDash val="solid"/>
          </a:ln>
        </p:spPr>
        <p:txBody>
          <a:bodyPr wrap="none" lIns="0" tIns="0" rIns="0" bIns="0" anchor="t">
            <a:noAutofit/>
          </a:bodyPr>
          <a:lstStyle/>
          <a:p>
            <a:pPr algn="l">
              <a:buNone/>
              <a:defRPr sz="4350" b="1">
                <a:solidFill>
                  <a:srgbClr val="3D8DFF"/>
                </a:solidFill>
                <a:latin typeface="Arial"/>
                <a:ea typeface="Arial"/>
                <a:cs typeface="Arial"/>
              </a:defRPr>
            </a:pPr>
            <a:r>
              <a:rPr sz="4350" b="1">
                <a:solidFill>
                  <a:srgbClr val="3D8DFF"/>
                </a:solidFill>
                <a:latin typeface="Arial"/>
                <a:ea typeface="Arial"/>
                <a:cs typeface="Arial"/>
              </a:rPr>
              <a:t>4</a:t>
            </a:r>
          </a:p>
        </p:txBody>
      </p:sp>
      <p:sp>
        <p:nvSpPr>
          <p:cNvPr id="11" name="Rectangle 10">
            <a:extLst>
              <a:ext uri="{FF2B5EF4-FFF2-40B4-BE49-F238E27FC236}">
                <a16:creationId xmlns:a16="http://schemas.microsoft.com/office/drawing/2014/main" id="{525C1F05-D32A-472D-981B-811B840F2121}"/>
              </a:ext>
            </a:extLst>
          </p:cNvPr>
          <p:cNvSpPr>
            <a:spLocks noGrp="1"/>
          </p:cNvSpPr>
          <p:nvPr/>
        </p:nvSpPr>
        <p:spPr>
          <a:xfrm>
            <a:off x="3295650" y="3619500"/>
            <a:ext cx="247650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domains</a:t>
            </a:r>
          </a:p>
        </p:txBody>
      </p:sp>
      <p:sp>
        <p:nvSpPr>
          <p:cNvPr id="12" name="Rectangle 11">
            <a:extLst>
              <a:ext uri="{FF2B5EF4-FFF2-40B4-BE49-F238E27FC236}">
                <a16:creationId xmlns:a16="http://schemas.microsoft.com/office/drawing/2014/main" id="{CEEF66EE-8E42-405C-B6EA-53FFD8C4B251}"/>
              </a:ext>
            </a:extLst>
          </p:cNvPr>
          <p:cNvSpPr>
            <a:spLocks noGrp="1"/>
          </p:cNvSpPr>
          <p:nvPr/>
        </p:nvSpPr>
        <p:spPr>
          <a:xfrm>
            <a:off x="3295650" y="3981450"/>
            <a:ext cx="247650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writing · education · travel · food</a:t>
            </a:r>
          </a:p>
        </p:txBody>
      </p:sp>
      <p:sp>
        <p:nvSpPr>
          <p:cNvPr id="13" name="Rectangle 12">
            <a:extLst>
              <a:ext uri="{FF2B5EF4-FFF2-40B4-BE49-F238E27FC236}">
                <a16:creationId xmlns:a16="http://schemas.microsoft.com/office/drawing/2014/main" id="{2CCAA259-B246-45CC-979F-F1454127AA3B}"/>
              </a:ext>
            </a:extLst>
          </p:cNvPr>
          <p:cNvSpPr>
            <a:spLocks noGrp="1"/>
          </p:cNvSpPr>
          <p:nvPr/>
        </p:nvSpPr>
        <p:spPr>
          <a:xfrm>
            <a:off x="6096000" y="2914650"/>
            <a:ext cx="2476500" cy="666750"/>
          </a:xfrm>
          <a:prstGeom prst="rect">
            <a:avLst/>
          </a:prstGeom>
          <a:noFill/>
          <a:ln w="0">
            <a:noFill/>
            <a:prstDash val="solid"/>
          </a:ln>
        </p:spPr>
        <p:txBody>
          <a:bodyPr wrap="none" lIns="0" tIns="0" rIns="0" bIns="0" anchor="t">
            <a:noAutofit/>
          </a:bodyPr>
          <a:lstStyle/>
          <a:p>
            <a:pPr algn="l">
              <a:buNone/>
              <a:defRPr sz="4350" b="1">
                <a:solidFill>
                  <a:srgbClr val="159A7D"/>
                </a:solidFill>
                <a:latin typeface="Arial"/>
                <a:ea typeface="Arial"/>
                <a:cs typeface="Arial"/>
              </a:defRPr>
            </a:pPr>
            <a:r>
              <a:rPr sz="4350" b="1">
                <a:solidFill>
                  <a:srgbClr val="159A7D"/>
                </a:solidFill>
                <a:latin typeface="Arial"/>
                <a:ea typeface="Arial"/>
                <a:cs typeface="Arial"/>
              </a:rPr>
              <a:t>768</a:t>
            </a:r>
          </a:p>
        </p:txBody>
      </p:sp>
      <p:sp>
        <p:nvSpPr>
          <p:cNvPr id="14" name="Rectangle 13">
            <a:extLst>
              <a:ext uri="{FF2B5EF4-FFF2-40B4-BE49-F238E27FC236}">
                <a16:creationId xmlns:a16="http://schemas.microsoft.com/office/drawing/2014/main" id="{11FF0B63-1219-435F-8353-3CA26D6E566B}"/>
              </a:ext>
            </a:extLst>
          </p:cNvPr>
          <p:cNvSpPr>
            <a:spLocks noGrp="1"/>
          </p:cNvSpPr>
          <p:nvPr/>
        </p:nvSpPr>
        <p:spPr>
          <a:xfrm>
            <a:off x="6096000" y="3619500"/>
            <a:ext cx="247650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twin groups</a:t>
            </a:r>
          </a:p>
        </p:txBody>
      </p:sp>
      <p:sp>
        <p:nvSpPr>
          <p:cNvPr id="15" name="Rectangle 14">
            <a:extLst>
              <a:ext uri="{FF2B5EF4-FFF2-40B4-BE49-F238E27FC236}">
                <a16:creationId xmlns:a16="http://schemas.microsoft.com/office/drawing/2014/main" id="{4FB1067F-1197-4A4E-A4F4-BB0454A0E36A}"/>
              </a:ext>
            </a:extLst>
          </p:cNvPr>
          <p:cNvSpPr>
            <a:spLocks noGrp="1"/>
          </p:cNvSpPr>
          <p:nvPr/>
        </p:nvSpPr>
        <p:spPr>
          <a:xfrm>
            <a:off x="6096000" y="3981450"/>
            <a:ext cx="247650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stable + scoped histories</a:t>
            </a:r>
          </a:p>
        </p:txBody>
      </p:sp>
      <p:sp>
        <p:nvSpPr>
          <p:cNvPr id="16" name="Rectangle 15">
            <a:extLst>
              <a:ext uri="{FF2B5EF4-FFF2-40B4-BE49-F238E27FC236}">
                <a16:creationId xmlns:a16="http://schemas.microsoft.com/office/drawing/2014/main" id="{E69616C2-E3F9-4F9A-971B-FF7742D7BBBF}"/>
              </a:ext>
            </a:extLst>
          </p:cNvPr>
          <p:cNvSpPr>
            <a:spLocks noGrp="1"/>
          </p:cNvSpPr>
          <p:nvPr/>
        </p:nvSpPr>
        <p:spPr>
          <a:xfrm>
            <a:off x="8896350" y="2914650"/>
            <a:ext cx="2476500" cy="666750"/>
          </a:xfrm>
          <a:prstGeom prst="rect">
            <a:avLst/>
          </a:prstGeom>
          <a:noFill/>
          <a:ln w="0">
            <a:noFill/>
            <a:prstDash val="solid"/>
          </a:ln>
        </p:spPr>
        <p:txBody>
          <a:bodyPr wrap="none" lIns="0" tIns="0" rIns="0" bIns="0" anchor="t">
            <a:noAutofit/>
          </a:bodyPr>
          <a:lstStyle/>
          <a:p>
            <a:pPr algn="l">
              <a:buNone/>
              <a:defRPr sz="4350" b="1">
                <a:solidFill>
                  <a:srgbClr val="3D8DFF"/>
                </a:solidFill>
                <a:latin typeface="Arial"/>
                <a:ea typeface="Arial"/>
                <a:cs typeface="Arial"/>
              </a:defRPr>
            </a:pPr>
            <a:r>
              <a:rPr sz="4350" b="1">
                <a:solidFill>
                  <a:srgbClr val="3D8DFF"/>
                </a:solidFill>
                <a:latin typeface="Arial"/>
                <a:ea typeface="Arial"/>
                <a:cs typeface="Arial"/>
              </a:rPr>
              <a:t>2,304</a:t>
            </a:r>
          </a:p>
        </p:txBody>
      </p:sp>
      <p:sp>
        <p:nvSpPr>
          <p:cNvPr id="17" name="Rectangle 16">
            <a:extLst>
              <a:ext uri="{FF2B5EF4-FFF2-40B4-BE49-F238E27FC236}">
                <a16:creationId xmlns:a16="http://schemas.microsoft.com/office/drawing/2014/main" id="{50128C98-D7D8-41CA-94F0-7EDB817C61E6}"/>
              </a:ext>
            </a:extLst>
          </p:cNvPr>
          <p:cNvSpPr>
            <a:spLocks noGrp="1"/>
          </p:cNvSpPr>
          <p:nvPr/>
        </p:nvSpPr>
        <p:spPr>
          <a:xfrm>
            <a:off x="8896350" y="3619500"/>
            <a:ext cx="247650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twin query pairs</a:t>
            </a:r>
          </a:p>
        </p:txBody>
      </p:sp>
      <p:sp>
        <p:nvSpPr>
          <p:cNvPr id="18" name="Rectangle 17">
            <a:extLst>
              <a:ext uri="{FF2B5EF4-FFF2-40B4-BE49-F238E27FC236}">
                <a16:creationId xmlns:a16="http://schemas.microsoft.com/office/drawing/2014/main" id="{EEB066EE-C5A2-4618-A793-6DD6D1164C31}"/>
              </a:ext>
            </a:extLst>
          </p:cNvPr>
          <p:cNvSpPr>
            <a:spLocks noGrp="1"/>
          </p:cNvSpPr>
          <p:nvPr/>
        </p:nvSpPr>
        <p:spPr>
          <a:xfrm>
            <a:off x="8896350" y="3981450"/>
            <a:ext cx="247650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same query across both histories</a:t>
            </a:r>
          </a:p>
        </p:txBody>
      </p:sp>
      <p:sp>
        <p:nvSpPr>
          <p:cNvPr id="19" name="Rectangle 18">
            <a:extLst>
              <a:ext uri="{FF2B5EF4-FFF2-40B4-BE49-F238E27FC236}">
                <a16:creationId xmlns:a16="http://schemas.microsoft.com/office/drawing/2014/main" id="{A712AE2F-A924-4755-BEF8-CF1C426B1D8B}"/>
              </a:ext>
            </a:extLst>
          </p:cNvPr>
          <p:cNvSpPr>
            <a:spLocks noGrp="1"/>
          </p:cNvSpPr>
          <p:nvPr/>
        </p:nvSpPr>
        <p:spPr>
          <a:xfrm>
            <a:off x="495300" y="4800600"/>
            <a:ext cx="2762250" cy="28575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STRICT GROUP SPLIT</a:t>
            </a:r>
          </a:p>
        </p:txBody>
      </p:sp>
      <p:sp>
        <p:nvSpPr>
          <p:cNvPr id="20" name="Rectangle 19">
            <a:extLst>
              <a:ext uri="{FF2B5EF4-FFF2-40B4-BE49-F238E27FC236}">
                <a16:creationId xmlns:a16="http://schemas.microsoft.com/office/drawing/2014/main" id="{03669368-EBA6-49E2-BB2D-E71958A6B324}"/>
              </a:ext>
            </a:extLst>
          </p:cNvPr>
          <p:cNvSpPr>
            <a:spLocks noGrp="1"/>
          </p:cNvSpPr>
          <p:nvPr/>
        </p:nvSpPr>
        <p:spPr>
          <a:xfrm>
            <a:off x="495300" y="5219700"/>
            <a:ext cx="8401050" cy="419100"/>
          </a:xfrm>
          <a:prstGeom prst="rect">
            <a:avLst/>
          </a:prstGeom>
          <a:solidFill>
            <a:srgbClr val="3D8DFF"/>
          </a:solidFill>
          <a:ln w="0">
            <a:noFill/>
            <a:prstDash val="solid"/>
          </a:ln>
        </p:spPr>
      </p:sp>
      <p:sp>
        <p:nvSpPr>
          <p:cNvPr id="21" name="Rectangle 20">
            <a:extLst>
              <a:ext uri="{FF2B5EF4-FFF2-40B4-BE49-F238E27FC236}">
                <a16:creationId xmlns:a16="http://schemas.microsoft.com/office/drawing/2014/main" id="{8629B3DB-CDD1-4547-B5E9-19CBEF75217F}"/>
              </a:ext>
            </a:extLst>
          </p:cNvPr>
          <p:cNvSpPr>
            <a:spLocks noGrp="1"/>
          </p:cNvSpPr>
          <p:nvPr/>
        </p:nvSpPr>
        <p:spPr>
          <a:xfrm>
            <a:off x="8896350" y="5219700"/>
            <a:ext cx="2800350" cy="419100"/>
          </a:xfrm>
          <a:prstGeom prst="rect">
            <a:avLst/>
          </a:prstGeom>
          <a:solidFill>
            <a:srgbClr val="6DCBF4"/>
          </a:solidFill>
          <a:ln w="0">
            <a:noFill/>
            <a:prstDash val="solid"/>
          </a:ln>
        </p:spPr>
      </p:sp>
      <p:sp>
        <p:nvSpPr>
          <p:cNvPr id="22" name="Rectangle 21">
            <a:extLst>
              <a:ext uri="{FF2B5EF4-FFF2-40B4-BE49-F238E27FC236}">
                <a16:creationId xmlns:a16="http://schemas.microsoft.com/office/drawing/2014/main" id="{14A9EC68-EAAF-4EF7-B366-BCB78A361113}"/>
              </a:ext>
            </a:extLst>
          </p:cNvPr>
          <p:cNvSpPr>
            <a:spLocks noGrp="1"/>
          </p:cNvSpPr>
          <p:nvPr/>
        </p:nvSpPr>
        <p:spPr>
          <a:xfrm>
            <a:off x="723900" y="5314950"/>
            <a:ext cx="7715250" cy="228600"/>
          </a:xfrm>
          <a:prstGeom prst="rect">
            <a:avLst/>
          </a:prstGeom>
          <a:noFill/>
          <a:ln w="0">
            <a:noFill/>
            <a:prstDash val="solid"/>
          </a:ln>
        </p:spPr>
        <p:txBody>
          <a:bodyPr wrap="square" lIns="0" tIns="0" rIns="0" bIns="0" anchor="t">
            <a:noAutofit/>
          </a:bodyPr>
          <a:lstStyle/>
          <a:p>
            <a:pPr algn="l">
              <a:buNone/>
              <a:defRPr sz="1350" b="1">
                <a:solidFill>
                  <a:srgbClr val="FFFFFF"/>
                </a:solidFill>
                <a:latin typeface="Arial"/>
                <a:ea typeface="Arial"/>
                <a:cs typeface="Arial"/>
              </a:defRPr>
            </a:pPr>
            <a:r>
              <a:rPr sz="1350" b="1">
                <a:solidFill>
                  <a:srgbClr val="FFFFFF"/>
                </a:solidFill>
                <a:latin typeface="Arial"/>
                <a:ea typeface="Arial"/>
                <a:cs typeface="Arial"/>
              </a:rPr>
              <a:t>TRAIN · 576 groups · 3,456 examples</a:t>
            </a:r>
          </a:p>
        </p:txBody>
      </p:sp>
      <p:sp>
        <p:nvSpPr>
          <p:cNvPr id="23" name="Rectangle 22">
            <a:extLst>
              <a:ext uri="{FF2B5EF4-FFF2-40B4-BE49-F238E27FC236}">
                <a16:creationId xmlns:a16="http://schemas.microsoft.com/office/drawing/2014/main" id="{81C0FA39-DA7A-4ADF-AC07-932AF50713EE}"/>
              </a:ext>
            </a:extLst>
          </p:cNvPr>
          <p:cNvSpPr>
            <a:spLocks noGrp="1"/>
          </p:cNvSpPr>
          <p:nvPr/>
        </p:nvSpPr>
        <p:spPr>
          <a:xfrm>
            <a:off x="9124950" y="5314950"/>
            <a:ext cx="2343150" cy="228600"/>
          </a:xfrm>
          <a:prstGeom prst="rect">
            <a:avLst/>
          </a:prstGeom>
          <a:noFill/>
          <a:ln w="0">
            <a:noFill/>
            <a:prstDash val="solid"/>
          </a:ln>
        </p:spPr>
        <p:txBody>
          <a:bodyPr wrap="square" lIns="0" tIns="0" rIns="0" bIns="0" anchor="t">
            <a:noAutofit/>
          </a:bodyPr>
          <a:lstStyle/>
          <a:p>
            <a:pPr algn="ctr">
              <a:buNone/>
              <a:defRPr sz="1350" b="1">
                <a:solidFill>
                  <a:srgbClr val="0A1020"/>
                </a:solidFill>
                <a:latin typeface="Arial"/>
                <a:ea typeface="Arial"/>
                <a:cs typeface="Arial"/>
              </a:defRPr>
            </a:pPr>
            <a:r>
              <a:rPr sz="1350" b="1">
                <a:solidFill>
                  <a:srgbClr val="0A1020"/>
                </a:solidFill>
                <a:latin typeface="Arial"/>
                <a:ea typeface="Arial"/>
                <a:cs typeface="Arial"/>
              </a:rPr>
              <a:t>TEST · 192 · 1,152</a:t>
            </a:r>
          </a:p>
        </p:txBody>
      </p:sp>
      <p:sp>
        <p:nvSpPr>
          <p:cNvPr id="24" name="Rectangle 23">
            <a:extLst>
              <a:ext uri="{FF2B5EF4-FFF2-40B4-BE49-F238E27FC236}">
                <a16:creationId xmlns:a16="http://schemas.microsoft.com/office/drawing/2014/main" id="{BD95A4CE-76DF-4CD7-A5DB-3D14BA89592F}"/>
              </a:ext>
            </a:extLst>
          </p:cNvPr>
          <p:cNvSpPr>
            <a:spLocks noGrp="1"/>
          </p:cNvSpPr>
          <p:nvPr/>
        </p:nvSpPr>
        <p:spPr>
          <a:xfrm>
            <a:off x="495300" y="5829300"/>
            <a:ext cx="8572500" cy="285750"/>
          </a:xfrm>
          <a:prstGeom prst="rect">
            <a:avLst/>
          </a:prstGeom>
          <a:noFill/>
          <a:ln w="0">
            <a:noFill/>
            <a:prstDash val="solid"/>
          </a:ln>
        </p:spPr>
        <p:txBody>
          <a:bodyPr wrap="square" lIns="0" tIns="0" rIns="0" bIns="0" anchor="t">
            <a:no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The split is group-safe: no twin or paraphrase crosses the train/test boundary.</a:t>
            </a:r>
          </a:p>
        </p:txBody>
      </p:sp>
    </p:spTree>
    <p:extLst>
      <p:ext uri="{BB962C8B-B14F-4D97-AF65-F5344CB8AC3E}">
        <p14:creationId xmlns:p14="http://schemas.microsoft.com/office/powerpoint/2010/main" val="384165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kicker-8">
            <a:extLst>
              <a:ext uri="{FF2B5EF4-FFF2-40B4-BE49-F238E27FC236}">
                <a16:creationId xmlns:a16="http://schemas.microsoft.com/office/drawing/2014/main" id="{56ADC513-D2AA-42AC-ACC0-362E02A29ADB}"/>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3 · BASELINES</a:t>
            </a:r>
          </a:p>
        </p:txBody>
      </p:sp>
      <p:sp>
        <p:nvSpPr>
          <p:cNvPr id="2" name="title-8">
            <a:extLst>
              <a:ext uri="{FF2B5EF4-FFF2-40B4-BE49-F238E27FC236}">
                <a16:creationId xmlns:a16="http://schemas.microsoft.com/office/drawing/2014/main" id="{7E9E3474-E0B3-4603-8869-D28B44F9E7A0}"/>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Baselines test what information and structure matter</a:t>
            </a:r>
          </a:p>
        </p:txBody>
      </p:sp>
      <p:sp>
        <p:nvSpPr>
          <p:cNvPr id="3" name="Straight Connector 2">
            <a:extLst>
              <a:ext uri="{FF2B5EF4-FFF2-40B4-BE49-F238E27FC236}">
                <a16:creationId xmlns:a16="http://schemas.microsoft.com/office/drawing/2014/main" id="{57AFA6E8-4399-41BF-B6C4-9D364B4FD6DA}"/>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37CF7B76-FDC8-429B-85F1-EBA6F98B6284}"/>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08</a:t>
            </a:r>
          </a:p>
        </p:txBody>
      </p:sp>
      <p:sp>
        <p:nvSpPr>
          <p:cNvPr id="5" name="Rectangle 4">
            <a:extLst>
              <a:ext uri="{FF2B5EF4-FFF2-40B4-BE49-F238E27FC236}">
                <a16:creationId xmlns:a16="http://schemas.microsoft.com/office/drawing/2014/main" id="{1BA732FF-2103-4BBE-8979-882C0368373B}"/>
              </a:ext>
            </a:extLst>
          </p:cNvPr>
          <p:cNvSpPr>
            <a:spLocks noGrp="1"/>
          </p:cNvSpPr>
          <p:nvPr/>
        </p:nvSpPr>
        <p:spPr>
          <a:xfrm>
            <a:off x="495300" y="1676400"/>
            <a:ext cx="609600" cy="361950"/>
          </a:xfrm>
          <a:prstGeom prst="rect">
            <a:avLst/>
          </a:prstGeom>
          <a:noFill/>
          <a:ln w="0">
            <a:noFill/>
            <a:prstDash val="solid"/>
          </a:ln>
        </p:spPr>
        <p:txBody>
          <a:bodyPr wrap="square" lIns="0" tIns="0" rIns="0" bIns="0" anchor="t">
            <a:noAutofit/>
          </a:bodyPr>
          <a:lstStyle/>
          <a:p>
            <a:pPr algn="l">
              <a:buNone/>
              <a:defRPr sz="2250" b="1">
                <a:solidFill>
                  <a:srgbClr val="3D8DFF"/>
                </a:solidFill>
                <a:latin typeface="Arial"/>
                <a:ea typeface="Arial"/>
                <a:cs typeface="Arial"/>
              </a:defRPr>
            </a:pPr>
            <a:r>
              <a:rPr sz="2250" b="1">
                <a:solidFill>
                  <a:srgbClr val="3D8DFF"/>
                </a:solidFill>
                <a:latin typeface="Arial"/>
                <a:ea typeface="Arial"/>
                <a:cs typeface="Arial"/>
              </a:rPr>
              <a:t>01</a:t>
            </a:r>
          </a:p>
        </p:txBody>
      </p:sp>
      <p:sp>
        <p:nvSpPr>
          <p:cNvPr id="6" name="Rectangle 5">
            <a:extLst>
              <a:ext uri="{FF2B5EF4-FFF2-40B4-BE49-F238E27FC236}">
                <a16:creationId xmlns:a16="http://schemas.microsoft.com/office/drawing/2014/main" id="{DD796895-7F16-4924-AFB1-63BEAE59DBA9}"/>
              </a:ext>
            </a:extLst>
          </p:cNvPr>
          <p:cNvSpPr>
            <a:spLocks noGrp="1"/>
          </p:cNvSpPr>
          <p:nvPr/>
        </p:nvSpPr>
        <p:spPr>
          <a:xfrm>
            <a:off x="495300" y="2209800"/>
            <a:ext cx="2419350" cy="68580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Flat Fact</a:t>
            </a:r>
          </a:p>
        </p:txBody>
      </p:sp>
      <p:sp>
        <p:nvSpPr>
          <p:cNvPr id="7" name="Rectangle 6">
            <a:extLst>
              <a:ext uri="{FF2B5EF4-FFF2-40B4-BE49-F238E27FC236}">
                <a16:creationId xmlns:a16="http://schemas.microsoft.com/office/drawing/2014/main" id="{F3A9277A-59E5-4555-9B6B-126389E9334B}"/>
              </a:ext>
            </a:extLst>
          </p:cNvPr>
          <p:cNvSpPr>
            <a:spLocks noGrp="1"/>
          </p:cNvSpPr>
          <p:nvPr/>
        </p:nvSpPr>
        <p:spPr>
          <a:xfrm>
            <a:off x="495300" y="3181350"/>
            <a:ext cx="1047750" cy="247650"/>
          </a:xfrm>
          <a:prstGeom prst="rect">
            <a:avLst/>
          </a:prstGeom>
          <a:noFill/>
          <a:ln w="0">
            <a:noFill/>
            <a:prstDash val="solid"/>
          </a:ln>
        </p:spPr>
        <p:txBody>
          <a:bodyPr wrap="square" lIns="0" tIns="0" rIns="0" bIns="0" anchor="t">
            <a:noAutofit/>
          </a:bodyPr>
          <a:lstStyle/>
          <a:p>
            <a:pPr algn="l">
              <a:buNone/>
              <a:defRPr sz="1275" b="1">
                <a:solidFill>
                  <a:srgbClr val="8C95A5"/>
                </a:solidFill>
                <a:latin typeface="Arial"/>
                <a:ea typeface="Arial"/>
                <a:cs typeface="Arial"/>
              </a:defRPr>
            </a:pPr>
            <a:r>
              <a:rPr sz="1275" b="1">
                <a:solidFill>
                  <a:srgbClr val="8C95A5"/>
                </a:solidFill>
                <a:latin typeface="Arial"/>
                <a:ea typeface="Arial"/>
                <a:cs typeface="Arial"/>
              </a:rPr>
              <a:t>INPUT</a:t>
            </a:r>
          </a:p>
        </p:txBody>
      </p:sp>
      <p:sp>
        <p:nvSpPr>
          <p:cNvPr id="8" name="Rectangle 7">
            <a:extLst>
              <a:ext uri="{FF2B5EF4-FFF2-40B4-BE49-F238E27FC236}">
                <a16:creationId xmlns:a16="http://schemas.microsoft.com/office/drawing/2014/main" id="{806A338D-CA34-4973-B07B-CD07E2C6C5BB}"/>
              </a:ext>
            </a:extLst>
          </p:cNvPr>
          <p:cNvSpPr>
            <a:spLocks noGrp="1"/>
          </p:cNvSpPr>
          <p:nvPr/>
        </p:nvSpPr>
        <p:spPr>
          <a:xfrm>
            <a:off x="495300" y="3524250"/>
            <a:ext cx="2419350" cy="4953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Memory only</a:t>
            </a:r>
          </a:p>
        </p:txBody>
      </p:sp>
      <p:sp>
        <p:nvSpPr>
          <p:cNvPr id="9" name="Rectangle 8">
            <a:extLst>
              <a:ext uri="{FF2B5EF4-FFF2-40B4-BE49-F238E27FC236}">
                <a16:creationId xmlns:a16="http://schemas.microsoft.com/office/drawing/2014/main" id="{ADEFF67B-71E7-4D1A-BB75-1686A630D6E6}"/>
              </a:ext>
            </a:extLst>
          </p:cNvPr>
          <p:cNvSpPr>
            <a:spLocks noGrp="1"/>
          </p:cNvSpPr>
          <p:nvPr/>
        </p:nvSpPr>
        <p:spPr>
          <a:xfrm>
            <a:off x="495300" y="4210050"/>
            <a:ext cx="2419350" cy="590550"/>
          </a:xfrm>
          <a:prstGeom prst="rect">
            <a:avLst/>
          </a:prstGeom>
          <a:noFill/>
          <a:ln w="0">
            <a:noFill/>
            <a:prstDash val="solid"/>
          </a:ln>
        </p:spPr>
        <p:txBody>
          <a:bodyPr wrap="square" lIns="0" tIns="0" rIns="0" bIns="0" anchor="t">
            <a:norm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Always predicts APPLY</a:t>
            </a:r>
          </a:p>
        </p:txBody>
      </p:sp>
      <p:sp>
        <p:nvSpPr>
          <p:cNvPr id="10" name="Rectangle 9">
            <a:extLst>
              <a:ext uri="{FF2B5EF4-FFF2-40B4-BE49-F238E27FC236}">
                <a16:creationId xmlns:a16="http://schemas.microsoft.com/office/drawing/2014/main" id="{6D99026B-1B4F-41A7-9609-8FB9A52B9CEA}"/>
              </a:ext>
            </a:extLst>
          </p:cNvPr>
          <p:cNvSpPr>
            <a:spLocks noGrp="1"/>
          </p:cNvSpPr>
          <p:nvPr/>
        </p:nvSpPr>
        <p:spPr>
          <a:xfrm>
            <a:off x="495300" y="5105400"/>
            <a:ext cx="2419350" cy="628650"/>
          </a:xfrm>
          <a:prstGeom prst="rect">
            <a:avLst/>
          </a:prstGeom>
          <a:noFill/>
          <a:ln w="0">
            <a:noFill/>
            <a:prstDash val="solid"/>
          </a:ln>
        </p:spPr>
        <p:txBody>
          <a:bodyPr wrap="square" lIns="0" tIns="0" rIns="0" bIns="0" anchor="t">
            <a:normAutofit/>
          </a:bodyPr>
          <a:lstStyle/>
          <a:p>
            <a:pPr algn="l">
              <a:buNone/>
              <a:defRPr sz="1500" b="0">
                <a:solidFill>
                  <a:srgbClr val="0A1020"/>
                </a:solidFill>
                <a:latin typeface="Arial"/>
                <a:ea typeface="Arial"/>
                <a:cs typeface="Arial"/>
              </a:defRPr>
            </a:pPr>
            <a:r>
              <a:rPr sz="1500" b="0">
                <a:solidFill>
                  <a:srgbClr val="0A1020"/>
                </a:solidFill>
                <a:latin typeface="Arial"/>
                <a:ea typeface="Arial"/>
                <a:cs typeface="Arial"/>
              </a:rPr>
              <a:t>Exposes overgeneralization</a:t>
            </a:r>
          </a:p>
        </p:txBody>
      </p:sp>
      <p:sp>
        <p:nvSpPr>
          <p:cNvPr id="11" name="Straight Connector 10">
            <a:extLst>
              <a:ext uri="{FF2B5EF4-FFF2-40B4-BE49-F238E27FC236}">
                <a16:creationId xmlns:a16="http://schemas.microsoft.com/office/drawing/2014/main" id="{C2D783A4-4B72-4BBA-BDFA-E0188A73D2D0}"/>
              </a:ext>
            </a:extLst>
          </p:cNvPr>
          <p:cNvSpPr>
            <a:spLocks noGrp="1"/>
          </p:cNvSpPr>
          <p:nvPr/>
        </p:nvSpPr>
        <p:spPr>
          <a:xfrm>
            <a:off x="3124200" y="1676400"/>
            <a:ext cx="0" cy="4095750"/>
          </a:xfrm>
          <a:prstGeom prst="line">
            <a:avLst/>
          </a:prstGeom>
          <a:noFill/>
          <a:ln w="9525">
            <a:solidFill>
              <a:srgbClr val="C9CED8"/>
            </a:solidFill>
            <a:prstDash val="solid"/>
          </a:ln>
        </p:spPr>
      </p:sp>
      <p:sp>
        <p:nvSpPr>
          <p:cNvPr id="12" name="Rectangle 11">
            <a:extLst>
              <a:ext uri="{FF2B5EF4-FFF2-40B4-BE49-F238E27FC236}">
                <a16:creationId xmlns:a16="http://schemas.microsoft.com/office/drawing/2014/main" id="{C3D1BD17-4888-4657-8E30-6D5D62B79C6A}"/>
              </a:ext>
            </a:extLst>
          </p:cNvPr>
          <p:cNvSpPr>
            <a:spLocks noGrp="1"/>
          </p:cNvSpPr>
          <p:nvPr/>
        </p:nvSpPr>
        <p:spPr>
          <a:xfrm>
            <a:off x="3295650" y="1676400"/>
            <a:ext cx="609600" cy="361950"/>
          </a:xfrm>
          <a:prstGeom prst="rect">
            <a:avLst/>
          </a:prstGeom>
          <a:noFill/>
          <a:ln w="0">
            <a:noFill/>
            <a:prstDash val="solid"/>
          </a:ln>
        </p:spPr>
        <p:txBody>
          <a:bodyPr wrap="square" lIns="0" tIns="0" rIns="0" bIns="0" anchor="t">
            <a:noAutofit/>
          </a:bodyPr>
          <a:lstStyle/>
          <a:p>
            <a:pPr algn="l">
              <a:buNone/>
              <a:defRPr sz="2250" b="1">
                <a:solidFill>
                  <a:srgbClr val="3D8DFF"/>
                </a:solidFill>
                <a:latin typeface="Arial"/>
                <a:ea typeface="Arial"/>
                <a:cs typeface="Arial"/>
              </a:defRPr>
            </a:pPr>
            <a:r>
              <a:rPr sz="2250" b="1">
                <a:solidFill>
                  <a:srgbClr val="3D8DFF"/>
                </a:solidFill>
                <a:latin typeface="Arial"/>
                <a:ea typeface="Arial"/>
                <a:cs typeface="Arial"/>
              </a:rPr>
              <a:t>02</a:t>
            </a:r>
          </a:p>
        </p:txBody>
      </p:sp>
      <p:sp>
        <p:nvSpPr>
          <p:cNvPr id="13" name="Rectangle 12">
            <a:extLst>
              <a:ext uri="{FF2B5EF4-FFF2-40B4-BE49-F238E27FC236}">
                <a16:creationId xmlns:a16="http://schemas.microsoft.com/office/drawing/2014/main" id="{73579E31-507D-42A0-80C5-7ADB3DA3E676}"/>
              </a:ext>
            </a:extLst>
          </p:cNvPr>
          <p:cNvSpPr>
            <a:spLocks noGrp="1"/>
          </p:cNvSpPr>
          <p:nvPr/>
        </p:nvSpPr>
        <p:spPr>
          <a:xfrm>
            <a:off x="3295649" y="2209800"/>
            <a:ext cx="2590797" cy="68580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Query-only TF-IDF</a:t>
            </a:r>
          </a:p>
        </p:txBody>
      </p:sp>
      <p:sp>
        <p:nvSpPr>
          <p:cNvPr id="14" name="Rectangle 13">
            <a:extLst>
              <a:ext uri="{FF2B5EF4-FFF2-40B4-BE49-F238E27FC236}">
                <a16:creationId xmlns:a16="http://schemas.microsoft.com/office/drawing/2014/main" id="{71B4E7F3-05B3-4070-B2DF-8CFDF3F4CF59}"/>
              </a:ext>
            </a:extLst>
          </p:cNvPr>
          <p:cNvSpPr>
            <a:spLocks noGrp="1"/>
          </p:cNvSpPr>
          <p:nvPr/>
        </p:nvSpPr>
        <p:spPr>
          <a:xfrm>
            <a:off x="3295650" y="3181350"/>
            <a:ext cx="1047750" cy="247650"/>
          </a:xfrm>
          <a:prstGeom prst="rect">
            <a:avLst/>
          </a:prstGeom>
          <a:noFill/>
          <a:ln w="0">
            <a:noFill/>
            <a:prstDash val="solid"/>
          </a:ln>
        </p:spPr>
        <p:txBody>
          <a:bodyPr wrap="square" lIns="0" tIns="0" rIns="0" bIns="0" anchor="t">
            <a:noAutofit/>
          </a:bodyPr>
          <a:lstStyle/>
          <a:p>
            <a:pPr algn="l">
              <a:buNone/>
              <a:defRPr sz="1275" b="1">
                <a:solidFill>
                  <a:srgbClr val="8C95A5"/>
                </a:solidFill>
                <a:latin typeface="Arial"/>
                <a:ea typeface="Arial"/>
                <a:cs typeface="Arial"/>
              </a:defRPr>
            </a:pPr>
            <a:r>
              <a:rPr sz="1275" b="1">
                <a:solidFill>
                  <a:srgbClr val="8C95A5"/>
                </a:solidFill>
                <a:latin typeface="Arial"/>
                <a:ea typeface="Arial"/>
                <a:cs typeface="Arial"/>
              </a:rPr>
              <a:t>INPUT</a:t>
            </a:r>
          </a:p>
        </p:txBody>
      </p:sp>
      <p:sp>
        <p:nvSpPr>
          <p:cNvPr id="15" name="Rectangle 14">
            <a:extLst>
              <a:ext uri="{FF2B5EF4-FFF2-40B4-BE49-F238E27FC236}">
                <a16:creationId xmlns:a16="http://schemas.microsoft.com/office/drawing/2014/main" id="{ECFA1409-BDA7-4664-BEC1-5F580CE59EA9}"/>
              </a:ext>
            </a:extLst>
          </p:cNvPr>
          <p:cNvSpPr>
            <a:spLocks noGrp="1"/>
          </p:cNvSpPr>
          <p:nvPr/>
        </p:nvSpPr>
        <p:spPr>
          <a:xfrm>
            <a:off x="3295650" y="3524250"/>
            <a:ext cx="2419350" cy="4953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Current query</a:t>
            </a:r>
          </a:p>
        </p:txBody>
      </p:sp>
      <p:sp>
        <p:nvSpPr>
          <p:cNvPr id="16" name="Rectangle 15">
            <a:extLst>
              <a:ext uri="{FF2B5EF4-FFF2-40B4-BE49-F238E27FC236}">
                <a16:creationId xmlns:a16="http://schemas.microsoft.com/office/drawing/2014/main" id="{4C378030-985A-4CA9-B59A-D1B11CF2B5DC}"/>
              </a:ext>
            </a:extLst>
          </p:cNvPr>
          <p:cNvSpPr>
            <a:spLocks noGrp="1"/>
          </p:cNvSpPr>
          <p:nvPr/>
        </p:nvSpPr>
        <p:spPr>
          <a:xfrm>
            <a:off x="3295650" y="4210050"/>
            <a:ext cx="2419350" cy="590550"/>
          </a:xfrm>
          <a:prstGeom prst="rect">
            <a:avLst/>
          </a:prstGeom>
          <a:noFill/>
          <a:ln w="0">
            <a:noFill/>
            <a:prstDash val="solid"/>
          </a:ln>
        </p:spPr>
        <p:txBody>
          <a:bodyPr wrap="square" lIns="0" tIns="0" rIns="0" bIns="0" anchor="t">
            <a:norm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No history or memory</a:t>
            </a:r>
          </a:p>
        </p:txBody>
      </p:sp>
      <p:sp>
        <p:nvSpPr>
          <p:cNvPr id="17" name="Rectangle 16">
            <a:extLst>
              <a:ext uri="{FF2B5EF4-FFF2-40B4-BE49-F238E27FC236}">
                <a16:creationId xmlns:a16="http://schemas.microsoft.com/office/drawing/2014/main" id="{962BF36A-1B68-4FE0-9BA2-7ED75A37A92B}"/>
              </a:ext>
            </a:extLst>
          </p:cNvPr>
          <p:cNvSpPr>
            <a:spLocks noGrp="1"/>
          </p:cNvSpPr>
          <p:nvPr/>
        </p:nvSpPr>
        <p:spPr>
          <a:xfrm>
            <a:off x="3295650" y="5105400"/>
            <a:ext cx="2419350" cy="628650"/>
          </a:xfrm>
          <a:prstGeom prst="rect">
            <a:avLst/>
          </a:prstGeom>
          <a:noFill/>
          <a:ln w="0">
            <a:noFill/>
            <a:prstDash val="solid"/>
          </a:ln>
        </p:spPr>
        <p:txBody>
          <a:bodyPr wrap="square" lIns="0" tIns="0" rIns="0" bIns="0" anchor="t">
            <a:normAutofit/>
          </a:bodyPr>
          <a:lstStyle/>
          <a:p>
            <a:pPr algn="l">
              <a:buNone/>
              <a:defRPr sz="1500" b="0">
                <a:solidFill>
                  <a:srgbClr val="0A1020"/>
                </a:solidFill>
                <a:latin typeface="Arial"/>
                <a:ea typeface="Arial"/>
                <a:cs typeface="Arial"/>
              </a:defRPr>
            </a:pPr>
            <a:r>
              <a:rPr sz="1500" b="0">
                <a:solidFill>
                  <a:srgbClr val="0A1020"/>
                </a:solidFill>
                <a:latin typeface="Arial"/>
                <a:ea typeface="Arial"/>
                <a:cs typeface="Arial"/>
              </a:rPr>
              <a:t>Tests label cues in the query</a:t>
            </a:r>
          </a:p>
        </p:txBody>
      </p:sp>
      <p:sp>
        <p:nvSpPr>
          <p:cNvPr id="18" name="Straight Connector 17">
            <a:extLst>
              <a:ext uri="{FF2B5EF4-FFF2-40B4-BE49-F238E27FC236}">
                <a16:creationId xmlns:a16="http://schemas.microsoft.com/office/drawing/2014/main" id="{90A46F82-6CFF-4B35-9226-3B7FAE2220E3}"/>
              </a:ext>
            </a:extLst>
          </p:cNvPr>
          <p:cNvSpPr>
            <a:spLocks noGrp="1"/>
          </p:cNvSpPr>
          <p:nvPr/>
        </p:nvSpPr>
        <p:spPr>
          <a:xfrm>
            <a:off x="5924550" y="1676400"/>
            <a:ext cx="0" cy="4095750"/>
          </a:xfrm>
          <a:prstGeom prst="line">
            <a:avLst/>
          </a:prstGeom>
          <a:noFill/>
          <a:ln w="9525">
            <a:solidFill>
              <a:srgbClr val="C9CED8"/>
            </a:solidFill>
            <a:prstDash val="solid"/>
          </a:ln>
        </p:spPr>
      </p:sp>
      <p:sp>
        <p:nvSpPr>
          <p:cNvPr id="19" name="Rectangle 18">
            <a:extLst>
              <a:ext uri="{FF2B5EF4-FFF2-40B4-BE49-F238E27FC236}">
                <a16:creationId xmlns:a16="http://schemas.microsoft.com/office/drawing/2014/main" id="{07F447EA-2D0E-49EA-88EB-EA7C25E275EB}"/>
              </a:ext>
            </a:extLst>
          </p:cNvPr>
          <p:cNvSpPr>
            <a:spLocks noGrp="1"/>
          </p:cNvSpPr>
          <p:nvPr/>
        </p:nvSpPr>
        <p:spPr>
          <a:xfrm>
            <a:off x="6096000" y="1676400"/>
            <a:ext cx="609600" cy="361950"/>
          </a:xfrm>
          <a:prstGeom prst="rect">
            <a:avLst/>
          </a:prstGeom>
          <a:noFill/>
          <a:ln w="0">
            <a:noFill/>
            <a:prstDash val="solid"/>
          </a:ln>
        </p:spPr>
        <p:txBody>
          <a:bodyPr wrap="square" lIns="0" tIns="0" rIns="0" bIns="0" anchor="t">
            <a:noAutofit/>
          </a:bodyPr>
          <a:lstStyle/>
          <a:p>
            <a:pPr algn="l">
              <a:buNone/>
              <a:defRPr sz="2250" b="1">
                <a:solidFill>
                  <a:srgbClr val="3D8DFF"/>
                </a:solidFill>
                <a:latin typeface="Arial"/>
                <a:ea typeface="Arial"/>
                <a:cs typeface="Arial"/>
              </a:defRPr>
            </a:pPr>
            <a:r>
              <a:rPr sz="2250" b="1">
                <a:solidFill>
                  <a:srgbClr val="3D8DFF"/>
                </a:solidFill>
                <a:latin typeface="Arial"/>
                <a:ea typeface="Arial"/>
                <a:cs typeface="Arial"/>
              </a:rPr>
              <a:t>03</a:t>
            </a:r>
          </a:p>
        </p:txBody>
      </p:sp>
      <p:sp>
        <p:nvSpPr>
          <p:cNvPr id="20" name="Rectangle 19">
            <a:extLst>
              <a:ext uri="{FF2B5EF4-FFF2-40B4-BE49-F238E27FC236}">
                <a16:creationId xmlns:a16="http://schemas.microsoft.com/office/drawing/2014/main" id="{B2732BA7-30A2-49DF-9E70-627E94971DFB}"/>
              </a:ext>
            </a:extLst>
          </p:cNvPr>
          <p:cNvSpPr>
            <a:spLocks noGrp="1"/>
          </p:cNvSpPr>
          <p:nvPr/>
        </p:nvSpPr>
        <p:spPr>
          <a:xfrm>
            <a:off x="6096000" y="2209800"/>
            <a:ext cx="2419350" cy="68580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Long-context TF-IDF</a:t>
            </a:r>
          </a:p>
        </p:txBody>
      </p:sp>
      <p:sp>
        <p:nvSpPr>
          <p:cNvPr id="21" name="Rectangle 20">
            <a:extLst>
              <a:ext uri="{FF2B5EF4-FFF2-40B4-BE49-F238E27FC236}">
                <a16:creationId xmlns:a16="http://schemas.microsoft.com/office/drawing/2014/main" id="{38BB9449-364E-4F38-B22D-670909219003}"/>
              </a:ext>
            </a:extLst>
          </p:cNvPr>
          <p:cNvSpPr>
            <a:spLocks noGrp="1"/>
          </p:cNvSpPr>
          <p:nvPr/>
        </p:nvSpPr>
        <p:spPr>
          <a:xfrm>
            <a:off x="6096000" y="3181350"/>
            <a:ext cx="1047750" cy="247650"/>
          </a:xfrm>
          <a:prstGeom prst="rect">
            <a:avLst/>
          </a:prstGeom>
          <a:noFill/>
          <a:ln w="0">
            <a:noFill/>
            <a:prstDash val="solid"/>
          </a:ln>
        </p:spPr>
        <p:txBody>
          <a:bodyPr wrap="square" lIns="0" tIns="0" rIns="0" bIns="0" anchor="t">
            <a:noAutofit/>
          </a:bodyPr>
          <a:lstStyle/>
          <a:p>
            <a:pPr algn="l">
              <a:buNone/>
              <a:defRPr sz="1275" b="1">
                <a:solidFill>
                  <a:srgbClr val="8C95A5"/>
                </a:solidFill>
                <a:latin typeface="Arial"/>
                <a:ea typeface="Arial"/>
                <a:cs typeface="Arial"/>
              </a:defRPr>
            </a:pPr>
            <a:r>
              <a:rPr sz="1275" b="1">
                <a:solidFill>
                  <a:srgbClr val="8C95A5"/>
                </a:solidFill>
                <a:latin typeface="Arial"/>
                <a:ea typeface="Arial"/>
                <a:cs typeface="Arial"/>
              </a:rPr>
              <a:t>INPUT</a:t>
            </a:r>
          </a:p>
        </p:txBody>
      </p:sp>
      <p:sp>
        <p:nvSpPr>
          <p:cNvPr id="22" name="Rectangle 21">
            <a:extLst>
              <a:ext uri="{FF2B5EF4-FFF2-40B4-BE49-F238E27FC236}">
                <a16:creationId xmlns:a16="http://schemas.microsoft.com/office/drawing/2014/main" id="{4F517E20-6249-4256-83EC-93C63B029057}"/>
              </a:ext>
            </a:extLst>
          </p:cNvPr>
          <p:cNvSpPr>
            <a:spLocks noGrp="1"/>
          </p:cNvSpPr>
          <p:nvPr/>
        </p:nvSpPr>
        <p:spPr>
          <a:xfrm>
            <a:off x="6096000" y="3524250"/>
            <a:ext cx="2419350" cy="4953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History + query</a:t>
            </a:r>
          </a:p>
        </p:txBody>
      </p:sp>
      <p:sp>
        <p:nvSpPr>
          <p:cNvPr id="23" name="Rectangle 22">
            <a:extLst>
              <a:ext uri="{FF2B5EF4-FFF2-40B4-BE49-F238E27FC236}">
                <a16:creationId xmlns:a16="http://schemas.microsoft.com/office/drawing/2014/main" id="{01848EA4-172C-493D-8034-C6CB435380FB}"/>
              </a:ext>
            </a:extLst>
          </p:cNvPr>
          <p:cNvSpPr>
            <a:spLocks noGrp="1"/>
          </p:cNvSpPr>
          <p:nvPr/>
        </p:nvSpPr>
        <p:spPr>
          <a:xfrm>
            <a:off x="6096000" y="4210050"/>
            <a:ext cx="2419350" cy="590550"/>
          </a:xfrm>
          <a:prstGeom prst="rect">
            <a:avLst/>
          </a:prstGeom>
          <a:noFill/>
          <a:ln w="0">
            <a:noFill/>
            <a:prstDash val="solid"/>
          </a:ln>
        </p:spPr>
        <p:txBody>
          <a:bodyPr wrap="square" lIns="0" tIns="0" rIns="0" bIns="0" anchor="t">
            <a:norm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Word and character n-grams</a:t>
            </a:r>
          </a:p>
        </p:txBody>
      </p:sp>
      <p:sp>
        <p:nvSpPr>
          <p:cNvPr id="24" name="Rectangle 23">
            <a:extLst>
              <a:ext uri="{FF2B5EF4-FFF2-40B4-BE49-F238E27FC236}">
                <a16:creationId xmlns:a16="http://schemas.microsoft.com/office/drawing/2014/main" id="{9A0CEEF9-4440-447B-8282-204D13DD23B4}"/>
              </a:ext>
            </a:extLst>
          </p:cNvPr>
          <p:cNvSpPr>
            <a:spLocks noGrp="1"/>
          </p:cNvSpPr>
          <p:nvPr/>
        </p:nvSpPr>
        <p:spPr>
          <a:xfrm>
            <a:off x="6096000" y="5105400"/>
            <a:ext cx="2419350" cy="628650"/>
          </a:xfrm>
          <a:prstGeom prst="rect">
            <a:avLst/>
          </a:prstGeom>
          <a:noFill/>
          <a:ln w="0">
            <a:noFill/>
            <a:prstDash val="solid"/>
          </a:ln>
        </p:spPr>
        <p:txBody>
          <a:bodyPr wrap="square" lIns="0" tIns="0" rIns="0" bIns="0" anchor="t">
            <a:normAutofit/>
          </a:bodyPr>
          <a:lstStyle/>
          <a:p>
            <a:pPr algn="l">
              <a:buNone/>
              <a:defRPr sz="1500" b="0">
                <a:solidFill>
                  <a:srgbClr val="0A1020"/>
                </a:solidFill>
                <a:latin typeface="Arial"/>
                <a:ea typeface="Arial"/>
                <a:cs typeface="Arial"/>
              </a:defRPr>
            </a:pPr>
            <a:r>
              <a:rPr sz="1500" b="0">
                <a:solidFill>
                  <a:srgbClr val="0A1020"/>
                </a:solidFill>
                <a:latin typeface="Arial"/>
                <a:ea typeface="Arial"/>
                <a:cs typeface="Arial"/>
              </a:rPr>
              <a:t>Tests raw-context classification</a:t>
            </a:r>
          </a:p>
        </p:txBody>
      </p:sp>
      <p:sp>
        <p:nvSpPr>
          <p:cNvPr id="25" name="Straight Connector 24">
            <a:extLst>
              <a:ext uri="{FF2B5EF4-FFF2-40B4-BE49-F238E27FC236}">
                <a16:creationId xmlns:a16="http://schemas.microsoft.com/office/drawing/2014/main" id="{22A1D1C9-3535-4EC4-A93D-DA52E2988051}"/>
              </a:ext>
            </a:extLst>
          </p:cNvPr>
          <p:cNvSpPr>
            <a:spLocks noGrp="1"/>
          </p:cNvSpPr>
          <p:nvPr/>
        </p:nvSpPr>
        <p:spPr>
          <a:xfrm>
            <a:off x="8724900" y="1676400"/>
            <a:ext cx="0" cy="4095750"/>
          </a:xfrm>
          <a:prstGeom prst="line">
            <a:avLst/>
          </a:prstGeom>
          <a:noFill/>
          <a:ln w="9525">
            <a:solidFill>
              <a:srgbClr val="C9CED8"/>
            </a:solidFill>
            <a:prstDash val="solid"/>
          </a:ln>
        </p:spPr>
      </p:sp>
      <p:sp>
        <p:nvSpPr>
          <p:cNvPr id="26" name="Rectangle 25">
            <a:extLst>
              <a:ext uri="{FF2B5EF4-FFF2-40B4-BE49-F238E27FC236}">
                <a16:creationId xmlns:a16="http://schemas.microsoft.com/office/drawing/2014/main" id="{8D61BE2A-5A5D-459F-89E1-5C1B6036D394}"/>
              </a:ext>
            </a:extLst>
          </p:cNvPr>
          <p:cNvSpPr>
            <a:spLocks noGrp="1"/>
          </p:cNvSpPr>
          <p:nvPr/>
        </p:nvSpPr>
        <p:spPr>
          <a:xfrm>
            <a:off x="8896350" y="1676400"/>
            <a:ext cx="609600" cy="361950"/>
          </a:xfrm>
          <a:prstGeom prst="rect">
            <a:avLst/>
          </a:prstGeom>
          <a:noFill/>
          <a:ln w="0">
            <a:noFill/>
            <a:prstDash val="solid"/>
          </a:ln>
        </p:spPr>
        <p:txBody>
          <a:bodyPr wrap="square" lIns="0" tIns="0" rIns="0" bIns="0" anchor="t">
            <a:noAutofit/>
          </a:bodyPr>
          <a:lstStyle/>
          <a:p>
            <a:pPr algn="l">
              <a:buNone/>
              <a:defRPr sz="2250" b="1">
                <a:solidFill>
                  <a:srgbClr val="159A7D"/>
                </a:solidFill>
                <a:latin typeface="Arial"/>
                <a:ea typeface="Arial"/>
                <a:cs typeface="Arial"/>
              </a:defRPr>
            </a:pPr>
            <a:r>
              <a:rPr sz="2250" b="1">
                <a:solidFill>
                  <a:srgbClr val="159A7D"/>
                </a:solidFill>
                <a:latin typeface="Arial"/>
                <a:ea typeface="Arial"/>
                <a:cs typeface="Arial"/>
              </a:rPr>
              <a:t>04</a:t>
            </a:r>
          </a:p>
        </p:txBody>
      </p:sp>
      <p:sp>
        <p:nvSpPr>
          <p:cNvPr id="27" name="Rectangle 26">
            <a:extLst>
              <a:ext uri="{FF2B5EF4-FFF2-40B4-BE49-F238E27FC236}">
                <a16:creationId xmlns:a16="http://schemas.microsoft.com/office/drawing/2014/main" id="{3AB45F3E-F4BF-411F-9FFA-B001149E0F71}"/>
              </a:ext>
            </a:extLst>
          </p:cNvPr>
          <p:cNvSpPr>
            <a:spLocks noGrp="1"/>
          </p:cNvSpPr>
          <p:nvPr/>
        </p:nvSpPr>
        <p:spPr>
          <a:xfrm>
            <a:off x="8896350" y="2209800"/>
            <a:ext cx="2419350" cy="685800"/>
          </a:xfrm>
          <a:prstGeom prst="rect">
            <a:avLst/>
          </a:prstGeom>
          <a:noFill/>
          <a:ln w="0">
            <a:noFill/>
            <a:prstDash val="solid"/>
          </a:ln>
        </p:spPr>
        <p:txBody>
          <a:bodyPr wrap="square" lIns="0" tIns="0" rIns="0" bIns="0" anchor="t">
            <a:normAutofit/>
          </a:bodyPr>
          <a:lstStyle/>
          <a:p>
            <a:pPr algn="l">
              <a:buNone/>
              <a:defRPr sz="2250" b="1">
                <a:solidFill>
                  <a:srgbClr val="0A1020"/>
                </a:solidFill>
                <a:latin typeface="Arial"/>
                <a:ea typeface="Arial"/>
                <a:cs typeface="Arial"/>
              </a:defRPr>
            </a:pPr>
            <a:r>
              <a:rPr sz="2250" b="1">
                <a:solidFill>
                  <a:srgbClr val="0A1020"/>
                </a:solidFill>
                <a:latin typeface="Arial"/>
                <a:ea typeface="Arial"/>
                <a:cs typeface="Arial"/>
              </a:rPr>
              <a:t>FrontierMem-Lite</a:t>
            </a:r>
          </a:p>
        </p:txBody>
      </p:sp>
      <p:sp>
        <p:nvSpPr>
          <p:cNvPr id="28" name="Rectangle 27">
            <a:extLst>
              <a:ext uri="{FF2B5EF4-FFF2-40B4-BE49-F238E27FC236}">
                <a16:creationId xmlns:a16="http://schemas.microsoft.com/office/drawing/2014/main" id="{BE6BF26A-12D2-41B5-8A4D-0DF4F16E2703}"/>
              </a:ext>
            </a:extLst>
          </p:cNvPr>
          <p:cNvSpPr>
            <a:spLocks noGrp="1"/>
          </p:cNvSpPr>
          <p:nvPr/>
        </p:nvSpPr>
        <p:spPr>
          <a:xfrm>
            <a:off x="8896350" y="3181350"/>
            <a:ext cx="1047750" cy="247650"/>
          </a:xfrm>
          <a:prstGeom prst="rect">
            <a:avLst/>
          </a:prstGeom>
          <a:noFill/>
          <a:ln w="0">
            <a:noFill/>
            <a:prstDash val="solid"/>
          </a:ln>
        </p:spPr>
        <p:txBody>
          <a:bodyPr wrap="square" lIns="0" tIns="0" rIns="0" bIns="0" anchor="t">
            <a:noAutofit/>
          </a:bodyPr>
          <a:lstStyle/>
          <a:p>
            <a:pPr algn="l">
              <a:buNone/>
              <a:defRPr sz="1275" b="1">
                <a:solidFill>
                  <a:srgbClr val="8C95A5"/>
                </a:solidFill>
                <a:latin typeface="Arial"/>
                <a:ea typeface="Arial"/>
                <a:cs typeface="Arial"/>
              </a:defRPr>
            </a:pPr>
            <a:r>
              <a:rPr sz="1275" b="1">
                <a:solidFill>
                  <a:srgbClr val="8C95A5"/>
                </a:solidFill>
                <a:latin typeface="Arial"/>
                <a:ea typeface="Arial"/>
                <a:cs typeface="Arial"/>
              </a:rPr>
              <a:t>INPUT</a:t>
            </a:r>
          </a:p>
        </p:txBody>
      </p:sp>
      <p:sp>
        <p:nvSpPr>
          <p:cNvPr id="29" name="Rectangle 28">
            <a:extLst>
              <a:ext uri="{FF2B5EF4-FFF2-40B4-BE49-F238E27FC236}">
                <a16:creationId xmlns:a16="http://schemas.microsoft.com/office/drawing/2014/main" id="{229E265B-033C-4F16-94C3-2C49F16A2D3A}"/>
              </a:ext>
            </a:extLst>
          </p:cNvPr>
          <p:cNvSpPr>
            <a:spLocks noGrp="1"/>
          </p:cNvSpPr>
          <p:nvPr/>
        </p:nvSpPr>
        <p:spPr>
          <a:xfrm>
            <a:off x="8896350" y="3524250"/>
            <a:ext cx="2419350" cy="4953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Structured boundary</a:t>
            </a:r>
          </a:p>
        </p:txBody>
      </p:sp>
      <p:sp>
        <p:nvSpPr>
          <p:cNvPr id="30" name="Rectangle 29">
            <a:extLst>
              <a:ext uri="{FF2B5EF4-FFF2-40B4-BE49-F238E27FC236}">
                <a16:creationId xmlns:a16="http://schemas.microsoft.com/office/drawing/2014/main" id="{D4B539B3-3721-432F-975D-08CA1949879F}"/>
              </a:ext>
            </a:extLst>
          </p:cNvPr>
          <p:cNvSpPr>
            <a:spLocks noGrp="1"/>
          </p:cNvSpPr>
          <p:nvPr/>
        </p:nvSpPr>
        <p:spPr>
          <a:xfrm>
            <a:off x="8896350" y="4210050"/>
            <a:ext cx="2419350" cy="590550"/>
          </a:xfrm>
          <a:prstGeom prst="rect">
            <a:avLst/>
          </a:prstGeom>
          <a:noFill/>
          <a:ln w="0">
            <a:noFill/>
            <a:prstDash val="solid"/>
          </a:ln>
        </p:spPr>
        <p:txBody>
          <a:bodyPr wrap="square" lIns="0" tIns="0" rIns="0" bIns="0" anchor="t">
            <a:norm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Rule extractor + rule policy</a:t>
            </a:r>
          </a:p>
        </p:txBody>
      </p:sp>
      <p:sp>
        <p:nvSpPr>
          <p:cNvPr id="31" name="Rectangle 30">
            <a:extLst>
              <a:ext uri="{FF2B5EF4-FFF2-40B4-BE49-F238E27FC236}">
                <a16:creationId xmlns:a16="http://schemas.microsoft.com/office/drawing/2014/main" id="{F892D845-A1F0-42C7-A1AE-7F0A135C783A}"/>
              </a:ext>
            </a:extLst>
          </p:cNvPr>
          <p:cNvSpPr>
            <a:spLocks noGrp="1"/>
          </p:cNvSpPr>
          <p:nvPr/>
        </p:nvSpPr>
        <p:spPr>
          <a:xfrm>
            <a:off x="8896350" y="5105400"/>
            <a:ext cx="2419350" cy="628650"/>
          </a:xfrm>
          <a:prstGeom prst="rect">
            <a:avLst/>
          </a:prstGeom>
          <a:noFill/>
          <a:ln w="0">
            <a:noFill/>
            <a:prstDash val="solid"/>
          </a:ln>
        </p:spPr>
        <p:txBody>
          <a:bodyPr wrap="square" lIns="0" tIns="0" rIns="0" bIns="0" anchor="t">
            <a:normAutofit/>
          </a:bodyPr>
          <a:lstStyle/>
          <a:p>
            <a:pPr algn="l">
              <a:buNone/>
              <a:defRPr sz="1500" b="1">
                <a:solidFill>
                  <a:srgbClr val="159A7D"/>
                </a:solidFill>
                <a:latin typeface="Arial"/>
                <a:ea typeface="Arial"/>
                <a:cs typeface="Arial"/>
              </a:defRPr>
            </a:pPr>
            <a:r>
              <a:rPr sz="1500" b="1">
                <a:solidFill>
                  <a:srgbClr val="159A7D"/>
                </a:solidFill>
                <a:latin typeface="Arial"/>
                <a:ea typeface="Arial"/>
                <a:cs typeface="Arial"/>
              </a:rPr>
              <a:t>Tests explicit applicability</a:t>
            </a:r>
          </a:p>
        </p:txBody>
      </p:sp>
    </p:spTree>
    <p:extLst>
      <p:ext uri="{BB962C8B-B14F-4D97-AF65-F5344CB8AC3E}">
        <p14:creationId xmlns:p14="http://schemas.microsoft.com/office/powerpoint/2010/main" val="1340942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kicker-9">
            <a:extLst>
              <a:ext uri="{FF2B5EF4-FFF2-40B4-BE49-F238E27FC236}">
                <a16:creationId xmlns:a16="http://schemas.microsoft.com/office/drawing/2014/main" id="{50CBE270-6A8A-4BA5-B8ED-A792FC1A3C3A}"/>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D94747"/>
                </a:solidFill>
                <a:latin typeface="Arial"/>
                <a:ea typeface="Arial"/>
                <a:cs typeface="Arial"/>
              </a:defRPr>
            </a:pPr>
            <a:r>
              <a:rPr sz="1200" b="1">
                <a:solidFill>
                  <a:srgbClr val="D94747"/>
                </a:solidFill>
                <a:latin typeface="Arial"/>
                <a:ea typeface="Arial"/>
                <a:cs typeface="Arial"/>
              </a:rPr>
              <a:t>BASELINE EVIDENCE</a:t>
            </a:r>
          </a:p>
        </p:txBody>
      </p:sp>
      <p:sp>
        <p:nvSpPr>
          <p:cNvPr id="2" name="title-9">
            <a:extLst>
              <a:ext uri="{FF2B5EF4-FFF2-40B4-BE49-F238E27FC236}">
                <a16:creationId xmlns:a16="http://schemas.microsoft.com/office/drawing/2014/main" id="{BE7D6641-EE5B-4F69-8B8D-0F90787DAED9}"/>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Flat facts hide catastrophic boundary errors</a:t>
            </a:r>
          </a:p>
        </p:txBody>
      </p:sp>
      <p:sp>
        <p:nvSpPr>
          <p:cNvPr id="3" name="Straight Connector 2">
            <a:extLst>
              <a:ext uri="{FF2B5EF4-FFF2-40B4-BE49-F238E27FC236}">
                <a16:creationId xmlns:a16="http://schemas.microsoft.com/office/drawing/2014/main" id="{483F73E2-326B-4F86-83B9-F1CD41E43B83}"/>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6C5038EE-6A74-4A4D-8EAE-0554FF4D1914}"/>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09</a:t>
            </a:r>
          </a:p>
        </p:txBody>
      </p:sp>
      <p:graphicFrame>
        <p:nvGraphicFramePr>
          <p:cNvPr id="22" name="Chart"/>
          <p:cNvGraphicFramePr/>
          <p:nvPr/>
        </p:nvGraphicFramePr>
        <p:xfrm>
          <a:off x="495300" y="1600200"/>
          <a:ext cx="7048500" cy="44386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2432AF21-91BA-4612-84B6-89DB33B27425}"/>
              </a:ext>
            </a:extLst>
          </p:cNvPr>
          <p:cNvSpPr>
            <a:spLocks noGrp="1"/>
          </p:cNvSpPr>
          <p:nvPr/>
        </p:nvSpPr>
        <p:spPr>
          <a:xfrm>
            <a:off x="7962900" y="1600200"/>
            <a:ext cx="3733800" cy="4438650"/>
          </a:xfrm>
          <a:prstGeom prst="rect">
            <a:avLst/>
          </a:prstGeom>
          <a:solidFill>
            <a:srgbClr val="FCEBEC"/>
          </a:solidFill>
          <a:ln w="14288">
            <a:solidFill>
              <a:srgbClr val="D94747"/>
            </a:solidFill>
            <a:prstDash val="solid"/>
          </a:ln>
        </p:spPr>
      </p:sp>
      <p:sp>
        <p:nvSpPr>
          <p:cNvPr id="7" name="Rectangle 6">
            <a:extLst>
              <a:ext uri="{FF2B5EF4-FFF2-40B4-BE49-F238E27FC236}">
                <a16:creationId xmlns:a16="http://schemas.microsoft.com/office/drawing/2014/main" id="{FFA16DE0-8F4E-4DA1-9A9D-390C63CD8FAE}"/>
              </a:ext>
            </a:extLst>
          </p:cNvPr>
          <p:cNvSpPr>
            <a:spLocks noGrp="1"/>
          </p:cNvSpPr>
          <p:nvPr/>
        </p:nvSpPr>
        <p:spPr>
          <a:xfrm>
            <a:off x="8248650" y="1924050"/>
            <a:ext cx="3143250" cy="704850"/>
          </a:xfrm>
          <a:prstGeom prst="rect">
            <a:avLst/>
          </a:prstGeom>
          <a:noFill/>
          <a:ln w="0">
            <a:noFill/>
            <a:prstDash val="solid"/>
          </a:ln>
        </p:spPr>
        <p:txBody>
          <a:bodyPr wrap="square" lIns="0" tIns="0" rIns="0" bIns="0" anchor="t">
            <a:noAutofit/>
          </a:bodyPr>
          <a:lstStyle/>
          <a:p>
            <a:pPr algn="l">
              <a:buNone/>
              <a:defRPr sz="4650" b="1">
                <a:solidFill>
                  <a:srgbClr val="D94747"/>
                </a:solidFill>
                <a:latin typeface="Arial"/>
                <a:ea typeface="Arial"/>
                <a:cs typeface="Arial"/>
              </a:defRPr>
            </a:pPr>
            <a:r>
              <a:rPr sz="4650" b="1">
                <a:solidFill>
                  <a:srgbClr val="D94747"/>
                </a:solidFill>
                <a:latin typeface="Arial"/>
                <a:ea typeface="Arial"/>
                <a:cs typeface="Arial"/>
              </a:rPr>
              <a:t>66.7%</a:t>
            </a:r>
          </a:p>
        </p:txBody>
      </p:sp>
      <p:sp>
        <p:nvSpPr>
          <p:cNvPr id="8" name="Rectangle 7">
            <a:extLst>
              <a:ext uri="{FF2B5EF4-FFF2-40B4-BE49-F238E27FC236}">
                <a16:creationId xmlns:a16="http://schemas.microsoft.com/office/drawing/2014/main" id="{57B8A2A6-D910-4419-8080-51FA98DADEFF}"/>
              </a:ext>
            </a:extLst>
          </p:cNvPr>
          <p:cNvSpPr>
            <a:spLocks noGrp="1"/>
          </p:cNvSpPr>
          <p:nvPr/>
        </p:nvSpPr>
        <p:spPr>
          <a:xfrm>
            <a:off x="8248650" y="2686050"/>
            <a:ext cx="314325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Flat Fact accuracy</a:t>
            </a:r>
          </a:p>
        </p:txBody>
      </p:sp>
      <p:sp>
        <p:nvSpPr>
          <p:cNvPr id="9" name="Rectangle 8">
            <a:extLst>
              <a:ext uri="{FF2B5EF4-FFF2-40B4-BE49-F238E27FC236}">
                <a16:creationId xmlns:a16="http://schemas.microsoft.com/office/drawing/2014/main" id="{47498A9A-0B8B-4394-99E5-BA1547AEE793}"/>
              </a:ext>
            </a:extLst>
          </p:cNvPr>
          <p:cNvSpPr>
            <a:spLocks noGrp="1"/>
          </p:cNvSpPr>
          <p:nvPr/>
        </p:nvSpPr>
        <p:spPr>
          <a:xfrm>
            <a:off x="8248650" y="3162300"/>
            <a:ext cx="3143250" cy="495300"/>
          </a:xfrm>
          <a:prstGeom prst="rect">
            <a:avLst/>
          </a:prstGeom>
          <a:noFill/>
          <a:ln w="0">
            <a:noFill/>
            <a:prstDash val="solid"/>
          </a:ln>
        </p:spPr>
        <p:txBody>
          <a:bodyPr wrap="square" lIns="0" tIns="0" rIns="0" bIns="0" anchor="t">
            <a:normAutofit/>
          </a:bodyPr>
          <a:lstStyle/>
          <a:p>
            <a:pPr algn="l">
              <a:buNone/>
              <a:defRPr sz="1575" b="0">
                <a:solidFill>
                  <a:srgbClr val="5D6677"/>
                </a:solidFill>
                <a:latin typeface="Arial"/>
                <a:ea typeface="Arial"/>
                <a:cs typeface="Arial"/>
              </a:defRPr>
            </a:pPr>
            <a:r>
              <a:rPr sz="1575" b="0">
                <a:solidFill>
                  <a:srgbClr val="5D6677"/>
                </a:solidFill>
                <a:latin typeface="Arial"/>
                <a:ea typeface="Arial"/>
                <a:cs typeface="Arial"/>
              </a:rPr>
              <a:t>But the label distribution is APPLY-heavy.</a:t>
            </a:r>
          </a:p>
        </p:txBody>
      </p:sp>
      <p:sp>
        <p:nvSpPr>
          <p:cNvPr id="10" name="Straight Connector 9">
            <a:extLst>
              <a:ext uri="{FF2B5EF4-FFF2-40B4-BE49-F238E27FC236}">
                <a16:creationId xmlns:a16="http://schemas.microsoft.com/office/drawing/2014/main" id="{D5D9BE91-3E7D-4752-99C7-4304ADF32B31}"/>
              </a:ext>
            </a:extLst>
          </p:cNvPr>
          <p:cNvSpPr>
            <a:spLocks noGrp="1"/>
          </p:cNvSpPr>
          <p:nvPr/>
        </p:nvSpPr>
        <p:spPr>
          <a:xfrm>
            <a:off x="8248650" y="3905250"/>
            <a:ext cx="3143250" cy="0"/>
          </a:xfrm>
          <a:prstGeom prst="line">
            <a:avLst/>
          </a:prstGeom>
          <a:noFill/>
          <a:ln w="9525">
            <a:solidFill>
              <a:srgbClr val="C9CED8"/>
            </a:solidFill>
            <a:prstDash val="solid"/>
          </a:ln>
        </p:spPr>
      </p:sp>
      <p:sp>
        <p:nvSpPr>
          <p:cNvPr id="11" name="Rectangle 10">
            <a:extLst>
              <a:ext uri="{FF2B5EF4-FFF2-40B4-BE49-F238E27FC236}">
                <a16:creationId xmlns:a16="http://schemas.microsoft.com/office/drawing/2014/main" id="{70166DA2-4004-4804-8CAC-71A070EE760A}"/>
              </a:ext>
            </a:extLst>
          </p:cNvPr>
          <p:cNvSpPr>
            <a:spLocks noGrp="1"/>
          </p:cNvSpPr>
          <p:nvPr/>
        </p:nvSpPr>
        <p:spPr>
          <a:xfrm>
            <a:off x="8248650" y="4171950"/>
            <a:ext cx="1428750" cy="552450"/>
          </a:xfrm>
          <a:prstGeom prst="rect">
            <a:avLst/>
          </a:prstGeom>
          <a:noFill/>
          <a:ln w="0">
            <a:noFill/>
            <a:prstDash val="solid"/>
          </a:ln>
        </p:spPr>
        <p:txBody>
          <a:bodyPr wrap="square" lIns="0" tIns="0" rIns="0" bIns="0" anchor="t">
            <a:noAutofit/>
          </a:bodyPr>
          <a:lstStyle/>
          <a:p>
            <a:pPr algn="l">
              <a:buNone/>
              <a:defRPr sz="3600" b="1">
                <a:solidFill>
                  <a:srgbClr val="D94747"/>
                </a:solidFill>
                <a:latin typeface="Arial"/>
                <a:ea typeface="Arial"/>
                <a:cs typeface="Arial"/>
              </a:defRPr>
            </a:pPr>
            <a:r>
              <a:rPr sz="3600" b="1">
                <a:solidFill>
                  <a:srgbClr val="D94747"/>
                </a:solidFill>
                <a:latin typeface="Arial"/>
                <a:ea typeface="Arial"/>
                <a:cs typeface="Arial"/>
              </a:rPr>
              <a:t>0%</a:t>
            </a:r>
          </a:p>
        </p:txBody>
      </p:sp>
      <p:sp>
        <p:nvSpPr>
          <p:cNvPr id="12" name="Rectangle 11">
            <a:extLst>
              <a:ext uri="{FF2B5EF4-FFF2-40B4-BE49-F238E27FC236}">
                <a16:creationId xmlns:a16="http://schemas.microsoft.com/office/drawing/2014/main" id="{AB3DE293-8645-4CA0-8EB8-11E673A25655}"/>
              </a:ext>
            </a:extLst>
          </p:cNvPr>
          <p:cNvSpPr>
            <a:spLocks noGrp="1"/>
          </p:cNvSpPr>
          <p:nvPr/>
        </p:nvSpPr>
        <p:spPr>
          <a:xfrm>
            <a:off x="9525000" y="4286250"/>
            <a:ext cx="1809750" cy="285750"/>
          </a:xfrm>
          <a:prstGeom prst="rect">
            <a:avLst/>
          </a:prstGeom>
          <a:noFill/>
          <a:ln w="0">
            <a:noFill/>
            <a:prstDash val="solid"/>
          </a:ln>
        </p:spPr>
        <p:txBody>
          <a:bodyPr wrap="square" lIns="0" tIns="0" rIns="0" bIns="0" anchor="t">
            <a:normAutofit/>
          </a:bodyPr>
          <a:lstStyle/>
          <a:p>
            <a:pPr algn="l">
              <a:buNone/>
              <a:defRPr sz="1575" b="1">
                <a:solidFill>
                  <a:srgbClr val="0A1020"/>
                </a:solidFill>
                <a:latin typeface="Arial"/>
                <a:ea typeface="Arial"/>
                <a:cs typeface="Arial"/>
              </a:defRPr>
            </a:pPr>
            <a:r>
              <a:rPr sz="1575" b="1">
                <a:solidFill>
                  <a:srgbClr val="0A1020"/>
                </a:solidFill>
                <a:latin typeface="Arial"/>
                <a:ea typeface="Arial"/>
                <a:cs typeface="Arial"/>
              </a:rPr>
              <a:t>outside accuracy</a:t>
            </a:r>
          </a:p>
        </p:txBody>
      </p:sp>
      <p:sp>
        <p:nvSpPr>
          <p:cNvPr id="13" name="Rectangle 12">
            <a:extLst>
              <a:ext uri="{FF2B5EF4-FFF2-40B4-BE49-F238E27FC236}">
                <a16:creationId xmlns:a16="http://schemas.microsoft.com/office/drawing/2014/main" id="{07F4C90C-5F4B-4C58-BA6E-79E0DE528811}"/>
              </a:ext>
            </a:extLst>
          </p:cNvPr>
          <p:cNvSpPr>
            <a:spLocks noGrp="1"/>
          </p:cNvSpPr>
          <p:nvPr/>
        </p:nvSpPr>
        <p:spPr>
          <a:xfrm>
            <a:off x="8248650" y="4953000"/>
            <a:ext cx="1428750" cy="552450"/>
          </a:xfrm>
          <a:prstGeom prst="rect">
            <a:avLst/>
          </a:prstGeom>
          <a:noFill/>
          <a:ln w="0">
            <a:noFill/>
            <a:prstDash val="solid"/>
          </a:ln>
        </p:spPr>
        <p:txBody>
          <a:bodyPr wrap="square" lIns="0" tIns="0" rIns="0" bIns="0" anchor="t">
            <a:noAutofit/>
          </a:bodyPr>
          <a:lstStyle/>
          <a:p>
            <a:pPr algn="l">
              <a:buNone/>
              <a:defRPr sz="3600" b="1">
                <a:solidFill>
                  <a:srgbClr val="D94747"/>
                </a:solidFill>
                <a:latin typeface="Arial"/>
                <a:ea typeface="Arial"/>
                <a:cs typeface="Arial"/>
              </a:defRPr>
            </a:pPr>
            <a:r>
              <a:rPr sz="3600" b="1">
                <a:solidFill>
                  <a:srgbClr val="D94747"/>
                </a:solidFill>
                <a:latin typeface="Arial"/>
                <a:ea typeface="Arial"/>
                <a:cs typeface="Arial"/>
              </a:rPr>
              <a:t>100%</a:t>
            </a:r>
          </a:p>
        </p:txBody>
      </p:sp>
      <p:sp>
        <p:nvSpPr>
          <p:cNvPr id="14" name="Rectangle 13">
            <a:extLst>
              <a:ext uri="{FF2B5EF4-FFF2-40B4-BE49-F238E27FC236}">
                <a16:creationId xmlns:a16="http://schemas.microsoft.com/office/drawing/2014/main" id="{658FF02A-A38B-4072-BCB2-379BE74FDCB8}"/>
              </a:ext>
            </a:extLst>
          </p:cNvPr>
          <p:cNvSpPr>
            <a:spLocks noGrp="1"/>
          </p:cNvSpPr>
          <p:nvPr/>
        </p:nvSpPr>
        <p:spPr>
          <a:xfrm>
            <a:off x="9525000" y="5067300"/>
            <a:ext cx="1809750" cy="285750"/>
          </a:xfrm>
          <a:prstGeom prst="rect">
            <a:avLst/>
          </a:prstGeom>
          <a:noFill/>
          <a:ln w="0">
            <a:noFill/>
            <a:prstDash val="solid"/>
          </a:ln>
        </p:spPr>
        <p:txBody>
          <a:bodyPr wrap="square" lIns="0" tIns="0" rIns="0" bIns="0" anchor="t">
            <a:normAutofit/>
          </a:bodyPr>
          <a:lstStyle/>
          <a:p>
            <a:pPr algn="l">
              <a:buNone/>
              <a:defRPr sz="1575" b="1">
                <a:solidFill>
                  <a:srgbClr val="0A1020"/>
                </a:solidFill>
                <a:latin typeface="Arial"/>
                <a:ea typeface="Arial"/>
                <a:cs typeface="Arial"/>
              </a:defRPr>
            </a:pPr>
            <a:r>
              <a:rPr sz="1575" b="1">
                <a:solidFill>
                  <a:srgbClr val="0A1020"/>
                </a:solidFill>
                <a:latin typeface="Arial"/>
                <a:ea typeface="Arial"/>
                <a:cs typeface="Arial"/>
              </a:rPr>
              <a:t>overgeneralization</a:t>
            </a:r>
          </a:p>
        </p:txBody>
      </p:sp>
      <p:sp>
        <p:nvSpPr>
          <p:cNvPr id="15" name="Rectangle 14">
            <a:extLst>
              <a:ext uri="{FF2B5EF4-FFF2-40B4-BE49-F238E27FC236}">
                <a16:creationId xmlns:a16="http://schemas.microsoft.com/office/drawing/2014/main" id="{E9F02CF4-5B47-4710-B62F-ABB62E15867F}"/>
              </a:ext>
            </a:extLst>
          </p:cNvPr>
          <p:cNvSpPr>
            <a:spLocks noGrp="1"/>
          </p:cNvSpPr>
          <p:nvPr/>
        </p:nvSpPr>
        <p:spPr>
          <a:xfrm>
            <a:off x="8248650" y="5562600"/>
            <a:ext cx="3143250" cy="400050"/>
          </a:xfrm>
          <a:prstGeom prst="rect">
            <a:avLst/>
          </a:prstGeom>
          <a:noFill/>
          <a:ln w="0">
            <a:noFill/>
            <a:prstDash val="solid"/>
          </a:ln>
        </p:spPr>
        <p:txBody>
          <a:bodyPr wrap="square" lIns="0" tIns="0" rIns="0" bIns="0" anchor="t">
            <a:normAutofit fontScale="76808"/>
          </a:bodyPr>
          <a:lstStyle/>
          <a:p>
            <a:pPr algn="l">
              <a:buNone/>
              <a:defRPr sz="1425" b="1">
                <a:solidFill>
                  <a:srgbClr val="159A7D"/>
                </a:solidFill>
                <a:latin typeface="Arial"/>
                <a:ea typeface="Arial"/>
                <a:cs typeface="Arial"/>
              </a:defRPr>
            </a:pPr>
            <a:r>
              <a:rPr sz="1425" b="1">
                <a:solidFill>
                  <a:srgbClr val="159A7D"/>
                </a:solidFill>
                <a:latin typeface="Arial"/>
                <a:ea typeface="Arial"/>
                <a:cs typeface="Arial"/>
              </a:rPr>
              <a:t>Frontier rules reach 94.3% outside accuracy with 0% overgeneralization on the held-out test.</a:t>
            </a:r>
          </a:p>
        </p:txBody>
      </p:sp>
    </p:spTree>
    <p:extLst>
      <p:ext uri="{BB962C8B-B14F-4D97-AF65-F5344CB8AC3E}">
        <p14:creationId xmlns:p14="http://schemas.microsoft.com/office/powerpoint/2010/main" val="666349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kicker-10">
            <a:extLst>
              <a:ext uri="{FF2B5EF4-FFF2-40B4-BE49-F238E27FC236}">
                <a16:creationId xmlns:a16="http://schemas.microsoft.com/office/drawing/2014/main" id="{E9599890-614F-4C42-AA51-EDC519FE15E4}"/>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4 · OUR REPRESENTATION</a:t>
            </a:r>
          </a:p>
        </p:txBody>
      </p:sp>
      <p:sp>
        <p:nvSpPr>
          <p:cNvPr id="2" name="title-10">
            <a:extLst>
              <a:ext uri="{FF2B5EF4-FFF2-40B4-BE49-F238E27FC236}">
                <a16:creationId xmlns:a16="http://schemas.microsoft.com/office/drawing/2014/main" id="{0A18B324-A2C9-4DF8-9EFA-74E5DF32F3A2}"/>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Frontier Memory stores a conditional boundary</a:t>
            </a:r>
          </a:p>
        </p:txBody>
      </p:sp>
      <p:sp>
        <p:nvSpPr>
          <p:cNvPr id="3" name="Straight Connector 2">
            <a:extLst>
              <a:ext uri="{FF2B5EF4-FFF2-40B4-BE49-F238E27FC236}">
                <a16:creationId xmlns:a16="http://schemas.microsoft.com/office/drawing/2014/main" id="{DC333A93-EE5E-4612-AFB3-934DED12D3BB}"/>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5C12ADB0-1C15-4124-946B-28360369416E}"/>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10</a:t>
            </a:r>
          </a:p>
        </p:txBody>
      </p:sp>
      <p:sp>
        <p:nvSpPr>
          <p:cNvPr id="5" name="Rectangle 4">
            <a:extLst>
              <a:ext uri="{FF2B5EF4-FFF2-40B4-BE49-F238E27FC236}">
                <a16:creationId xmlns:a16="http://schemas.microsoft.com/office/drawing/2014/main" id="{0E9CABC3-A13E-44E4-AE4A-35222E9F3729}"/>
              </a:ext>
            </a:extLst>
          </p:cNvPr>
          <p:cNvSpPr>
            <a:spLocks noGrp="1"/>
          </p:cNvSpPr>
          <p:nvPr/>
        </p:nvSpPr>
        <p:spPr>
          <a:xfrm>
            <a:off x="1047750" y="1562100"/>
            <a:ext cx="10096500" cy="514350"/>
          </a:xfrm>
          <a:prstGeom prst="rect">
            <a:avLst/>
          </a:prstGeom>
          <a:noFill/>
          <a:ln w="0">
            <a:noFill/>
            <a:prstDash val="solid"/>
          </a:ln>
        </p:spPr>
        <p:txBody>
          <a:bodyPr wrap="square" lIns="0" tIns="0" rIns="0" bIns="0" anchor="t">
            <a:noAutofit/>
          </a:bodyPr>
          <a:lstStyle/>
          <a:p>
            <a:pPr algn="ctr">
              <a:buNone/>
              <a:defRPr sz="2550" b="1">
                <a:solidFill>
                  <a:srgbClr val="1357B8"/>
                </a:solidFill>
                <a:latin typeface="Arial"/>
                <a:ea typeface="Arial"/>
                <a:cs typeface="Arial"/>
              </a:defRPr>
            </a:pPr>
            <a:r>
              <a:rPr sz="2550" b="1">
                <a:solidFill>
                  <a:srgbClr val="1357B8"/>
                </a:solidFill>
                <a:latin typeface="Arial"/>
                <a:ea typeface="Arial"/>
                <a:cs typeface="Arial"/>
              </a:rPr>
              <a:t>A useful memory must explain not only WHAT—but WHY, WHEN, and FOR WHOM.</a:t>
            </a:r>
          </a:p>
        </p:txBody>
      </p:sp>
      <p:sp>
        <p:nvSpPr>
          <p:cNvPr id="6" name="Rectangle 5">
            <a:extLst>
              <a:ext uri="{FF2B5EF4-FFF2-40B4-BE49-F238E27FC236}">
                <a16:creationId xmlns:a16="http://schemas.microsoft.com/office/drawing/2014/main" id="{AA80187C-980C-4B40-BE32-AC09273FB4A5}"/>
              </a:ext>
            </a:extLst>
          </p:cNvPr>
          <p:cNvSpPr>
            <a:spLocks noGrp="1"/>
          </p:cNvSpPr>
          <p:nvPr/>
        </p:nvSpPr>
        <p:spPr>
          <a:xfrm>
            <a:off x="495300" y="2571749"/>
            <a:ext cx="3371850" cy="3028949"/>
          </a:xfrm>
          <a:prstGeom prst="rect">
            <a:avLst/>
          </a:prstGeom>
          <a:solidFill>
            <a:srgbClr val="FCEBEC"/>
          </a:solidFill>
          <a:ln w="14288">
            <a:solidFill>
              <a:srgbClr val="D94747"/>
            </a:solidFill>
            <a:prstDash val="solid"/>
          </a:ln>
        </p:spPr>
      </p:sp>
      <p:sp>
        <p:nvSpPr>
          <p:cNvPr id="7" name="Rectangle 6">
            <a:extLst>
              <a:ext uri="{FF2B5EF4-FFF2-40B4-BE49-F238E27FC236}">
                <a16:creationId xmlns:a16="http://schemas.microsoft.com/office/drawing/2014/main" id="{2F75B070-550F-41C0-B143-440FB494B4CD}"/>
              </a:ext>
            </a:extLst>
          </p:cNvPr>
          <p:cNvSpPr>
            <a:spLocks noGrp="1"/>
          </p:cNvSpPr>
          <p:nvPr/>
        </p:nvSpPr>
        <p:spPr>
          <a:xfrm>
            <a:off x="762000" y="2838450"/>
            <a:ext cx="2381250" cy="266700"/>
          </a:xfrm>
          <a:prstGeom prst="rect">
            <a:avLst/>
          </a:prstGeom>
          <a:noFill/>
          <a:ln w="0">
            <a:noFill/>
            <a:prstDash val="solid"/>
          </a:ln>
        </p:spPr>
        <p:txBody>
          <a:bodyPr wrap="square" lIns="0" tIns="0" rIns="0" bIns="0" anchor="t">
            <a:noAutofit/>
          </a:bodyPr>
          <a:lstStyle/>
          <a:p>
            <a:pPr algn="l">
              <a:buNone/>
              <a:defRPr sz="1350" b="1">
                <a:solidFill>
                  <a:srgbClr val="D94747"/>
                </a:solidFill>
                <a:latin typeface="Arial"/>
                <a:ea typeface="Arial"/>
                <a:cs typeface="Arial"/>
              </a:defRPr>
            </a:pPr>
            <a:r>
              <a:rPr sz="1350" b="1">
                <a:solidFill>
                  <a:srgbClr val="D94747"/>
                </a:solidFill>
                <a:latin typeface="Arial"/>
                <a:ea typeface="Arial"/>
                <a:cs typeface="Arial"/>
              </a:rPr>
              <a:t>FLAT FACT</a:t>
            </a:r>
          </a:p>
        </p:txBody>
      </p:sp>
      <p:sp>
        <p:nvSpPr>
          <p:cNvPr id="8" name="Rectangle 7">
            <a:extLst>
              <a:ext uri="{FF2B5EF4-FFF2-40B4-BE49-F238E27FC236}">
                <a16:creationId xmlns:a16="http://schemas.microsoft.com/office/drawing/2014/main" id="{1BBC4E43-2F27-4CA4-919C-DB770850BBD2}"/>
              </a:ext>
            </a:extLst>
          </p:cNvPr>
          <p:cNvSpPr>
            <a:spLocks noGrp="1"/>
          </p:cNvSpPr>
          <p:nvPr/>
        </p:nvSpPr>
        <p:spPr>
          <a:xfrm>
            <a:off x="762000" y="3448050"/>
            <a:ext cx="2571750" cy="400050"/>
          </a:xfrm>
          <a:prstGeom prst="rect">
            <a:avLst/>
          </a:prstGeom>
          <a:noFill/>
          <a:ln w="0">
            <a:noFill/>
            <a:prstDash val="solid"/>
          </a:ln>
        </p:spPr>
        <p:txBody>
          <a:bodyPr wrap="square" lIns="0" tIns="0" rIns="0" bIns="0" anchor="t">
            <a:normAutofit/>
          </a:bodyPr>
          <a:lstStyle/>
          <a:p>
            <a:pPr algn="l">
              <a:buNone/>
              <a:defRPr sz="2550" b="1">
                <a:solidFill>
                  <a:srgbClr val="0A1020"/>
                </a:solidFill>
                <a:latin typeface="Arial"/>
                <a:ea typeface="Arial"/>
                <a:cs typeface="Arial"/>
              </a:defRPr>
            </a:pPr>
            <a:r>
              <a:rPr sz="2550" b="1">
                <a:solidFill>
                  <a:srgbClr val="0A1020"/>
                </a:solidFill>
                <a:latin typeface="Arial"/>
                <a:ea typeface="Arial"/>
                <a:cs typeface="Arial"/>
              </a:rPr>
              <a:t>Preference</a:t>
            </a:r>
          </a:p>
        </p:txBody>
      </p:sp>
      <p:sp>
        <p:nvSpPr>
          <p:cNvPr id="9" name="Rectangle 8">
            <a:extLst>
              <a:ext uri="{FF2B5EF4-FFF2-40B4-BE49-F238E27FC236}">
                <a16:creationId xmlns:a16="http://schemas.microsoft.com/office/drawing/2014/main" id="{26C1BE6F-08C7-430C-8F67-88BCE7AE9035}"/>
              </a:ext>
            </a:extLst>
          </p:cNvPr>
          <p:cNvSpPr>
            <a:spLocks noGrp="1"/>
          </p:cNvSpPr>
          <p:nvPr/>
        </p:nvSpPr>
        <p:spPr>
          <a:xfrm>
            <a:off x="762000" y="4114800"/>
            <a:ext cx="2571750" cy="514350"/>
          </a:xfrm>
          <a:prstGeom prst="rect">
            <a:avLst/>
          </a:prstGeom>
          <a:noFill/>
          <a:ln w="0">
            <a:noFill/>
            <a:prstDash val="solid"/>
          </a:ln>
        </p:spPr>
        <p:txBody>
          <a:bodyPr wrap="square" lIns="0" tIns="0" rIns="0" bIns="0" anchor="t">
            <a:normAutofit/>
          </a:bodyPr>
          <a:lstStyle/>
          <a:p>
            <a:pPr algn="l">
              <a:buNone/>
              <a:defRPr sz="2100" b="0">
                <a:solidFill>
                  <a:srgbClr val="0A1020"/>
                </a:solidFill>
                <a:latin typeface="Arial"/>
                <a:ea typeface="Arial"/>
                <a:cs typeface="Arial"/>
              </a:defRPr>
            </a:pPr>
            <a:r>
              <a:rPr sz="2100" b="0">
                <a:solidFill>
                  <a:srgbClr val="0A1020"/>
                </a:solidFill>
                <a:latin typeface="Arial"/>
                <a:ea typeface="Arial"/>
                <a:cs typeface="Arial"/>
              </a:rPr>
              <a:t>“budget hotels”</a:t>
            </a:r>
          </a:p>
        </p:txBody>
      </p:sp>
      <p:sp>
        <p:nvSpPr>
          <p:cNvPr id="10" name="Rectangle 9">
            <a:extLst>
              <a:ext uri="{FF2B5EF4-FFF2-40B4-BE49-F238E27FC236}">
                <a16:creationId xmlns:a16="http://schemas.microsoft.com/office/drawing/2014/main" id="{1A480AA1-A4AF-47CD-A94E-8921614B9A93}"/>
              </a:ext>
            </a:extLst>
          </p:cNvPr>
          <p:cNvSpPr>
            <a:spLocks noGrp="1"/>
          </p:cNvSpPr>
          <p:nvPr/>
        </p:nvSpPr>
        <p:spPr>
          <a:xfrm>
            <a:off x="762000" y="4876800"/>
            <a:ext cx="2667000" cy="304800"/>
          </a:xfrm>
          <a:prstGeom prst="rect">
            <a:avLst/>
          </a:prstGeom>
          <a:noFill/>
          <a:ln w="0">
            <a:noFill/>
            <a:prstDash val="solid"/>
          </a:ln>
        </p:spPr>
        <p:txBody>
          <a:bodyPr wrap="square" lIns="0" tIns="0" rIns="0" bIns="0" anchor="t">
            <a:normAutofit fontScale="83827"/>
          </a:bodyPr>
          <a:lstStyle/>
          <a:p>
            <a:pPr algn="l">
              <a:buNone/>
              <a:defRPr sz="1500" b="1">
                <a:solidFill>
                  <a:srgbClr val="D94747"/>
                </a:solidFill>
                <a:latin typeface="Arial"/>
                <a:ea typeface="Arial"/>
                <a:cs typeface="Arial"/>
              </a:defRPr>
            </a:pPr>
            <a:r>
              <a:rPr sz="1500" b="1">
                <a:solidFill>
                  <a:srgbClr val="D94747"/>
                </a:solidFill>
                <a:latin typeface="Arial"/>
                <a:ea typeface="Arial"/>
                <a:cs typeface="Arial"/>
              </a:rPr>
              <a:t>No cause · no scope · no exception</a:t>
            </a:r>
          </a:p>
        </p:txBody>
      </p:sp>
      <p:sp>
        <p:nvSpPr>
          <p:cNvPr id="11" name="Arrow: Right 10">
            <a:extLst>
              <a:ext uri="{FF2B5EF4-FFF2-40B4-BE49-F238E27FC236}">
                <a16:creationId xmlns:a16="http://schemas.microsoft.com/office/drawing/2014/main" id="{85E35BF5-87F0-4402-AF2A-4FCFA3F30176}"/>
              </a:ext>
            </a:extLst>
          </p:cNvPr>
          <p:cNvSpPr>
            <a:spLocks noGrp="1"/>
          </p:cNvSpPr>
          <p:nvPr/>
        </p:nvSpPr>
        <p:spPr>
          <a:xfrm>
            <a:off x="4114800" y="3657600"/>
            <a:ext cx="666750" cy="381000"/>
          </a:xfrm>
          <a:prstGeom prst="rightArrow">
            <a:avLst/>
          </a:prstGeom>
          <a:solidFill>
            <a:srgbClr val="3D8DFF"/>
          </a:solidFill>
          <a:ln w="0">
            <a:solidFill>
              <a:srgbClr val="3D8DFF"/>
            </a:solidFill>
            <a:prstDash val="solid"/>
          </a:ln>
        </p:spPr>
      </p:sp>
      <p:sp>
        <p:nvSpPr>
          <p:cNvPr id="12" name="Rectangle 11">
            <a:extLst>
              <a:ext uri="{FF2B5EF4-FFF2-40B4-BE49-F238E27FC236}">
                <a16:creationId xmlns:a16="http://schemas.microsoft.com/office/drawing/2014/main" id="{AE6C43E4-8580-4CB9-9A14-8150C619C229}"/>
              </a:ext>
            </a:extLst>
          </p:cNvPr>
          <p:cNvSpPr>
            <a:spLocks noGrp="1"/>
          </p:cNvSpPr>
          <p:nvPr/>
        </p:nvSpPr>
        <p:spPr>
          <a:xfrm>
            <a:off x="5010150" y="2571750"/>
            <a:ext cx="6686550" cy="3028950"/>
          </a:xfrm>
          <a:prstGeom prst="rect">
            <a:avLst/>
          </a:prstGeom>
          <a:solidFill>
            <a:srgbClr val="EAF3FF"/>
          </a:solidFill>
          <a:ln w="14288">
            <a:solidFill>
              <a:srgbClr val="3D8DFF"/>
            </a:solidFill>
            <a:prstDash val="solid"/>
          </a:ln>
        </p:spPr>
      </p:sp>
      <p:sp>
        <p:nvSpPr>
          <p:cNvPr id="13" name="Rectangle 12">
            <a:extLst>
              <a:ext uri="{FF2B5EF4-FFF2-40B4-BE49-F238E27FC236}">
                <a16:creationId xmlns:a16="http://schemas.microsoft.com/office/drawing/2014/main" id="{69EDD42C-D6B2-4679-8EAF-3C3C274F8243}"/>
              </a:ext>
            </a:extLst>
          </p:cNvPr>
          <p:cNvSpPr>
            <a:spLocks noGrp="1"/>
          </p:cNvSpPr>
          <p:nvPr/>
        </p:nvSpPr>
        <p:spPr>
          <a:xfrm>
            <a:off x="5295900" y="2708140"/>
            <a:ext cx="276225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FRONTIER MEMORY</a:t>
            </a:r>
          </a:p>
        </p:txBody>
      </p:sp>
      <p:sp>
        <p:nvSpPr>
          <p:cNvPr id="14" name="Rectangle 13">
            <a:extLst>
              <a:ext uri="{FF2B5EF4-FFF2-40B4-BE49-F238E27FC236}">
                <a16:creationId xmlns:a16="http://schemas.microsoft.com/office/drawing/2014/main" id="{A3C3A7D0-B148-4E23-B039-6F44E20EF19E}"/>
              </a:ext>
            </a:extLst>
          </p:cNvPr>
          <p:cNvSpPr>
            <a:spLocks noGrp="1"/>
          </p:cNvSpPr>
          <p:nvPr/>
        </p:nvSpPr>
        <p:spPr>
          <a:xfrm>
            <a:off x="5295900" y="3105150"/>
            <a:ext cx="1676400" cy="209550"/>
          </a:xfrm>
          <a:prstGeom prst="rect">
            <a:avLst/>
          </a:prstGeom>
          <a:noFill/>
          <a:ln w="0">
            <a:noFill/>
            <a:prstDash val="solid"/>
          </a:ln>
        </p:spPr>
        <p:txBody>
          <a:bodyPr wrap="square" lIns="0" tIns="0" rIns="0" bIns="0" anchor="t">
            <a:noAutofit/>
          </a:bodyPr>
          <a:lstStyle/>
          <a:p>
            <a:pPr algn="l">
              <a:buNone/>
              <a:defRPr sz="1200" b="1">
                <a:solidFill>
                  <a:srgbClr val="1357B8"/>
                </a:solidFill>
                <a:latin typeface="Arial"/>
                <a:ea typeface="Arial"/>
                <a:cs typeface="Arial"/>
              </a:defRPr>
            </a:pPr>
            <a:r>
              <a:rPr sz="1200" b="1">
                <a:solidFill>
                  <a:srgbClr val="1357B8"/>
                </a:solidFill>
                <a:latin typeface="Arial"/>
                <a:ea typeface="Arial"/>
                <a:cs typeface="Arial"/>
              </a:rPr>
              <a:t>PREFERENCE</a:t>
            </a:r>
          </a:p>
        </p:txBody>
      </p:sp>
      <p:sp>
        <p:nvSpPr>
          <p:cNvPr id="15" name="Rectangle 14">
            <a:extLst>
              <a:ext uri="{FF2B5EF4-FFF2-40B4-BE49-F238E27FC236}">
                <a16:creationId xmlns:a16="http://schemas.microsoft.com/office/drawing/2014/main" id="{31E67B25-BAC6-453E-9CB6-D44C370D5E59}"/>
              </a:ext>
            </a:extLst>
          </p:cNvPr>
          <p:cNvSpPr>
            <a:spLocks noGrp="1"/>
          </p:cNvSpPr>
          <p:nvPr/>
        </p:nvSpPr>
        <p:spPr>
          <a:xfrm>
            <a:off x="7086600" y="3076575"/>
            <a:ext cx="4210050" cy="285750"/>
          </a:xfrm>
          <a:prstGeom prst="rect">
            <a:avLst/>
          </a:prstGeom>
          <a:noFill/>
          <a:ln w="0">
            <a:noFill/>
            <a:prstDash val="solid"/>
          </a:ln>
        </p:spPr>
        <p:txBody>
          <a:bodyPr wrap="square" lIns="0" tIns="0" rIns="0" bIns="0" anchor="t">
            <a:no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budget-conscious accommodation</a:t>
            </a:r>
          </a:p>
        </p:txBody>
      </p:sp>
      <p:sp>
        <p:nvSpPr>
          <p:cNvPr id="16" name="Straight Connector 15">
            <a:extLst>
              <a:ext uri="{FF2B5EF4-FFF2-40B4-BE49-F238E27FC236}">
                <a16:creationId xmlns:a16="http://schemas.microsoft.com/office/drawing/2014/main" id="{FBB90055-4C94-4CF7-BA5E-419ACCADF822}"/>
              </a:ext>
            </a:extLst>
          </p:cNvPr>
          <p:cNvSpPr>
            <a:spLocks noGrp="1"/>
          </p:cNvSpPr>
          <p:nvPr/>
        </p:nvSpPr>
        <p:spPr>
          <a:xfrm>
            <a:off x="5295900" y="3429000"/>
            <a:ext cx="6000750" cy="0"/>
          </a:xfrm>
          <a:prstGeom prst="line">
            <a:avLst/>
          </a:prstGeom>
          <a:noFill/>
          <a:ln w="9525">
            <a:solidFill>
              <a:srgbClr val="D7E3F4"/>
            </a:solidFill>
            <a:prstDash val="solid"/>
          </a:ln>
        </p:spPr>
      </p:sp>
      <p:sp>
        <p:nvSpPr>
          <p:cNvPr id="17" name="Rectangle 16">
            <a:extLst>
              <a:ext uri="{FF2B5EF4-FFF2-40B4-BE49-F238E27FC236}">
                <a16:creationId xmlns:a16="http://schemas.microsoft.com/office/drawing/2014/main" id="{C79CD8F5-87EF-42BB-A8B3-440D017E8C9F}"/>
              </a:ext>
            </a:extLst>
          </p:cNvPr>
          <p:cNvSpPr>
            <a:spLocks noGrp="1"/>
          </p:cNvSpPr>
          <p:nvPr/>
        </p:nvSpPr>
        <p:spPr>
          <a:xfrm>
            <a:off x="5295900" y="3581400"/>
            <a:ext cx="1676400" cy="209550"/>
          </a:xfrm>
          <a:prstGeom prst="rect">
            <a:avLst/>
          </a:prstGeom>
          <a:noFill/>
          <a:ln w="0">
            <a:noFill/>
            <a:prstDash val="solid"/>
          </a:ln>
        </p:spPr>
        <p:txBody>
          <a:bodyPr wrap="square" lIns="0" tIns="0" rIns="0" bIns="0" anchor="t">
            <a:noAutofit/>
          </a:bodyPr>
          <a:lstStyle/>
          <a:p>
            <a:pPr algn="l">
              <a:buNone/>
              <a:defRPr sz="1200" b="1">
                <a:solidFill>
                  <a:srgbClr val="1357B8"/>
                </a:solidFill>
                <a:latin typeface="Arial"/>
                <a:ea typeface="Arial"/>
                <a:cs typeface="Arial"/>
              </a:defRPr>
            </a:pPr>
            <a:r>
              <a:rPr sz="1200" b="1">
                <a:solidFill>
                  <a:srgbClr val="1357B8"/>
                </a:solidFill>
                <a:latin typeface="Arial"/>
                <a:ea typeface="Arial"/>
                <a:cs typeface="Arial"/>
              </a:rPr>
              <a:t>CAUSE / TYPE</a:t>
            </a:r>
          </a:p>
        </p:txBody>
      </p:sp>
      <p:sp>
        <p:nvSpPr>
          <p:cNvPr id="18" name="Rectangle 17">
            <a:extLst>
              <a:ext uri="{FF2B5EF4-FFF2-40B4-BE49-F238E27FC236}">
                <a16:creationId xmlns:a16="http://schemas.microsoft.com/office/drawing/2014/main" id="{DAA160B6-A977-4BDB-9B95-A9D186C1F93C}"/>
              </a:ext>
            </a:extLst>
          </p:cNvPr>
          <p:cNvSpPr>
            <a:spLocks noGrp="1"/>
          </p:cNvSpPr>
          <p:nvPr/>
        </p:nvSpPr>
        <p:spPr>
          <a:xfrm>
            <a:off x="7086600" y="3552825"/>
            <a:ext cx="4210050" cy="285750"/>
          </a:xfrm>
          <a:prstGeom prst="rect">
            <a:avLst/>
          </a:prstGeom>
          <a:noFill/>
          <a:ln w="0">
            <a:noFill/>
            <a:prstDash val="solid"/>
          </a:ln>
        </p:spPr>
        <p:txBody>
          <a:bodyPr wrap="square" lIns="0" tIns="0" rIns="0" bIns="0" anchor="t">
            <a:no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temporary reimbursement constraint</a:t>
            </a:r>
          </a:p>
        </p:txBody>
      </p:sp>
      <p:sp>
        <p:nvSpPr>
          <p:cNvPr id="19" name="Straight Connector 18">
            <a:extLst>
              <a:ext uri="{FF2B5EF4-FFF2-40B4-BE49-F238E27FC236}">
                <a16:creationId xmlns:a16="http://schemas.microsoft.com/office/drawing/2014/main" id="{D3EC2B99-832B-433B-9377-4E1034A1AEFF}"/>
              </a:ext>
            </a:extLst>
          </p:cNvPr>
          <p:cNvSpPr>
            <a:spLocks noGrp="1"/>
          </p:cNvSpPr>
          <p:nvPr/>
        </p:nvSpPr>
        <p:spPr>
          <a:xfrm>
            <a:off x="5295900" y="3905250"/>
            <a:ext cx="6000750" cy="0"/>
          </a:xfrm>
          <a:prstGeom prst="line">
            <a:avLst/>
          </a:prstGeom>
          <a:noFill/>
          <a:ln w="9525">
            <a:solidFill>
              <a:srgbClr val="D7E3F4"/>
            </a:solidFill>
            <a:prstDash val="solid"/>
          </a:ln>
        </p:spPr>
      </p:sp>
      <p:sp>
        <p:nvSpPr>
          <p:cNvPr id="20" name="Rectangle 19">
            <a:extLst>
              <a:ext uri="{FF2B5EF4-FFF2-40B4-BE49-F238E27FC236}">
                <a16:creationId xmlns:a16="http://schemas.microsoft.com/office/drawing/2014/main" id="{9E4B956C-D540-4B8D-AF4A-A1287988F9B4}"/>
              </a:ext>
            </a:extLst>
          </p:cNvPr>
          <p:cNvSpPr>
            <a:spLocks noGrp="1"/>
          </p:cNvSpPr>
          <p:nvPr/>
        </p:nvSpPr>
        <p:spPr>
          <a:xfrm>
            <a:off x="5295900" y="4057650"/>
            <a:ext cx="1676400" cy="209550"/>
          </a:xfrm>
          <a:prstGeom prst="rect">
            <a:avLst/>
          </a:prstGeom>
          <a:noFill/>
          <a:ln w="0">
            <a:noFill/>
            <a:prstDash val="solid"/>
          </a:ln>
        </p:spPr>
        <p:txBody>
          <a:bodyPr wrap="square" lIns="0" tIns="0" rIns="0" bIns="0" anchor="t">
            <a:noAutofit/>
          </a:bodyPr>
          <a:lstStyle/>
          <a:p>
            <a:pPr algn="l">
              <a:buNone/>
              <a:defRPr sz="1200" b="1">
                <a:solidFill>
                  <a:srgbClr val="1357B8"/>
                </a:solidFill>
                <a:latin typeface="Arial"/>
                <a:ea typeface="Arial"/>
                <a:cs typeface="Arial"/>
              </a:defRPr>
            </a:pPr>
            <a:r>
              <a:rPr sz="1200" b="1">
                <a:solidFill>
                  <a:srgbClr val="1357B8"/>
                </a:solidFill>
                <a:latin typeface="Arial"/>
                <a:ea typeface="Arial"/>
                <a:cs typeface="Arial"/>
              </a:rPr>
              <a:t>POSITIVE SCOPE</a:t>
            </a:r>
          </a:p>
        </p:txBody>
      </p:sp>
      <p:sp>
        <p:nvSpPr>
          <p:cNvPr id="21" name="Rectangle 20">
            <a:extLst>
              <a:ext uri="{FF2B5EF4-FFF2-40B4-BE49-F238E27FC236}">
                <a16:creationId xmlns:a16="http://schemas.microsoft.com/office/drawing/2014/main" id="{ABDA4F79-A32D-4122-9000-7E6F327E61BE}"/>
              </a:ext>
            </a:extLst>
          </p:cNvPr>
          <p:cNvSpPr>
            <a:spLocks noGrp="1"/>
          </p:cNvSpPr>
          <p:nvPr/>
        </p:nvSpPr>
        <p:spPr>
          <a:xfrm>
            <a:off x="7086600" y="4029075"/>
            <a:ext cx="4210050" cy="285750"/>
          </a:xfrm>
          <a:prstGeom prst="rect">
            <a:avLst/>
          </a:prstGeom>
          <a:noFill/>
          <a:ln w="0">
            <a:noFill/>
            <a:prstDash val="solid"/>
          </a:ln>
        </p:spPr>
        <p:txBody>
          <a:bodyPr wrap="square" lIns="0" tIns="0" rIns="0" bIns="0" anchor="t">
            <a:no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self-funded or capped trip</a:t>
            </a:r>
          </a:p>
        </p:txBody>
      </p:sp>
      <p:sp>
        <p:nvSpPr>
          <p:cNvPr id="22" name="Straight Connector 21">
            <a:extLst>
              <a:ext uri="{FF2B5EF4-FFF2-40B4-BE49-F238E27FC236}">
                <a16:creationId xmlns:a16="http://schemas.microsoft.com/office/drawing/2014/main" id="{6CBD4EBA-64BB-4E08-BA6E-F5096B8B43FC}"/>
              </a:ext>
            </a:extLst>
          </p:cNvPr>
          <p:cNvSpPr>
            <a:spLocks noGrp="1"/>
          </p:cNvSpPr>
          <p:nvPr/>
        </p:nvSpPr>
        <p:spPr>
          <a:xfrm>
            <a:off x="5295900" y="4381500"/>
            <a:ext cx="6000750" cy="0"/>
          </a:xfrm>
          <a:prstGeom prst="line">
            <a:avLst/>
          </a:prstGeom>
          <a:noFill/>
          <a:ln w="9525">
            <a:solidFill>
              <a:srgbClr val="D7E3F4"/>
            </a:solidFill>
            <a:prstDash val="solid"/>
          </a:ln>
        </p:spPr>
      </p:sp>
      <p:sp>
        <p:nvSpPr>
          <p:cNvPr id="23" name="Rectangle 22">
            <a:extLst>
              <a:ext uri="{FF2B5EF4-FFF2-40B4-BE49-F238E27FC236}">
                <a16:creationId xmlns:a16="http://schemas.microsoft.com/office/drawing/2014/main" id="{C113E0DE-6AD3-4B00-A6B3-468FFE71080A}"/>
              </a:ext>
            </a:extLst>
          </p:cNvPr>
          <p:cNvSpPr>
            <a:spLocks noGrp="1"/>
          </p:cNvSpPr>
          <p:nvPr/>
        </p:nvSpPr>
        <p:spPr>
          <a:xfrm>
            <a:off x="5295900" y="4533900"/>
            <a:ext cx="1676400" cy="209550"/>
          </a:xfrm>
          <a:prstGeom prst="rect">
            <a:avLst/>
          </a:prstGeom>
          <a:noFill/>
          <a:ln w="0">
            <a:noFill/>
            <a:prstDash val="solid"/>
          </a:ln>
        </p:spPr>
        <p:txBody>
          <a:bodyPr wrap="square" lIns="0" tIns="0" rIns="0" bIns="0" anchor="t">
            <a:noAutofit/>
          </a:bodyPr>
          <a:lstStyle/>
          <a:p>
            <a:pPr algn="l">
              <a:buNone/>
              <a:defRPr sz="1200" b="1">
                <a:solidFill>
                  <a:srgbClr val="1357B8"/>
                </a:solidFill>
                <a:latin typeface="Arial"/>
                <a:ea typeface="Arial"/>
                <a:cs typeface="Arial"/>
              </a:defRPr>
            </a:pPr>
            <a:r>
              <a:rPr sz="1200" b="1">
                <a:solidFill>
                  <a:srgbClr val="1357B8"/>
                </a:solidFill>
                <a:latin typeface="Arial"/>
                <a:ea typeface="Arial"/>
                <a:cs typeface="Arial"/>
              </a:rPr>
              <a:t>NEGATIVE SCOPE</a:t>
            </a:r>
          </a:p>
        </p:txBody>
      </p:sp>
      <p:sp>
        <p:nvSpPr>
          <p:cNvPr id="24" name="Rectangle 23">
            <a:extLst>
              <a:ext uri="{FF2B5EF4-FFF2-40B4-BE49-F238E27FC236}">
                <a16:creationId xmlns:a16="http://schemas.microsoft.com/office/drawing/2014/main" id="{26AF2E63-7A5C-4793-B166-0388F0BE0DA6}"/>
              </a:ext>
            </a:extLst>
          </p:cNvPr>
          <p:cNvSpPr>
            <a:spLocks noGrp="1"/>
          </p:cNvSpPr>
          <p:nvPr/>
        </p:nvSpPr>
        <p:spPr>
          <a:xfrm>
            <a:off x="7086600" y="4505325"/>
            <a:ext cx="4210050" cy="285750"/>
          </a:xfrm>
          <a:prstGeom prst="rect">
            <a:avLst/>
          </a:prstGeom>
          <a:noFill/>
          <a:ln w="0">
            <a:noFill/>
            <a:prstDash val="solid"/>
          </a:ln>
        </p:spPr>
        <p:txBody>
          <a:bodyPr wrap="square" lIns="0" tIns="0" rIns="0" bIns="0" anchor="t">
            <a:no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fully reimbursed without a cap</a:t>
            </a:r>
          </a:p>
        </p:txBody>
      </p:sp>
      <p:sp>
        <p:nvSpPr>
          <p:cNvPr id="25" name="Straight Connector 24">
            <a:extLst>
              <a:ext uri="{FF2B5EF4-FFF2-40B4-BE49-F238E27FC236}">
                <a16:creationId xmlns:a16="http://schemas.microsoft.com/office/drawing/2014/main" id="{8D98A2F7-2A40-4E1B-9DED-4DD1A317AFB9}"/>
              </a:ext>
            </a:extLst>
          </p:cNvPr>
          <p:cNvSpPr>
            <a:spLocks noGrp="1"/>
          </p:cNvSpPr>
          <p:nvPr/>
        </p:nvSpPr>
        <p:spPr>
          <a:xfrm>
            <a:off x="5295900" y="4857750"/>
            <a:ext cx="6000750" cy="0"/>
          </a:xfrm>
          <a:prstGeom prst="line">
            <a:avLst/>
          </a:prstGeom>
          <a:noFill/>
          <a:ln w="9525">
            <a:solidFill>
              <a:srgbClr val="D7E3F4"/>
            </a:solidFill>
            <a:prstDash val="solid"/>
          </a:ln>
        </p:spPr>
      </p:sp>
      <p:sp>
        <p:nvSpPr>
          <p:cNvPr id="26" name="Rectangle 25">
            <a:extLst>
              <a:ext uri="{FF2B5EF4-FFF2-40B4-BE49-F238E27FC236}">
                <a16:creationId xmlns:a16="http://schemas.microsoft.com/office/drawing/2014/main" id="{8EA63F89-169F-4921-8238-ED5F4737B992}"/>
              </a:ext>
            </a:extLst>
          </p:cNvPr>
          <p:cNvSpPr>
            <a:spLocks noGrp="1"/>
          </p:cNvSpPr>
          <p:nvPr/>
        </p:nvSpPr>
        <p:spPr>
          <a:xfrm>
            <a:off x="5295900" y="5010150"/>
            <a:ext cx="1676400" cy="209550"/>
          </a:xfrm>
          <a:prstGeom prst="rect">
            <a:avLst/>
          </a:prstGeom>
          <a:noFill/>
          <a:ln w="0">
            <a:noFill/>
            <a:prstDash val="solid"/>
          </a:ln>
        </p:spPr>
        <p:txBody>
          <a:bodyPr wrap="square" lIns="0" tIns="0" rIns="0" bIns="0" anchor="t">
            <a:noAutofit/>
          </a:bodyPr>
          <a:lstStyle/>
          <a:p>
            <a:pPr algn="l">
              <a:buNone/>
              <a:defRPr sz="1200" b="1">
                <a:solidFill>
                  <a:srgbClr val="7357D9"/>
                </a:solidFill>
                <a:latin typeface="Arial"/>
                <a:ea typeface="Arial"/>
                <a:cs typeface="Arial"/>
              </a:defRPr>
            </a:pPr>
            <a:r>
              <a:rPr sz="1200" b="1">
                <a:solidFill>
                  <a:srgbClr val="7357D9"/>
                </a:solidFill>
                <a:latin typeface="Arial"/>
                <a:ea typeface="Arial"/>
                <a:cs typeface="Arial"/>
              </a:rPr>
              <a:t>GOVERNANCE</a:t>
            </a:r>
          </a:p>
        </p:txBody>
      </p:sp>
      <p:sp>
        <p:nvSpPr>
          <p:cNvPr id="27" name="Rectangle 26">
            <a:extLst>
              <a:ext uri="{FF2B5EF4-FFF2-40B4-BE49-F238E27FC236}">
                <a16:creationId xmlns:a16="http://schemas.microsoft.com/office/drawing/2014/main" id="{DAA6DA9F-63F2-48F8-B3E5-2E032C502FDA}"/>
              </a:ext>
            </a:extLst>
          </p:cNvPr>
          <p:cNvSpPr>
            <a:spLocks noGrp="1"/>
          </p:cNvSpPr>
          <p:nvPr/>
        </p:nvSpPr>
        <p:spPr>
          <a:xfrm>
            <a:off x="7086600" y="4981575"/>
            <a:ext cx="4210050" cy="285750"/>
          </a:xfrm>
          <a:prstGeom prst="rect">
            <a:avLst/>
          </a:prstGeom>
          <a:noFill/>
          <a:ln w="0">
            <a:noFill/>
            <a:prstDash val="solid"/>
          </a:ln>
        </p:spPr>
        <p:txBody>
          <a:bodyPr wrap="square" lIns="0" tIns="0" rIns="0" bIns="0" anchor="t">
            <a:no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evidence · confidence · permission · owner</a:t>
            </a:r>
          </a:p>
        </p:txBody>
      </p:sp>
      <p:sp>
        <p:nvSpPr>
          <p:cNvPr id="28" name="Rectangle 27">
            <a:extLst>
              <a:ext uri="{FF2B5EF4-FFF2-40B4-BE49-F238E27FC236}">
                <a16:creationId xmlns:a16="http://schemas.microsoft.com/office/drawing/2014/main" id="{7B9C30B1-7E64-456A-A66A-D053BB6D4187}"/>
              </a:ext>
            </a:extLst>
          </p:cNvPr>
          <p:cNvSpPr>
            <a:spLocks noGrp="1"/>
          </p:cNvSpPr>
          <p:nvPr/>
        </p:nvSpPr>
        <p:spPr>
          <a:xfrm>
            <a:off x="5010150" y="5905500"/>
            <a:ext cx="6686550" cy="285750"/>
          </a:xfrm>
          <a:prstGeom prst="rect">
            <a:avLst/>
          </a:prstGeom>
          <a:noFill/>
          <a:ln w="0">
            <a:noFill/>
            <a:prstDash val="solid"/>
          </a:ln>
        </p:spPr>
        <p:txBody>
          <a:bodyPr wrap="square" lIns="0" tIns="0" rIns="0" bIns="0" anchor="t">
            <a:noAutofit/>
          </a:bodyPr>
          <a:lstStyle/>
          <a:p>
            <a:pPr algn="ctr">
              <a:buNone/>
              <a:defRPr sz="1800" b="1">
                <a:solidFill>
                  <a:srgbClr val="1357B8"/>
                </a:solidFill>
                <a:latin typeface="Arial"/>
                <a:ea typeface="Arial"/>
                <a:cs typeface="Arial"/>
              </a:defRPr>
            </a:pPr>
            <a:r>
              <a:rPr sz="1800" b="1">
                <a:solidFill>
                  <a:srgbClr val="1357B8"/>
                </a:solidFill>
                <a:latin typeface="Arial"/>
                <a:ea typeface="Arial"/>
                <a:cs typeface="Arial"/>
              </a:rPr>
              <a:t>The boundary is the memory object.</a:t>
            </a:r>
          </a:p>
        </p:txBody>
      </p:sp>
    </p:spTree>
    <p:extLst>
      <p:ext uri="{BB962C8B-B14F-4D97-AF65-F5344CB8AC3E}">
        <p14:creationId xmlns:p14="http://schemas.microsoft.com/office/powerpoint/2010/main" val="321804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kicker-11">
            <a:extLst>
              <a:ext uri="{FF2B5EF4-FFF2-40B4-BE49-F238E27FC236}">
                <a16:creationId xmlns:a16="http://schemas.microsoft.com/office/drawing/2014/main" id="{F19AF3E3-20D3-4C43-86EA-B58AB100C475}"/>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4 · MEMORY ARTIFACT</a:t>
            </a:r>
          </a:p>
        </p:txBody>
      </p:sp>
      <p:sp>
        <p:nvSpPr>
          <p:cNvPr id="2" name="title-11">
            <a:extLst>
              <a:ext uri="{FF2B5EF4-FFF2-40B4-BE49-F238E27FC236}">
                <a16:creationId xmlns:a16="http://schemas.microsoft.com/office/drawing/2014/main" id="{7CD535B7-BC7B-4457-A54F-47B8051AEEC2}"/>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The JSON makes the boundary auditable</a:t>
            </a:r>
          </a:p>
        </p:txBody>
      </p:sp>
      <p:sp>
        <p:nvSpPr>
          <p:cNvPr id="3" name="Straight Connector 2">
            <a:extLst>
              <a:ext uri="{FF2B5EF4-FFF2-40B4-BE49-F238E27FC236}">
                <a16:creationId xmlns:a16="http://schemas.microsoft.com/office/drawing/2014/main" id="{2658AEFA-443F-4D84-BDB8-D50DC78DDFF6}"/>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BA1D2A3C-B31F-4212-A61D-950EB8D33556}"/>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11</a:t>
            </a:r>
          </a:p>
        </p:txBody>
      </p:sp>
      <p:sp>
        <p:nvSpPr>
          <p:cNvPr id="5" name="Rectangle 4">
            <a:extLst>
              <a:ext uri="{FF2B5EF4-FFF2-40B4-BE49-F238E27FC236}">
                <a16:creationId xmlns:a16="http://schemas.microsoft.com/office/drawing/2014/main" id="{D74651E3-88C5-4B20-AF4D-83C934C78175}"/>
              </a:ext>
            </a:extLst>
          </p:cNvPr>
          <p:cNvSpPr>
            <a:spLocks noGrp="1"/>
          </p:cNvSpPr>
          <p:nvPr/>
        </p:nvSpPr>
        <p:spPr>
          <a:xfrm>
            <a:off x="495300" y="1524000"/>
            <a:ext cx="7067550" cy="4629150"/>
          </a:xfrm>
          <a:prstGeom prst="rect">
            <a:avLst/>
          </a:prstGeom>
          <a:solidFill>
            <a:srgbClr val="F5F7FA"/>
          </a:solidFill>
          <a:ln w="9525">
            <a:solidFill>
              <a:srgbClr val="C9CED8"/>
            </a:solidFill>
            <a:prstDash val="solid"/>
          </a:ln>
        </p:spPr>
      </p:sp>
      <p:sp>
        <p:nvSpPr>
          <p:cNvPr id="6" name="Rectangle 5">
            <a:extLst>
              <a:ext uri="{FF2B5EF4-FFF2-40B4-BE49-F238E27FC236}">
                <a16:creationId xmlns:a16="http://schemas.microsoft.com/office/drawing/2014/main" id="{E2BA1B21-1AC3-47AB-946F-8170FAF2B18E}"/>
              </a:ext>
            </a:extLst>
          </p:cNvPr>
          <p:cNvSpPr>
            <a:spLocks noGrp="1"/>
          </p:cNvSpPr>
          <p:nvPr/>
        </p:nvSpPr>
        <p:spPr>
          <a:xfrm>
            <a:off x="742950" y="1771650"/>
            <a:ext cx="6572250" cy="4133850"/>
          </a:xfrm>
          <a:prstGeom prst="rect">
            <a:avLst/>
          </a:prstGeom>
          <a:noFill/>
          <a:ln w="0">
            <a:noFill/>
            <a:prstDash val="solid"/>
          </a:ln>
        </p:spPr>
        <p:txBody>
          <a:bodyPr wrap="square" lIns="0" tIns="0" rIns="0" bIns="0" anchor="t">
            <a:noAutofit/>
          </a:bodyPr>
          <a:lstStyle/>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"preference": "budget-conscious accommodation",</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"family": "travel_budget",</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"owner": "user",</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"information_type": "temporary_constraint",</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"profile_variant": "scoped",</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"applies_when": "self-funded or capped trip",</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"does_not_apply_when": "fully reimbursed, no cap",</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"temporal_validity": "context-dependent",</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"confidence": 0.93,</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"evidence": ["cap is strict", "only for this trip"],</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  "permission": "response_personalization"</a:t>
            </a:r>
          </a:p>
          <a:p>
            <a:pPr algn="l">
              <a:buNone/>
              <a:defRPr sz="1538" b="0">
                <a:solidFill>
                  <a:srgbClr val="0A1020"/>
                </a:solidFill>
                <a:latin typeface="Courier New"/>
                <a:ea typeface="Courier New"/>
                <a:cs typeface="Courier New"/>
              </a:defRPr>
            </a:pPr>
            <a:r>
              <a:rPr sz="1538" b="0">
                <a:solidFill>
                  <a:srgbClr val="0A1020"/>
                </a:solidFill>
                <a:latin typeface="Courier New"/>
                <a:ea typeface="Courier New"/>
                <a:cs typeface="Courier New"/>
              </a:rPr>
              <a:t>}</a:t>
            </a:r>
          </a:p>
        </p:txBody>
      </p:sp>
      <p:sp>
        <p:nvSpPr>
          <p:cNvPr id="7" name="Rectangle 6">
            <a:extLst>
              <a:ext uri="{FF2B5EF4-FFF2-40B4-BE49-F238E27FC236}">
                <a16:creationId xmlns:a16="http://schemas.microsoft.com/office/drawing/2014/main" id="{B0319A42-1E9B-4828-A9E5-9A49F0B0ACD1}"/>
              </a:ext>
            </a:extLst>
          </p:cNvPr>
          <p:cNvSpPr>
            <a:spLocks noGrp="1"/>
          </p:cNvSpPr>
          <p:nvPr/>
        </p:nvSpPr>
        <p:spPr>
          <a:xfrm>
            <a:off x="7981950" y="1619250"/>
            <a:ext cx="285750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HOW IT IS BUILT</a:t>
            </a:r>
          </a:p>
        </p:txBody>
      </p:sp>
      <p:sp>
        <p:nvSpPr>
          <p:cNvPr id="8" name="Rectangle 7">
            <a:extLst>
              <a:ext uri="{FF2B5EF4-FFF2-40B4-BE49-F238E27FC236}">
                <a16:creationId xmlns:a16="http://schemas.microsoft.com/office/drawing/2014/main" id="{DAAEFB49-660B-4D73-9144-82FC2CB2EF70}"/>
              </a:ext>
            </a:extLst>
          </p:cNvPr>
          <p:cNvSpPr>
            <a:spLocks noGrp="1"/>
          </p:cNvSpPr>
          <p:nvPr/>
        </p:nvSpPr>
        <p:spPr>
          <a:xfrm>
            <a:off x="7981950" y="2095500"/>
            <a:ext cx="3486150" cy="3143250"/>
          </a:xfrm>
          <a:prstGeom prst="rect">
            <a:avLst/>
          </a:prstGeom>
          <a:noFill/>
          <a:ln w="0">
            <a:noFill/>
            <a:prstDash val="solid"/>
          </a:ln>
        </p:spPr>
        <p:txBody>
          <a:bodyPr wrap="square" lIns="0" tIns="0" rIns="0" bIns="0" anchor="t">
            <a:normAutofit/>
          </a:bodyPr>
          <a:lstStyle/>
          <a:p>
            <a:pPr marL="22" indent="-12" algn="l">
              <a:spcAft>
                <a:spcPts val="14"/>
              </a:spcAft>
              <a:buChar char="•"/>
              <a:defRPr sz="1650" b="0">
                <a:solidFill>
                  <a:srgbClr val="0A1020"/>
                </a:solidFill>
                <a:latin typeface="Arial"/>
                <a:ea typeface="Arial"/>
                <a:cs typeface="Arial"/>
              </a:defRPr>
            </a:pPr>
            <a:r>
              <a:rPr sz="1650" b="0">
                <a:solidFill>
                  <a:srgbClr val="0A1020"/>
                </a:solidFill>
                <a:latin typeface="Arial"/>
                <a:ea typeface="Arial"/>
                <a:cs typeface="Arial"/>
              </a:rPr>
              <a:t>Evidence: select the relevant history sentences.</a:t>
            </a:r>
          </a:p>
          <a:p>
            <a:pPr marL="22" indent="-12" algn="l">
              <a:spcAft>
                <a:spcPts val="14"/>
              </a:spcAft>
              <a:buChar char="•"/>
              <a:defRPr sz="1650" b="0">
                <a:solidFill>
                  <a:srgbClr val="0A1020"/>
                </a:solidFill>
                <a:latin typeface="Arial"/>
                <a:ea typeface="Arial"/>
                <a:cs typeface="Arial"/>
              </a:defRPr>
            </a:pPr>
            <a:r>
              <a:rPr sz="1650" b="0">
                <a:solidFill>
                  <a:srgbClr val="0A1020"/>
                </a:solidFill>
                <a:latin typeface="Arial"/>
                <a:ea typeface="Arial"/>
                <a:cs typeface="Arial"/>
              </a:rPr>
              <a:t>Why: classify trait vs temporary, contextual, goal, or other-owner information.</a:t>
            </a:r>
          </a:p>
          <a:p>
            <a:pPr marL="22" indent="-12" algn="l">
              <a:spcAft>
                <a:spcPts val="14"/>
              </a:spcAft>
              <a:buChar char="•"/>
              <a:defRPr sz="1650" b="0">
                <a:solidFill>
                  <a:srgbClr val="0A1020"/>
                </a:solidFill>
                <a:latin typeface="Arial"/>
                <a:ea typeface="Arial"/>
                <a:cs typeface="Arial"/>
              </a:defRPr>
            </a:pPr>
            <a:r>
              <a:rPr sz="1650" b="0">
                <a:solidFill>
                  <a:srgbClr val="0A1020"/>
                </a:solidFill>
                <a:latin typeface="Arial"/>
                <a:ea typeface="Arial"/>
                <a:cs typeface="Arial"/>
              </a:rPr>
              <a:t>Scope: store both valid and invalid contexts.</a:t>
            </a:r>
          </a:p>
          <a:p>
            <a:pPr marL="22" indent="-12" algn="l">
              <a:spcAft>
                <a:spcPts val="14"/>
              </a:spcAft>
              <a:buChar char="•"/>
              <a:defRPr sz="1650" b="0">
                <a:solidFill>
                  <a:srgbClr val="0A1020"/>
                </a:solidFill>
                <a:latin typeface="Arial"/>
                <a:ea typeface="Arial"/>
                <a:cs typeface="Arial"/>
              </a:defRPr>
            </a:pPr>
            <a:r>
              <a:rPr sz="1650" b="0">
                <a:solidFill>
                  <a:srgbClr val="0A1020"/>
                </a:solidFill>
                <a:latin typeface="Arial"/>
                <a:ea typeface="Arial"/>
                <a:cs typeface="Arial"/>
              </a:rPr>
              <a:t>Governance: retain owner, confidence, provenance, and permission.</a:t>
            </a:r>
          </a:p>
        </p:txBody>
      </p:sp>
      <p:sp>
        <p:nvSpPr>
          <p:cNvPr id="9" name="Rectangle 8">
            <a:extLst>
              <a:ext uri="{FF2B5EF4-FFF2-40B4-BE49-F238E27FC236}">
                <a16:creationId xmlns:a16="http://schemas.microsoft.com/office/drawing/2014/main" id="{255F4FB1-F5A2-4426-A14E-36D0FF0A1124}"/>
              </a:ext>
            </a:extLst>
          </p:cNvPr>
          <p:cNvSpPr>
            <a:spLocks noGrp="1"/>
          </p:cNvSpPr>
          <p:nvPr/>
        </p:nvSpPr>
        <p:spPr>
          <a:xfrm>
            <a:off x="7981950" y="5448300"/>
            <a:ext cx="3486150" cy="704850"/>
          </a:xfrm>
          <a:prstGeom prst="rect">
            <a:avLst/>
          </a:prstGeom>
          <a:solidFill>
            <a:srgbClr val="EAF3FF"/>
          </a:solidFill>
          <a:ln w="9525">
            <a:solidFill>
              <a:srgbClr val="3D8DFF"/>
            </a:solidFill>
            <a:prstDash val="solid"/>
          </a:ln>
        </p:spPr>
      </p:sp>
      <p:sp>
        <p:nvSpPr>
          <p:cNvPr id="10" name="Rectangle 9">
            <a:extLst>
              <a:ext uri="{FF2B5EF4-FFF2-40B4-BE49-F238E27FC236}">
                <a16:creationId xmlns:a16="http://schemas.microsoft.com/office/drawing/2014/main" id="{DD2FC05F-B596-41F8-9960-9C3E04D162BE}"/>
              </a:ext>
            </a:extLst>
          </p:cNvPr>
          <p:cNvSpPr>
            <a:spLocks noGrp="1"/>
          </p:cNvSpPr>
          <p:nvPr/>
        </p:nvSpPr>
        <p:spPr>
          <a:xfrm>
            <a:off x="8172450" y="5619750"/>
            <a:ext cx="3105150" cy="400050"/>
          </a:xfrm>
          <a:prstGeom prst="rect">
            <a:avLst/>
          </a:prstGeom>
          <a:noFill/>
          <a:ln w="0">
            <a:noFill/>
            <a:prstDash val="solid"/>
          </a:ln>
        </p:spPr>
        <p:txBody>
          <a:bodyPr wrap="square" lIns="0" tIns="0" rIns="0" bIns="0" anchor="t">
            <a:normAutofit fontScale="83333"/>
          </a:bodyPr>
          <a:lstStyle/>
          <a:p>
            <a:pPr algn="ctr">
              <a:buNone/>
              <a:defRPr sz="1575" b="1">
                <a:solidFill>
                  <a:srgbClr val="1357B8"/>
                </a:solidFill>
                <a:latin typeface="Arial"/>
                <a:ea typeface="Arial"/>
                <a:cs typeface="Arial"/>
              </a:defRPr>
            </a:pPr>
            <a:r>
              <a:rPr sz="1575" b="1">
                <a:solidFill>
                  <a:srgbClr val="1357B8"/>
                </a:solidFill>
                <a:latin typeface="Arial"/>
                <a:ea typeface="Arial"/>
                <a:cs typeface="Arial"/>
              </a:rPr>
              <a:t>The object is inspectable before the model acts.</a:t>
            </a:r>
          </a:p>
        </p:txBody>
      </p:sp>
    </p:spTree>
    <p:extLst>
      <p:ext uri="{BB962C8B-B14F-4D97-AF65-F5344CB8AC3E}">
        <p14:creationId xmlns:p14="http://schemas.microsoft.com/office/powerpoint/2010/main" val="587886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kicker-12">
            <a:extLst>
              <a:ext uri="{FF2B5EF4-FFF2-40B4-BE49-F238E27FC236}">
                <a16:creationId xmlns:a16="http://schemas.microsoft.com/office/drawing/2014/main" id="{CABE7B67-A3D4-4FC6-A085-3A51CDAFC4AE}"/>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4 · POLICY</a:t>
            </a:r>
          </a:p>
        </p:txBody>
      </p:sp>
      <p:sp>
        <p:nvSpPr>
          <p:cNvPr id="2" name="title-12">
            <a:extLst>
              <a:ext uri="{FF2B5EF4-FFF2-40B4-BE49-F238E27FC236}">
                <a16:creationId xmlns:a16="http://schemas.microsoft.com/office/drawing/2014/main" id="{BC094B30-96F7-47E7-A976-040BD127259E}"/>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One controller maps context to three actions</a:t>
            </a:r>
          </a:p>
        </p:txBody>
      </p:sp>
      <p:sp>
        <p:nvSpPr>
          <p:cNvPr id="3" name="Straight Connector 2">
            <a:extLst>
              <a:ext uri="{FF2B5EF4-FFF2-40B4-BE49-F238E27FC236}">
                <a16:creationId xmlns:a16="http://schemas.microsoft.com/office/drawing/2014/main" id="{64667EE4-56F0-4F74-BD8B-F43410B5E37F}"/>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8C5E7EF0-2AC0-4926-AAE7-A9E0BD953AC5}"/>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12</a:t>
            </a:r>
          </a:p>
        </p:txBody>
      </p:sp>
      <p:sp>
        <p:nvSpPr>
          <p:cNvPr id="5" name="Rectangle 4">
            <a:extLst>
              <a:ext uri="{FF2B5EF4-FFF2-40B4-BE49-F238E27FC236}">
                <a16:creationId xmlns:a16="http://schemas.microsoft.com/office/drawing/2014/main" id="{2A4AC3CB-047F-4100-93A1-0449B03D6DE0}"/>
              </a:ext>
            </a:extLst>
          </p:cNvPr>
          <p:cNvSpPr>
            <a:spLocks noGrp="1"/>
          </p:cNvSpPr>
          <p:nvPr/>
        </p:nvSpPr>
        <p:spPr>
          <a:xfrm>
            <a:off x="495300" y="1676400"/>
            <a:ext cx="2381250" cy="4000500"/>
          </a:xfrm>
          <a:prstGeom prst="rect">
            <a:avLst/>
          </a:prstGeom>
          <a:solidFill>
            <a:srgbClr val="EAF3FF"/>
          </a:solidFill>
          <a:ln w="14288">
            <a:solidFill>
              <a:srgbClr val="3D8DFF"/>
            </a:solidFill>
            <a:prstDash val="solid"/>
          </a:ln>
        </p:spPr>
      </p:sp>
      <p:sp>
        <p:nvSpPr>
          <p:cNvPr id="6" name="Rectangle 5">
            <a:extLst>
              <a:ext uri="{FF2B5EF4-FFF2-40B4-BE49-F238E27FC236}">
                <a16:creationId xmlns:a16="http://schemas.microsoft.com/office/drawing/2014/main" id="{8223C48A-10A7-4BA0-8642-B469CF950331}"/>
              </a:ext>
            </a:extLst>
          </p:cNvPr>
          <p:cNvSpPr>
            <a:spLocks noGrp="1"/>
          </p:cNvSpPr>
          <p:nvPr/>
        </p:nvSpPr>
        <p:spPr>
          <a:xfrm>
            <a:off x="742950" y="1962150"/>
            <a:ext cx="152400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INPUT</a:t>
            </a:r>
          </a:p>
        </p:txBody>
      </p:sp>
      <p:sp>
        <p:nvSpPr>
          <p:cNvPr id="7" name="Rectangle 6">
            <a:extLst>
              <a:ext uri="{FF2B5EF4-FFF2-40B4-BE49-F238E27FC236}">
                <a16:creationId xmlns:a16="http://schemas.microsoft.com/office/drawing/2014/main" id="{4C7295C0-E754-488A-A4EC-B0D27A0BBD6D}"/>
              </a:ext>
            </a:extLst>
          </p:cNvPr>
          <p:cNvSpPr>
            <a:spLocks noGrp="1"/>
          </p:cNvSpPr>
          <p:nvPr/>
        </p:nvSpPr>
        <p:spPr>
          <a:xfrm>
            <a:off x="742950" y="2514600"/>
            <a:ext cx="1809750" cy="609600"/>
          </a:xfrm>
          <a:prstGeom prst="rect">
            <a:avLst/>
          </a:prstGeom>
          <a:noFill/>
          <a:ln w="0">
            <a:noFill/>
            <a:prstDash val="solid"/>
          </a:ln>
        </p:spPr>
        <p:txBody>
          <a:bodyPr wrap="square" lIns="0" tIns="0" rIns="0" bIns="0" anchor="t">
            <a:normAutofit fontScale="95238"/>
          </a:bodyPr>
          <a:lstStyle/>
          <a:p>
            <a:pPr algn="l">
              <a:buNone/>
              <a:defRPr sz="2100" b="1">
                <a:solidFill>
                  <a:srgbClr val="0A1020"/>
                </a:solidFill>
                <a:latin typeface="Arial"/>
                <a:ea typeface="Arial"/>
                <a:cs typeface="Arial"/>
              </a:defRPr>
            </a:pPr>
            <a:r>
              <a:rPr sz="2100" b="1">
                <a:solidFill>
                  <a:srgbClr val="0A1020"/>
                </a:solidFill>
                <a:latin typeface="Arial"/>
                <a:ea typeface="Arial"/>
                <a:cs typeface="Arial"/>
              </a:rPr>
              <a:t>Structured memory</a:t>
            </a:r>
          </a:p>
        </p:txBody>
      </p:sp>
      <p:sp>
        <p:nvSpPr>
          <p:cNvPr id="8" name="Rectangle 7">
            <a:extLst>
              <a:ext uri="{FF2B5EF4-FFF2-40B4-BE49-F238E27FC236}">
                <a16:creationId xmlns:a16="http://schemas.microsoft.com/office/drawing/2014/main" id="{DD2655AA-EC56-4BFC-A414-6EE801C7E0D7}"/>
              </a:ext>
            </a:extLst>
          </p:cNvPr>
          <p:cNvSpPr>
            <a:spLocks noGrp="1"/>
          </p:cNvSpPr>
          <p:nvPr/>
        </p:nvSpPr>
        <p:spPr>
          <a:xfrm>
            <a:off x="742950" y="3352800"/>
            <a:ext cx="1809750" cy="381000"/>
          </a:xfrm>
          <a:prstGeom prst="rect">
            <a:avLst/>
          </a:prstGeom>
          <a:noFill/>
          <a:ln w="0">
            <a:noFill/>
            <a:prstDash val="solid"/>
          </a:ln>
        </p:spPr>
        <p:txBody>
          <a:bodyPr wrap="square" lIns="0" tIns="0" rIns="0" bIns="0" anchor="t">
            <a:noAutofit/>
          </a:bodyPr>
          <a:lstStyle/>
          <a:p>
            <a:pPr algn="ctr">
              <a:buNone/>
              <a:defRPr sz="2700" b="1">
                <a:solidFill>
                  <a:srgbClr val="3D8DFF"/>
                </a:solidFill>
                <a:latin typeface="Arial"/>
                <a:ea typeface="Arial"/>
                <a:cs typeface="Arial"/>
              </a:defRPr>
            </a:pPr>
            <a:r>
              <a:rPr sz="2700" b="1">
                <a:solidFill>
                  <a:srgbClr val="3D8DFF"/>
                </a:solidFill>
                <a:latin typeface="Arial"/>
                <a:ea typeface="Arial"/>
                <a:cs typeface="Arial"/>
              </a:rPr>
              <a:t>+</a:t>
            </a:r>
          </a:p>
        </p:txBody>
      </p:sp>
      <p:sp>
        <p:nvSpPr>
          <p:cNvPr id="9" name="Rectangle 8">
            <a:extLst>
              <a:ext uri="{FF2B5EF4-FFF2-40B4-BE49-F238E27FC236}">
                <a16:creationId xmlns:a16="http://schemas.microsoft.com/office/drawing/2014/main" id="{0B787736-F2B8-401A-AB3F-0B914C07AEF8}"/>
              </a:ext>
            </a:extLst>
          </p:cNvPr>
          <p:cNvSpPr>
            <a:spLocks noGrp="1"/>
          </p:cNvSpPr>
          <p:nvPr/>
        </p:nvSpPr>
        <p:spPr>
          <a:xfrm>
            <a:off x="742950" y="4000500"/>
            <a:ext cx="1809750" cy="609600"/>
          </a:xfrm>
          <a:prstGeom prst="rect">
            <a:avLst/>
          </a:prstGeom>
          <a:noFill/>
          <a:ln w="0">
            <a:noFill/>
            <a:prstDash val="solid"/>
          </a:ln>
        </p:spPr>
        <p:txBody>
          <a:bodyPr wrap="square" lIns="0" tIns="0" rIns="0" bIns="0" anchor="t">
            <a:normAutofit/>
          </a:bodyPr>
          <a:lstStyle/>
          <a:p>
            <a:pPr algn="l">
              <a:buNone/>
              <a:defRPr sz="2100" b="1">
                <a:solidFill>
                  <a:srgbClr val="0A1020"/>
                </a:solidFill>
                <a:latin typeface="Arial"/>
                <a:ea typeface="Arial"/>
                <a:cs typeface="Arial"/>
              </a:defRPr>
            </a:pPr>
            <a:r>
              <a:rPr sz="2100" b="1">
                <a:solidFill>
                  <a:srgbClr val="0A1020"/>
                </a:solidFill>
                <a:latin typeface="Arial"/>
                <a:ea typeface="Arial"/>
                <a:cs typeface="Arial"/>
              </a:rPr>
              <a:t>Current query</a:t>
            </a:r>
          </a:p>
        </p:txBody>
      </p:sp>
      <p:sp>
        <p:nvSpPr>
          <p:cNvPr id="10" name="Rectangle 9">
            <a:extLst>
              <a:ext uri="{FF2B5EF4-FFF2-40B4-BE49-F238E27FC236}">
                <a16:creationId xmlns:a16="http://schemas.microsoft.com/office/drawing/2014/main" id="{4CA8E9F2-ED27-4AB0-A39F-029A11E73412}"/>
              </a:ext>
            </a:extLst>
          </p:cNvPr>
          <p:cNvSpPr>
            <a:spLocks noGrp="1"/>
          </p:cNvSpPr>
          <p:nvPr/>
        </p:nvSpPr>
        <p:spPr>
          <a:xfrm>
            <a:off x="742950" y="4857750"/>
            <a:ext cx="1809750" cy="609600"/>
          </a:xfrm>
          <a:prstGeom prst="rect">
            <a:avLst/>
          </a:prstGeom>
          <a:noFill/>
          <a:ln w="0">
            <a:noFill/>
            <a:prstDash val="solid"/>
          </a:ln>
        </p:spPr>
        <p:txBody>
          <a:bodyPr wrap="square" lIns="0" tIns="0" rIns="0" bIns="0" anchor="t">
            <a:normAutofit fontScale="93567"/>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Compare query context with the positive and negative scope.</a:t>
            </a:r>
          </a:p>
        </p:txBody>
      </p:sp>
      <p:sp>
        <p:nvSpPr>
          <p:cNvPr id="11" name="Arrow: Right 10">
            <a:extLst>
              <a:ext uri="{FF2B5EF4-FFF2-40B4-BE49-F238E27FC236}">
                <a16:creationId xmlns:a16="http://schemas.microsoft.com/office/drawing/2014/main" id="{4D4643BB-5879-4D4C-A41B-93A2DC6413C2}"/>
              </a:ext>
            </a:extLst>
          </p:cNvPr>
          <p:cNvSpPr>
            <a:spLocks noGrp="1"/>
          </p:cNvSpPr>
          <p:nvPr/>
        </p:nvSpPr>
        <p:spPr>
          <a:xfrm>
            <a:off x="3105150" y="2152650"/>
            <a:ext cx="495300" cy="266700"/>
          </a:xfrm>
          <a:prstGeom prst="rightArrow">
            <a:avLst/>
          </a:prstGeom>
          <a:solidFill>
            <a:srgbClr val="159A7D"/>
          </a:solidFill>
          <a:ln w="0">
            <a:solidFill>
              <a:srgbClr val="159A7D"/>
            </a:solidFill>
            <a:prstDash val="solid"/>
          </a:ln>
        </p:spPr>
      </p:sp>
      <p:sp>
        <p:nvSpPr>
          <p:cNvPr id="12" name="Arrow: Right 11">
            <a:extLst>
              <a:ext uri="{FF2B5EF4-FFF2-40B4-BE49-F238E27FC236}">
                <a16:creationId xmlns:a16="http://schemas.microsoft.com/office/drawing/2014/main" id="{6AAA482D-DE49-4DE5-AA5C-4FFD35FC43B3}"/>
              </a:ext>
            </a:extLst>
          </p:cNvPr>
          <p:cNvSpPr>
            <a:spLocks noGrp="1"/>
          </p:cNvSpPr>
          <p:nvPr/>
        </p:nvSpPr>
        <p:spPr>
          <a:xfrm>
            <a:off x="3105150" y="3600450"/>
            <a:ext cx="495300" cy="266700"/>
          </a:xfrm>
          <a:prstGeom prst="rightArrow">
            <a:avLst/>
          </a:prstGeom>
          <a:solidFill>
            <a:srgbClr val="5F6878"/>
          </a:solidFill>
          <a:ln w="0">
            <a:solidFill>
              <a:srgbClr val="5F6878"/>
            </a:solidFill>
            <a:prstDash val="solid"/>
          </a:ln>
        </p:spPr>
      </p:sp>
      <p:sp>
        <p:nvSpPr>
          <p:cNvPr id="13" name="Arrow: Right 12">
            <a:extLst>
              <a:ext uri="{FF2B5EF4-FFF2-40B4-BE49-F238E27FC236}">
                <a16:creationId xmlns:a16="http://schemas.microsoft.com/office/drawing/2014/main" id="{0861F3A7-ED9F-4580-A267-0C012FC8C153}"/>
              </a:ext>
            </a:extLst>
          </p:cNvPr>
          <p:cNvSpPr>
            <a:spLocks noGrp="1"/>
          </p:cNvSpPr>
          <p:nvPr/>
        </p:nvSpPr>
        <p:spPr>
          <a:xfrm>
            <a:off x="3105150" y="5048250"/>
            <a:ext cx="495300" cy="266700"/>
          </a:xfrm>
          <a:prstGeom prst="rightArrow">
            <a:avLst/>
          </a:prstGeom>
          <a:solidFill>
            <a:srgbClr val="C98500"/>
          </a:solidFill>
          <a:ln w="0">
            <a:solidFill>
              <a:srgbClr val="C98500"/>
            </a:solidFill>
            <a:prstDash val="solid"/>
          </a:ln>
        </p:spPr>
      </p:sp>
      <p:sp>
        <p:nvSpPr>
          <p:cNvPr id="14" name="Rectangle 13">
            <a:extLst>
              <a:ext uri="{FF2B5EF4-FFF2-40B4-BE49-F238E27FC236}">
                <a16:creationId xmlns:a16="http://schemas.microsoft.com/office/drawing/2014/main" id="{AF6974BF-4D96-4B1E-B3B6-3878CD94E007}"/>
              </a:ext>
            </a:extLst>
          </p:cNvPr>
          <p:cNvSpPr>
            <a:spLocks noGrp="1"/>
          </p:cNvSpPr>
          <p:nvPr/>
        </p:nvSpPr>
        <p:spPr>
          <a:xfrm>
            <a:off x="3771900" y="1714500"/>
            <a:ext cx="7924800" cy="1219200"/>
          </a:xfrm>
          <a:prstGeom prst="rect">
            <a:avLst/>
          </a:prstGeom>
          <a:solidFill>
            <a:srgbClr val="E6F6F2"/>
          </a:solidFill>
          <a:ln w="14288">
            <a:solidFill>
              <a:srgbClr val="159A7D"/>
            </a:solidFill>
            <a:prstDash val="solid"/>
          </a:ln>
        </p:spPr>
      </p:sp>
      <p:sp>
        <p:nvSpPr>
          <p:cNvPr id="15" name="Rectangle 14">
            <a:extLst>
              <a:ext uri="{FF2B5EF4-FFF2-40B4-BE49-F238E27FC236}">
                <a16:creationId xmlns:a16="http://schemas.microsoft.com/office/drawing/2014/main" id="{9870F9C3-4331-48B7-8FBC-AD4235249ECE}"/>
              </a:ext>
            </a:extLst>
          </p:cNvPr>
          <p:cNvSpPr>
            <a:spLocks noGrp="1"/>
          </p:cNvSpPr>
          <p:nvPr/>
        </p:nvSpPr>
        <p:spPr>
          <a:xfrm>
            <a:off x="4019550" y="1885950"/>
            <a:ext cx="2476500" cy="247650"/>
          </a:xfrm>
          <a:prstGeom prst="rect">
            <a:avLst/>
          </a:prstGeom>
          <a:noFill/>
          <a:ln w="0">
            <a:noFill/>
            <a:prstDash val="solid"/>
          </a:ln>
        </p:spPr>
        <p:txBody>
          <a:bodyPr wrap="square" lIns="0" tIns="0" rIns="0" bIns="0" anchor="t">
            <a:noAutofit/>
          </a:bodyPr>
          <a:lstStyle/>
          <a:p>
            <a:pPr algn="l">
              <a:buNone/>
              <a:defRPr sz="1350" b="1">
                <a:solidFill>
                  <a:srgbClr val="159A7D"/>
                </a:solidFill>
                <a:latin typeface="Arial"/>
                <a:ea typeface="Arial"/>
                <a:cs typeface="Arial"/>
              </a:defRPr>
            </a:pPr>
            <a:r>
              <a:rPr sz="1350" b="1">
                <a:solidFill>
                  <a:srgbClr val="159A7D"/>
                </a:solidFill>
                <a:latin typeface="Arial"/>
                <a:ea typeface="Arial"/>
                <a:cs typeface="Arial"/>
              </a:rPr>
              <a:t>RELATION = MATCH</a:t>
            </a:r>
          </a:p>
        </p:txBody>
      </p:sp>
      <p:sp>
        <p:nvSpPr>
          <p:cNvPr id="16" name="Rectangle 15">
            <a:extLst>
              <a:ext uri="{FF2B5EF4-FFF2-40B4-BE49-F238E27FC236}">
                <a16:creationId xmlns:a16="http://schemas.microsoft.com/office/drawing/2014/main" id="{6C32B928-A6D6-4A74-BCA7-0B51FCD2C5F8}"/>
              </a:ext>
            </a:extLst>
          </p:cNvPr>
          <p:cNvSpPr>
            <a:spLocks noGrp="1"/>
          </p:cNvSpPr>
          <p:nvPr/>
        </p:nvSpPr>
        <p:spPr>
          <a:xfrm>
            <a:off x="4019550" y="2286000"/>
            <a:ext cx="1619250" cy="361950"/>
          </a:xfrm>
          <a:prstGeom prst="rect">
            <a:avLst/>
          </a:prstGeom>
          <a:noFill/>
          <a:ln w="0">
            <a:noFill/>
            <a:prstDash val="solid"/>
          </a:ln>
        </p:spPr>
        <p:txBody>
          <a:bodyPr wrap="square" lIns="0" tIns="0" rIns="0" bIns="0" anchor="t">
            <a:noAutofit/>
          </a:bodyPr>
          <a:lstStyle/>
          <a:p>
            <a:pPr algn="l">
              <a:buNone/>
              <a:defRPr sz="2250" b="1">
                <a:solidFill>
                  <a:srgbClr val="159A7D"/>
                </a:solidFill>
                <a:latin typeface="Arial"/>
                <a:ea typeface="Arial"/>
                <a:cs typeface="Arial"/>
              </a:defRPr>
            </a:pPr>
            <a:r>
              <a:rPr sz="2250" b="1">
                <a:solidFill>
                  <a:srgbClr val="159A7D"/>
                </a:solidFill>
                <a:latin typeface="Arial"/>
                <a:ea typeface="Arial"/>
                <a:cs typeface="Arial"/>
              </a:rPr>
              <a:t>APPLY</a:t>
            </a:r>
          </a:p>
        </p:txBody>
      </p:sp>
      <p:sp>
        <p:nvSpPr>
          <p:cNvPr id="17" name="Rectangle 16">
            <a:extLst>
              <a:ext uri="{FF2B5EF4-FFF2-40B4-BE49-F238E27FC236}">
                <a16:creationId xmlns:a16="http://schemas.microsoft.com/office/drawing/2014/main" id="{FDE2DBF0-2BA7-42D8-AD83-34C97F99C0D5}"/>
              </a:ext>
            </a:extLst>
          </p:cNvPr>
          <p:cNvSpPr>
            <a:spLocks noGrp="1"/>
          </p:cNvSpPr>
          <p:nvPr/>
        </p:nvSpPr>
        <p:spPr>
          <a:xfrm>
            <a:off x="5905500" y="2190750"/>
            <a:ext cx="5467350" cy="51435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Use the preference and generate a personalized response.</a:t>
            </a:r>
          </a:p>
        </p:txBody>
      </p:sp>
      <p:sp>
        <p:nvSpPr>
          <p:cNvPr id="18" name="Rectangle 17">
            <a:extLst>
              <a:ext uri="{FF2B5EF4-FFF2-40B4-BE49-F238E27FC236}">
                <a16:creationId xmlns:a16="http://schemas.microsoft.com/office/drawing/2014/main" id="{4D33AD77-DD0E-4123-99CD-FB651BF94470}"/>
              </a:ext>
            </a:extLst>
          </p:cNvPr>
          <p:cNvSpPr>
            <a:spLocks noGrp="1"/>
          </p:cNvSpPr>
          <p:nvPr/>
        </p:nvSpPr>
        <p:spPr>
          <a:xfrm>
            <a:off x="3771900" y="3162300"/>
            <a:ext cx="7924800" cy="1219200"/>
          </a:xfrm>
          <a:prstGeom prst="rect">
            <a:avLst/>
          </a:prstGeom>
          <a:solidFill>
            <a:srgbClr val="EEF0F3"/>
          </a:solidFill>
          <a:ln w="14288">
            <a:solidFill>
              <a:srgbClr val="5F6878"/>
            </a:solidFill>
            <a:prstDash val="solid"/>
          </a:ln>
        </p:spPr>
      </p:sp>
      <p:sp>
        <p:nvSpPr>
          <p:cNvPr id="19" name="Rectangle 18">
            <a:extLst>
              <a:ext uri="{FF2B5EF4-FFF2-40B4-BE49-F238E27FC236}">
                <a16:creationId xmlns:a16="http://schemas.microsoft.com/office/drawing/2014/main" id="{AACD2EEF-932E-4803-AC54-14C49AC54E88}"/>
              </a:ext>
            </a:extLst>
          </p:cNvPr>
          <p:cNvSpPr>
            <a:spLocks noGrp="1"/>
          </p:cNvSpPr>
          <p:nvPr/>
        </p:nvSpPr>
        <p:spPr>
          <a:xfrm>
            <a:off x="4019550" y="3333750"/>
            <a:ext cx="2476500" cy="247650"/>
          </a:xfrm>
          <a:prstGeom prst="rect">
            <a:avLst/>
          </a:prstGeom>
          <a:noFill/>
          <a:ln w="0">
            <a:noFill/>
            <a:prstDash val="solid"/>
          </a:ln>
        </p:spPr>
        <p:txBody>
          <a:bodyPr wrap="square" lIns="0" tIns="0" rIns="0" bIns="0" anchor="t">
            <a:noAutofit/>
          </a:bodyPr>
          <a:lstStyle/>
          <a:p>
            <a:pPr algn="l">
              <a:buNone/>
              <a:defRPr sz="1350" b="1">
                <a:solidFill>
                  <a:srgbClr val="5F6878"/>
                </a:solidFill>
                <a:latin typeface="Arial"/>
                <a:ea typeface="Arial"/>
                <a:cs typeface="Arial"/>
              </a:defRPr>
            </a:pPr>
            <a:r>
              <a:rPr sz="1350" b="1">
                <a:solidFill>
                  <a:srgbClr val="5F6878"/>
                </a:solidFill>
                <a:latin typeface="Arial"/>
                <a:ea typeface="Arial"/>
                <a:cs typeface="Arial"/>
              </a:rPr>
              <a:t>RELATION = MISMATCH</a:t>
            </a:r>
          </a:p>
        </p:txBody>
      </p:sp>
      <p:sp>
        <p:nvSpPr>
          <p:cNvPr id="20" name="Rectangle 19">
            <a:extLst>
              <a:ext uri="{FF2B5EF4-FFF2-40B4-BE49-F238E27FC236}">
                <a16:creationId xmlns:a16="http://schemas.microsoft.com/office/drawing/2014/main" id="{E049E640-18C0-4C85-9299-3066F0484256}"/>
              </a:ext>
            </a:extLst>
          </p:cNvPr>
          <p:cNvSpPr>
            <a:spLocks noGrp="1"/>
          </p:cNvSpPr>
          <p:nvPr/>
        </p:nvSpPr>
        <p:spPr>
          <a:xfrm>
            <a:off x="4019550" y="3733800"/>
            <a:ext cx="1619250" cy="361950"/>
          </a:xfrm>
          <a:prstGeom prst="rect">
            <a:avLst/>
          </a:prstGeom>
          <a:noFill/>
          <a:ln w="0">
            <a:noFill/>
            <a:prstDash val="solid"/>
          </a:ln>
        </p:spPr>
        <p:txBody>
          <a:bodyPr wrap="square" lIns="0" tIns="0" rIns="0" bIns="0" anchor="t">
            <a:noAutofit/>
          </a:bodyPr>
          <a:lstStyle/>
          <a:p>
            <a:pPr algn="l">
              <a:buNone/>
              <a:defRPr sz="2250" b="1">
                <a:solidFill>
                  <a:srgbClr val="5F6878"/>
                </a:solidFill>
                <a:latin typeface="Arial"/>
                <a:ea typeface="Arial"/>
                <a:cs typeface="Arial"/>
              </a:defRPr>
            </a:pPr>
            <a:r>
              <a:rPr sz="2250" b="1">
                <a:solidFill>
                  <a:srgbClr val="5F6878"/>
                </a:solidFill>
                <a:latin typeface="Arial"/>
                <a:ea typeface="Arial"/>
                <a:cs typeface="Arial"/>
              </a:rPr>
              <a:t>IGNORE</a:t>
            </a:r>
          </a:p>
        </p:txBody>
      </p:sp>
      <p:sp>
        <p:nvSpPr>
          <p:cNvPr id="21" name="Rectangle 20">
            <a:extLst>
              <a:ext uri="{FF2B5EF4-FFF2-40B4-BE49-F238E27FC236}">
                <a16:creationId xmlns:a16="http://schemas.microsoft.com/office/drawing/2014/main" id="{1D98AF27-7129-4A49-92E3-99D7C8CA3BAD}"/>
              </a:ext>
            </a:extLst>
          </p:cNvPr>
          <p:cNvSpPr>
            <a:spLocks noGrp="1"/>
          </p:cNvSpPr>
          <p:nvPr/>
        </p:nvSpPr>
        <p:spPr>
          <a:xfrm>
            <a:off x="5905500" y="3638550"/>
            <a:ext cx="5467350" cy="51435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Do not transfer the stored preference into this context.</a:t>
            </a:r>
          </a:p>
        </p:txBody>
      </p:sp>
      <p:sp>
        <p:nvSpPr>
          <p:cNvPr id="22" name="Rectangle 21">
            <a:extLst>
              <a:ext uri="{FF2B5EF4-FFF2-40B4-BE49-F238E27FC236}">
                <a16:creationId xmlns:a16="http://schemas.microsoft.com/office/drawing/2014/main" id="{3BE177C4-DD9A-4416-87D3-9C2024DF2A4D}"/>
              </a:ext>
            </a:extLst>
          </p:cNvPr>
          <p:cNvSpPr>
            <a:spLocks noGrp="1"/>
          </p:cNvSpPr>
          <p:nvPr/>
        </p:nvSpPr>
        <p:spPr>
          <a:xfrm>
            <a:off x="3771900" y="4610100"/>
            <a:ext cx="7924800" cy="1219200"/>
          </a:xfrm>
          <a:prstGeom prst="rect">
            <a:avLst/>
          </a:prstGeom>
          <a:solidFill>
            <a:srgbClr val="FFF2CF"/>
          </a:solidFill>
          <a:ln w="14288">
            <a:solidFill>
              <a:srgbClr val="C98500"/>
            </a:solidFill>
            <a:prstDash val="solid"/>
          </a:ln>
        </p:spPr>
      </p:sp>
      <p:sp>
        <p:nvSpPr>
          <p:cNvPr id="23" name="Rectangle 22">
            <a:extLst>
              <a:ext uri="{FF2B5EF4-FFF2-40B4-BE49-F238E27FC236}">
                <a16:creationId xmlns:a16="http://schemas.microsoft.com/office/drawing/2014/main" id="{0F4B0405-1153-4881-B9BB-9CE268338267}"/>
              </a:ext>
            </a:extLst>
          </p:cNvPr>
          <p:cNvSpPr>
            <a:spLocks noGrp="1"/>
          </p:cNvSpPr>
          <p:nvPr/>
        </p:nvSpPr>
        <p:spPr>
          <a:xfrm>
            <a:off x="4019550" y="4781550"/>
            <a:ext cx="2476500" cy="247650"/>
          </a:xfrm>
          <a:prstGeom prst="rect">
            <a:avLst/>
          </a:prstGeom>
          <a:noFill/>
          <a:ln w="0">
            <a:noFill/>
            <a:prstDash val="solid"/>
          </a:ln>
        </p:spPr>
        <p:txBody>
          <a:bodyPr wrap="square" lIns="0" tIns="0" rIns="0" bIns="0" anchor="t">
            <a:noAutofit/>
          </a:bodyPr>
          <a:lstStyle/>
          <a:p>
            <a:pPr algn="l">
              <a:buNone/>
              <a:defRPr sz="1350" b="1">
                <a:solidFill>
                  <a:srgbClr val="C98500"/>
                </a:solidFill>
                <a:latin typeface="Arial"/>
                <a:ea typeface="Arial"/>
                <a:cs typeface="Arial"/>
              </a:defRPr>
            </a:pPr>
            <a:r>
              <a:rPr sz="1350" b="1">
                <a:solidFill>
                  <a:srgbClr val="C98500"/>
                </a:solidFill>
                <a:latin typeface="Arial"/>
                <a:ea typeface="Arial"/>
                <a:cs typeface="Arial"/>
              </a:rPr>
              <a:t>RELATION = UNKNOWN</a:t>
            </a:r>
          </a:p>
        </p:txBody>
      </p:sp>
      <p:sp>
        <p:nvSpPr>
          <p:cNvPr id="24" name="Rectangle 23">
            <a:extLst>
              <a:ext uri="{FF2B5EF4-FFF2-40B4-BE49-F238E27FC236}">
                <a16:creationId xmlns:a16="http://schemas.microsoft.com/office/drawing/2014/main" id="{B00B0607-7502-4FCA-9575-A987C8A8576B}"/>
              </a:ext>
            </a:extLst>
          </p:cNvPr>
          <p:cNvSpPr>
            <a:spLocks noGrp="1"/>
          </p:cNvSpPr>
          <p:nvPr/>
        </p:nvSpPr>
        <p:spPr>
          <a:xfrm>
            <a:off x="4019550" y="5181600"/>
            <a:ext cx="1619250" cy="361950"/>
          </a:xfrm>
          <a:prstGeom prst="rect">
            <a:avLst/>
          </a:prstGeom>
          <a:noFill/>
          <a:ln w="0">
            <a:noFill/>
            <a:prstDash val="solid"/>
          </a:ln>
        </p:spPr>
        <p:txBody>
          <a:bodyPr wrap="square" lIns="0" tIns="0" rIns="0" bIns="0" anchor="t">
            <a:noAutofit/>
          </a:bodyPr>
          <a:lstStyle/>
          <a:p>
            <a:pPr algn="l">
              <a:buNone/>
              <a:defRPr sz="2250" b="1">
                <a:solidFill>
                  <a:srgbClr val="C98500"/>
                </a:solidFill>
                <a:latin typeface="Arial"/>
                <a:ea typeface="Arial"/>
                <a:cs typeface="Arial"/>
              </a:defRPr>
            </a:pPr>
            <a:r>
              <a:rPr sz="2250" b="1">
                <a:solidFill>
                  <a:srgbClr val="C98500"/>
                </a:solidFill>
                <a:latin typeface="Arial"/>
                <a:ea typeface="Arial"/>
                <a:cs typeface="Arial"/>
              </a:rPr>
              <a:t>CLARIFY</a:t>
            </a:r>
          </a:p>
        </p:txBody>
      </p:sp>
      <p:sp>
        <p:nvSpPr>
          <p:cNvPr id="25" name="Rectangle 24">
            <a:extLst>
              <a:ext uri="{FF2B5EF4-FFF2-40B4-BE49-F238E27FC236}">
                <a16:creationId xmlns:a16="http://schemas.microsoft.com/office/drawing/2014/main" id="{065AE36A-923A-4602-BC0D-6E98F3F4C6C3}"/>
              </a:ext>
            </a:extLst>
          </p:cNvPr>
          <p:cNvSpPr>
            <a:spLocks noGrp="1"/>
          </p:cNvSpPr>
          <p:nvPr/>
        </p:nvSpPr>
        <p:spPr>
          <a:xfrm>
            <a:off x="5905500" y="5086350"/>
            <a:ext cx="5467350" cy="51435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Ask only for the missing fact that changes the decision.</a:t>
            </a:r>
          </a:p>
        </p:txBody>
      </p:sp>
    </p:spTree>
    <p:extLst>
      <p:ext uri="{BB962C8B-B14F-4D97-AF65-F5344CB8AC3E}">
        <p14:creationId xmlns:p14="http://schemas.microsoft.com/office/powerpoint/2010/main" val="1924150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kicker-13">
            <a:extLst>
              <a:ext uri="{FF2B5EF4-FFF2-40B4-BE49-F238E27FC236}">
                <a16:creationId xmlns:a16="http://schemas.microsoft.com/office/drawing/2014/main" id="{D5EAB76D-5B36-4DAF-9AF2-EB4DC79789CA}"/>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7357D9"/>
                </a:solidFill>
                <a:latin typeface="Arial"/>
                <a:ea typeface="Arial"/>
                <a:cs typeface="Arial"/>
              </a:defRPr>
            </a:pPr>
            <a:r>
              <a:rPr sz="1200" b="1">
                <a:solidFill>
                  <a:srgbClr val="7357D9"/>
                </a:solidFill>
                <a:latin typeface="Arial"/>
                <a:ea typeface="Arial"/>
                <a:cs typeface="Arial"/>
              </a:rPr>
              <a:t>STAGE 5 · LEARNED COMPONENTS</a:t>
            </a:r>
          </a:p>
        </p:txBody>
      </p:sp>
      <p:sp>
        <p:nvSpPr>
          <p:cNvPr id="2" name="title-13">
            <a:extLst>
              <a:ext uri="{FF2B5EF4-FFF2-40B4-BE49-F238E27FC236}">
                <a16:creationId xmlns:a16="http://schemas.microsoft.com/office/drawing/2014/main" id="{961B4CF0-638B-4B19-A9CF-025B3F2E94C0}"/>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A tiny Transformer learns memory typing</a:t>
            </a:r>
          </a:p>
        </p:txBody>
      </p:sp>
      <p:sp>
        <p:nvSpPr>
          <p:cNvPr id="3" name="Straight Connector 2">
            <a:extLst>
              <a:ext uri="{FF2B5EF4-FFF2-40B4-BE49-F238E27FC236}">
                <a16:creationId xmlns:a16="http://schemas.microsoft.com/office/drawing/2014/main" id="{344B4946-F2F2-4ADE-A8B9-B16D8C6F9CC3}"/>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27A0C988-1888-49E2-A981-58830C52E83A}"/>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13</a:t>
            </a:r>
          </a:p>
        </p:txBody>
      </p:sp>
      <p:sp>
        <p:nvSpPr>
          <p:cNvPr id="5" name="Arrow: Right 4">
            <a:extLst>
              <a:ext uri="{FF2B5EF4-FFF2-40B4-BE49-F238E27FC236}">
                <a16:creationId xmlns:a16="http://schemas.microsoft.com/office/drawing/2014/main" id="{21816FB4-0670-4A35-8FB4-D6649867F099}"/>
              </a:ext>
            </a:extLst>
          </p:cNvPr>
          <p:cNvSpPr>
            <a:spLocks noGrp="1"/>
          </p:cNvSpPr>
          <p:nvPr/>
        </p:nvSpPr>
        <p:spPr>
          <a:xfrm>
            <a:off x="2686050" y="3009900"/>
            <a:ext cx="514350" cy="285750"/>
          </a:xfrm>
          <a:prstGeom prst="rightArrow">
            <a:avLst/>
          </a:prstGeom>
          <a:solidFill>
            <a:srgbClr val="7357D9"/>
          </a:solidFill>
          <a:ln w="0">
            <a:solidFill>
              <a:srgbClr val="7357D9"/>
            </a:solidFill>
            <a:prstDash val="solid"/>
          </a:ln>
        </p:spPr>
      </p:sp>
      <p:sp>
        <p:nvSpPr>
          <p:cNvPr id="6" name="Arrow: Right 5">
            <a:extLst>
              <a:ext uri="{FF2B5EF4-FFF2-40B4-BE49-F238E27FC236}">
                <a16:creationId xmlns:a16="http://schemas.microsoft.com/office/drawing/2014/main" id="{E94FEF76-A17E-4C1A-A6D8-E1454F461D33}"/>
              </a:ext>
            </a:extLst>
          </p:cNvPr>
          <p:cNvSpPr>
            <a:spLocks noGrp="1"/>
          </p:cNvSpPr>
          <p:nvPr/>
        </p:nvSpPr>
        <p:spPr>
          <a:xfrm>
            <a:off x="6115050" y="3009900"/>
            <a:ext cx="514350" cy="285750"/>
          </a:xfrm>
          <a:prstGeom prst="rightArrow">
            <a:avLst/>
          </a:prstGeom>
          <a:solidFill>
            <a:srgbClr val="7357D9"/>
          </a:solidFill>
          <a:ln w="0">
            <a:solidFill>
              <a:srgbClr val="7357D9"/>
            </a:solidFill>
            <a:prstDash val="solid"/>
          </a:ln>
        </p:spPr>
      </p:sp>
      <p:sp>
        <p:nvSpPr>
          <p:cNvPr id="7" name="Rectangle 6">
            <a:extLst>
              <a:ext uri="{FF2B5EF4-FFF2-40B4-BE49-F238E27FC236}">
                <a16:creationId xmlns:a16="http://schemas.microsoft.com/office/drawing/2014/main" id="{8D73671E-8C0A-4E07-92D7-AC0823018652}"/>
              </a:ext>
            </a:extLst>
          </p:cNvPr>
          <p:cNvSpPr>
            <a:spLocks noGrp="1"/>
          </p:cNvSpPr>
          <p:nvPr/>
        </p:nvSpPr>
        <p:spPr>
          <a:xfrm>
            <a:off x="495300" y="2324100"/>
            <a:ext cx="2190750" cy="1714500"/>
          </a:xfrm>
          <a:prstGeom prst="rect">
            <a:avLst/>
          </a:prstGeom>
          <a:solidFill>
            <a:srgbClr val="F1F3F6"/>
          </a:solidFill>
          <a:ln w="9525">
            <a:solidFill>
              <a:srgbClr val="C9CED8"/>
            </a:solidFill>
            <a:prstDash val="solid"/>
          </a:ln>
        </p:spPr>
      </p:sp>
      <p:sp>
        <p:nvSpPr>
          <p:cNvPr id="8" name="Rectangle 7">
            <a:extLst>
              <a:ext uri="{FF2B5EF4-FFF2-40B4-BE49-F238E27FC236}">
                <a16:creationId xmlns:a16="http://schemas.microsoft.com/office/drawing/2014/main" id="{5A876109-1B86-46A6-8CF9-5FACD95D7B6F}"/>
              </a:ext>
            </a:extLst>
          </p:cNvPr>
          <p:cNvSpPr>
            <a:spLocks noGrp="1"/>
          </p:cNvSpPr>
          <p:nvPr/>
        </p:nvSpPr>
        <p:spPr>
          <a:xfrm>
            <a:off x="723900" y="2762250"/>
            <a:ext cx="1733550" cy="685800"/>
          </a:xfrm>
          <a:prstGeom prst="rect">
            <a:avLst/>
          </a:prstGeom>
          <a:noFill/>
          <a:ln w="0">
            <a:noFill/>
            <a:prstDash val="solid"/>
          </a:ln>
        </p:spPr>
        <p:txBody>
          <a:bodyPr wrap="square" lIns="0" tIns="0" rIns="0" bIns="0" anchor="t">
            <a:normAutofit/>
          </a:bodyPr>
          <a:lstStyle/>
          <a:p>
            <a:pPr algn="ctr">
              <a:buNone/>
              <a:defRPr sz="2250" b="1">
                <a:solidFill>
                  <a:srgbClr val="0A1020"/>
                </a:solidFill>
                <a:latin typeface="Arial"/>
                <a:ea typeface="Arial"/>
                <a:cs typeface="Arial"/>
              </a:defRPr>
            </a:pPr>
            <a:r>
              <a:rPr sz="2250" b="1">
                <a:solidFill>
                  <a:srgbClr val="0A1020"/>
                </a:solidFill>
                <a:latin typeface="Arial"/>
                <a:ea typeface="Arial"/>
                <a:cs typeface="Arial"/>
              </a:rPr>
              <a:t>History + query</a:t>
            </a:r>
          </a:p>
        </p:txBody>
      </p:sp>
      <p:sp>
        <p:nvSpPr>
          <p:cNvPr id="9" name="Rectangle 8">
            <a:extLst>
              <a:ext uri="{FF2B5EF4-FFF2-40B4-BE49-F238E27FC236}">
                <a16:creationId xmlns:a16="http://schemas.microsoft.com/office/drawing/2014/main" id="{B559991C-23C6-4493-B265-7F838C724C95}"/>
              </a:ext>
            </a:extLst>
          </p:cNvPr>
          <p:cNvSpPr>
            <a:spLocks noGrp="1"/>
          </p:cNvSpPr>
          <p:nvPr/>
        </p:nvSpPr>
        <p:spPr>
          <a:xfrm>
            <a:off x="3200400" y="2038350"/>
            <a:ext cx="2914650" cy="2286000"/>
          </a:xfrm>
          <a:prstGeom prst="rect">
            <a:avLst/>
          </a:prstGeom>
          <a:solidFill>
            <a:srgbClr val="F0ECFF"/>
          </a:solidFill>
          <a:ln w="19050">
            <a:solidFill>
              <a:srgbClr val="7357D9"/>
            </a:solidFill>
            <a:prstDash val="solid"/>
          </a:ln>
        </p:spPr>
      </p:sp>
      <p:sp>
        <p:nvSpPr>
          <p:cNvPr id="10" name="Rectangle 9">
            <a:extLst>
              <a:ext uri="{FF2B5EF4-FFF2-40B4-BE49-F238E27FC236}">
                <a16:creationId xmlns:a16="http://schemas.microsoft.com/office/drawing/2014/main" id="{C1ABD833-D0C1-47AD-A240-69D896FCA0D8}"/>
              </a:ext>
            </a:extLst>
          </p:cNvPr>
          <p:cNvSpPr>
            <a:spLocks noGrp="1"/>
          </p:cNvSpPr>
          <p:nvPr/>
        </p:nvSpPr>
        <p:spPr>
          <a:xfrm>
            <a:off x="3486150" y="2400300"/>
            <a:ext cx="2343150" cy="361950"/>
          </a:xfrm>
          <a:prstGeom prst="rect">
            <a:avLst/>
          </a:prstGeom>
          <a:noFill/>
          <a:ln w="0">
            <a:noFill/>
            <a:prstDash val="solid"/>
          </a:ln>
        </p:spPr>
        <p:txBody>
          <a:bodyPr wrap="square" lIns="0" tIns="0" rIns="0" bIns="0" anchor="t">
            <a:noAutofit/>
          </a:bodyPr>
          <a:lstStyle/>
          <a:p>
            <a:pPr algn="ctr">
              <a:buNone/>
              <a:defRPr sz="2250" b="1">
                <a:solidFill>
                  <a:srgbClr val="7357D9"/>
                </a:solidFill>
                <a:latin typeface="Arial"/>
                <a:ea typeface="Arial"/>
                <a:cs typeface="Arial"/>
              </a:defRPr>
            </a:pPr>
            <a:r>
              <a:rPr sz="2250" b="1">
                <a:solidFill>
                  <a:srgbClr val="7357D9"/>
                </a:solidFill>
                <a:latin typeface="Arial"/>
                <a:ea typeface="Arial"/>
                <a:cs typeface="Arial"/>
              </a:rPr>
              <a:t>Shared Transformer</a:t>
            </a:r>
          </a:p>
        </p:txBody>
      </p:sp>
      <p:sp>
        <p:nvSpPr>
          <p:cNvPr id="11" name="Rectangle 10">
            <a:extLst>
              <a:ext uri="{FF2B5EF4-FFF2-40B4-BE49-F238E27FC236}">
                <a16:creationId xmlns:a16="http://schemas.microsoft.com/office/drawing/2014/main" id="{3329DAB1-DDDA-4CE6-8F67-79847CA4C2E8}"/>
              </a:ext>
            </a:extLst>
          </p:cNvPr>
          <p:cNvSpPr>
            <a:spLocks noGrp="1"/>
          </p:cNvSpPr>
          <p:nvPr/>
        </p:nvSpPr>
        <p:spPr>
          <a:xfrm>
            <a:off x="3581400" y="3028950"/>
            <a:ext cx="2152650" cy="895350"/>
          </a:xfrm>
          <a:prstGeom prst="rect">
            <a:avLst/>
          </a:prstGeom>
          <a:noFill/>
          <a:ln w="0">
            <a:noFill/>
            <a:prstDash val="solid"/>
          </a:ln>
        </p:spPr>
        <p:txBody>
          <a:bodyPr wrap="square" lIns="0" tIns="0" rIns="0" bIns="0" anchor="t">
            <a:normAutofit fontScale="97798"/>
          </a:bodyPr>
          <a:lstStyle/>
          <a:p>
            <a:pPr algn="ctr">
              <a:buNone/>
              <a:defRPr sz="1650" b="0">
                <a:solidFill>
                  <a:srgbClr val="0A1020"/>
                </a:solidFill>
                <a:latin typeface="Arial"/>
                <a:ea typeface="Arial"/>
                <a:cs typeface="Arial"/>
              </a:defRPr>
            </a:pPr>
            <a:r>
              <a:rPr sz="1650" b="0">
                <a:solidFill>
                  <a:srgbClr val="0A1020"/>
                </a:solidFill>
                <a:latin typeface="Arial"/>
                <a:ea typeface="Arial"/>
                <a:cs typeface="Arial"/>
              </a:rPr>
              <a:t>1 encoder layer</a:t>
            </a:r>
          </a:p>
          <a:p>
            <a:pPr algn="ctr">
              <a:buNone/>
              <a:defRPr sz="1650" b="0">
                <a:solidFill>
                  <a:srgbClr val="0A1020"/>
                </a:solidFill>
                <a:latin typeface="Arial"/>
                <a:ea typeface="Arial"/>
                <a:cs typeface="Arial"/>
              </a:defRPr>
            </a:pPr>
            <a:r>
              <a:rPr sz="1650" b="0">
                <a:solidFill>
                  <a:srgbClr val="0A1020"/>
                </a:solidFill>
                <a:latin typeface="Arial"/>
                <a:ea typeface="Arial"/>
                <a:cs typeface="Arial"/>
              </a:rPr>
              <a:t>1 decoder layer</a:t>
            </a:r>
          </a:p>
          <a:p>
            <a:pPr algn="ctr">
              <a:buNone/>
              <a:defRPr sz="1650" b="0">
                <a:solidFill>
                  <a:srgbClr val="0A1020"/>
                </a:solidFill>
                <a:latin typeface="Arial"/>
                <a:ea typeface="Arial"/>
                <a:cs typeface="Arial"/>
              </a:defRPr>
            </a:pPr>
            <a:r>
              <a:rPr sz="1650" b="0">
                <a:solidFill>
                  <a:srgbClr val="0A1020"/>
                </a:solidFill>
                <a:latin typeface="Arial"/>
                <a:ea typeface="Arial"/>
                <a:cs typeface="Arial"/>
              </a:rPr>
              <a:t>d_model = 32 · 4 heads</a:t>
            </a:r>
          </a:p>
        </p:txBody>
      </p:sp>
      <p:sp>
        <p:nvSpPr>
          <p:cNvPr id="12" name="Rectangle 11">
            <a:extLst>
              <a:ext uri="{FF2B5EF4-FFF2-40B4-BE49-F238E27FC236}">
                <a16:creationId xmlns:a16="http://schemas.microsoft.com/office/drawing/2014/main" id="{5C77CB5A-802D-421C-94F5-D7DDAA4EA86B}"/>
              </a:ext>
            </a:extLst>
          </p:cNvPr>
          <p:cNvSpPr>
            <a:spLocks noGrp="1"/>
          </p:cNvSpPr>
          <p:nvPr/>
        </p:nvSpPr>
        <p:spPr>
          <a:xfrm>
            <a:off x="6629400" y="1638300"/>
            <a:ext cx="5067300" cy="3105150"/>
          </a:xfrm>
          <a:prstGeom prst="rect">
            <a:avLst/>
          </a:prstGeom>
          <a:solidFill>
            <a:srgbClr val="EAF3FF"/>
          </a:solidFill>
          <a:ln w="14288">
            <a:solidFill>
              <a:srgbClr val="3D8DFF"/>
            </a:solidFill>
            <a:prstDash val="solid"/>
          </a:ln>
        </p:spPr>
      </p:sp>
      <p:sp>
        <p:nvSpPr>
          <p:cNvPr id="13" name="Rectangle 12">
            <a:extLst>
              <a:ext uri="{FF2B5EF4-FFF2-40B4-BE49-F238E27FC236}">
                <a16:creationId xmlns:a16="http://schemas.microsoft.com/office/drawing/2014/main" id="{F29862EE-A796-4C1A-88B2-AFB1B585AADD}"/>
              </a:ext>
            </a:extLst>
          </p:cNvPr>
          <p:cNvSpPr>
            <a:spLocks noGrp="1"/>
          </p:cNvSpPr>
          <p:nvPr/>
        </p:nvSpPr>
        <p:spPr>
          <a:xfrm>
            <a:off x="6915150" y="1924050"/>
            <a:ext cx="4191000" cy="266700"/>
          </a:xfrm>
          <a:prstGeom prst="rect">
            <a:avLst/>
          </a:prstGeom>
          <a:noFill/>
          <a:ln w="0">
            <a:noFill/>
            <a:prstDash val="solid"/>
          </a:ln>
        </p:spPr>
        <p:txBody>
          <a:bodyPr wrap="square" lIns="0" tIns="0" rIns="0" bIns="0" anchor="t">
            <a:noAutofit/>
          </a:bodyPr>
          <a:lstStyle/>
          <a:p>
            <a:pPr algn="l">
              <a:buNone/>
              <a:defRPr sz="1350" b="1">
                <a:solidFill>
                  <a:srgbClr val="3D8DFF"/>
                </a:solidFill>
                <a:latin typeface="Arial"/>
                <a:ea typeface="Arial"/>
                <a:cs typeface="Arial"/>
              </a:defRPr>
            </a:pPr>
            <a:r>
              <a:rPr sz="1350" b="1">
                <a:solidFill>
                  <a:srgbClr val="3D8DFF"/>
                </a:solidFill>
                <a:latin typeface="Arial"/>
                <a:ea typeface="Arial"/>
                <a:cs typeface="Arial"/>
              </a:rPr>
              <a:t>SEVEN CLASSIFICATION HEADS</a:t>
            </a:r>
          </a:p>
        </p:txBody>
      </p:sp>
      <p:sp>
        <p:nvSpPr>
          <p:cNvPr id="14" name="Rectangle 13">
            <a:extLst>
              <a:ext uri="{FF2B5EF4-FFF2-40B4-BE49-F238E27FC236}">
                <a16:creationId xmlns:a16="http://schemas.microsoft.com/office/drawing/2014/main" id="{D33A9C3B-9A10-48FD-92B2-8A9708679044}"/>
              </a:ext>
            </a:extLst>
          </p:cNvPr>
          <p:cNvSpPr>
            <a:spLocks noGrp="1"/>
          </p:cNvSpPr>
          <p:nvPr/>
        </p:nvSpPr>
        <p:spPr>
          <a:xfrm>
            <a:off x="6915150" y="2476500"/>
            <a:ext cx="4324350" cy="361950"/>
          </a:xfrm>
          <a:prstGeom prst="rect">
            <a:avLst/>
          </a:prstGeom>
          <a:noFill/>
          <a:ln w="0">
            <a:noFill/>
            <a:prstDash val="solid"/>
          </a:ln>
        </p:spPr>
        <p:txBody>
          <a:bodyPr wrap="square" lIns="0" tIns="0" rIns="0" bIns="0" anchor="t">
            <a:noAutofit/>
          </a:bodyPr>
          <a:lstStyle/>
          <a:p>
            <a:pPr algn="ctr">
              <a:buNone/>
              <a:defRPr sz="1800" b="1">
                <a:solidFill>
                  <a:srgbClr val="0A1020"/>
                </a:solidFill>
                <a:latin typeface="Arial"/>
                <a:ea typeface="Arial"/>
                <a:cs typeface="Arial"/>
              </a:defRPr>
            </a:pPr>
            <a:r>
              <a:rPr sz="1800" b="1">
                <a:solidFill>
                  <a:srgbClr val="0A1020"/>
                </a:solidFill>
                <a:latin typeface="Arial"/>
                <a:ea typeface="Arial"/>
                <a:cs typeface="Arial"/>
              </a:rPr>
              <a:t>family · profile variant · owner</a:t>
            </a:r>
          </a:p>
        </p:txBody>
      </p:sp>
      <p:sp>
        <p:nvSpPr>
          <p:cNvPr id="15" name="Rectangle 14">
            <a:extLst>
              <a:ext uri="{FF2B5EF4-FFF2-40B4-BE49-F238E27FC236}">
                <a16:creationId xmlns:a16="http://schemas.microsoft.com/office/drawing/2014/main" id="{053ED765-7FFB-4390-B855-F85362177B6B}"/>
              </a:ext>
            </a:extLst>
          </p:cNvPr>
          <p:cNvSpPr>
            <a:spLocks noGrp="1"/>
          </p:cNvSpPr>
          <p:nvPr/>
        </p:nvSpPr>
        <p:spPr>
          <a:xfrm>
            <a:off x="6915150" y="3067050"/>
            <a:ext cx="4324350" cy="361950"/>
          </a:xfrm>
          <a:prstGeom prst="rect">
            <a:avLst/>
          </a:prstGeom>
          <a:noFill/>
          <a:ln w="0">
            <a:noFill/>
            <a:prstDash val="solid"/>
          </a:ln>
        </p:spPr>
        <p:txBody>
          <a:bodyPr wrap="square" lIns="0" tIns="0" rIns="0" bIns="0" anchor="t">
            <a:noAutofit/>
          </a:bodyPr>
          <a:lstStyle/>
          <a:p>
            <a:pPr algn="ctr">
              <a:buNone/>
              <a:defRPr sz="1800" b="1">
                <a:solidFill>
                  <a:srgbClr val="0A1020"/>
                </a:solidFill>
                <a:latin typeface="Arial"/>
                <a:ea typeface="Arial"/>
                <a:cs typeface="Arial"/>
              </a:defRPr>
            </a:pPr>
            <a:r>
              <a:rPr sz="1800" b="1">
                <a:solidFill>
                  <a:srgbClr val="0A1020"/>
                </a:solidFill>
                <a:latin typeface="Arial"/>
                <a:ea typeface="Arial"/>
                <a:cs typeface="Arial"/>
              </a:rPr>
              <a:t>information type · temporal validity</a:t>
            </a:r>
          </a:p>
        </p:txBody>
      </p:sp>
      <p:sp>
        <p:nvSpPr>
          <p:cNvPr id="16" name="Rectangle 15">
            <a:extLst>
              <a:ext uri="{FF2B5EF4-FFF2-40B4-BE49-F238E27FC236}">
                <a16:creationId xmlns:a16="http://schemas.microsoft.com/office/drawing/2014/main" id="{C1B7E730-1B21-4ED9-B0B6-FD6BCC2E8D2A}"/>
              </a:ext>
            </a:extLst>
          </p:cNvPr>
          <p:cNvSpPr>
            <a:spLocks noGrp="1"/>
          </p:cNvSpPr>
          <p:nvPr/>
        </p:nvSpPr>
        <p:spPr>
          <a:xfrm>
            <a:off x="6915150" y="3657600"/>
            <a:ext cx="4324350" cy="361950"/>
          </a:xfrm>
          <a:prstGeom prst="rect">
            <a:avLst/>
          </a:prstGeom>
          <a:noFill/>
          <a:ln w="0">
            <a:noFill/>
            <a:prstDash val="solid"/>
          </a:ln>
        </p:spPr>
        <p:txBody>
          <a:bodyPr wrap="square" lIns="0" tIns="0" rIns="0" bIns="0" anchor="t">
            <a:noAutofit/>
          </a:bodyPr>
          <a:lstStyle/>
          <a:p>
            <a:pPr algn="ctr">
              <a:buNone/>
              <a:defRPr sz="1800" b="1">
                <a:solidFill>
                  <a:srgbClr val="0A1020"/>
                </a:solidFill>
                <a:latin typeface="Arial"/>
                <a:ea typeface="Arial"/>
                <a:cs typeface="Arial"/>
              </a:defRPr>
            </a:pPr>
            <a:r>
              <a:rPr sz="1800" b="1">
                <a:solidFill>
                  <a:srgbClr val="0A1020"/>
                </a:solidFill>
                <a:latin typeface="Arial"/>
                <a:ea typeface="Arial"/>
                <a:cs typeface="Arial"/>
              </a:rPr>
              <a:t>relation · action</a:t>
            </a:r>
          </a:p>
        </p:txBody>
      </p:sp>
      <p:sp>
        <p:nvSpPr>
          <p:cNvPr id="17" name="Rectangle 16">
            <a:extLst>
              <a:ext uri="{FF2B5EF4-FFF2-40B4-BE49-F238E27FC236}">
                <a16:creationId xmlns:a16="http://schemas.microsoft.com/office/drawing/2014/main" id="{5488EE1B-10A0-4F83-A480-A925C903F269}"/>
              </a:ext>
            </a:extLst>
          </p:cNvPr>
          <p:cNvSpPr>
            <a:spLocks noGrp="1"/>
          </p:cNvSpPr>
          <p:nvPr/>
        </p:nvSpPr>
        <p:spPr>
          <a:xfrm>
            <a:off x="6629400" y="4972050"/>
            <a:ext cx="5067300" cy="781050"/>
          </a:xfrm>
          <a:prstGeom prst="rect">
            <a:avLst/>
          </a:prstGeom>
          <a:noFill/>
          <a:ln w="0">
            <a:noFill/>
            <a:prstDash val="solid"/>
          </a:ln>
        </p:spPr>
        <p:txBody>
          <a:bodyPr wrap="square" lIns="0" tIns="0" rIns="0" bIns="0" anchor="t">
            <a:normAutofit/>
          </a:bodyPr>
          <a:lstStyle/>
          <a:p>
            <a:pPr algn="ctr">
              <a:buNone/>
              <a:defRPr sz="1500" b="0">
                <a:solidFill>
                  <a:srgbClr val="5D6677"/>
                </a:solidFill>
                <a:latin typeface="Arial"/>
                <a:ea typeface="Arial"/>
                <a:cs typeface="Arial"/>
              </a:defRPr>
            </a:pPr>
            <a:r>
              <a:rPr sz="1500" b="0">
                <a:solidFill>
                  <a:srgbClr val="5D6677"/>
                </a:solidFill>
                <a:latin typeface="Arial"/>
                <a:ea typeface="Arial"/>
                <a:cs typeface="Arial"/>
              </a:rPr>
              <a:t>Autoregressive response decoder is implemented, but response training was intentionally skipped in the CPU-fast local run.</a:t>
            </a:r>
          </a:p>
        </p:txBody>
      </p:sp>
      <p:sp>
        <p:nvSpPr>
          <p:cNvPr id="18" name="Rectangle 17">
            <a:extLst>
              <a:ext uri="{FF2B5EF4-FFF2-40B4-BE49-F238E27FC236}">
                <a16:creationId xmlns:a16="http://schemas.microsoft.com/office/drawing/2014/main" id="{DB99AEA3-D554-4485-A7D6-6128FD5E74D8}"/>
              </a:ext>
            </a:extLst>
          </p:cNvPr>
          <p:cNvSpPr>
            <a:spLocks noGrp="1"/>
          </p:cNvSpPr>
          <p:nvPr/>
        </p:nvSpPr>
        <p:spPr>
          <a:xfrm>
            <a:off x="495300" y="5905500"/>
            <a:ext cx="8953500" cy="266700"/>
          </a:xfrm>
          <a:prstGeom prst="rect">
            <a:avLst/>
          </a:prstGeom>
          <a:noFill/>
          <a:ln w="0">
            <a:noFill/>
            <a:prstDash val="solid"/>
          </a:ln>
        </p:spPr>
        <p:txBody>
          <a:bodyPr wrap="square" lIns="0" tIns="0" rIns="0" bIns="0" anchor="t">
            <a:noAutofit/>
          </a:bodyPr>
          <a:lstStyle/>
          <a:p>
            <a:pPr algn="l">
              <a:buNone/>
              <a:defRPr sz="1500" b="1">
                <a:solidFill>
                  <a:srgbClr val="7357D9"/>
                </a:solidFill>
                <a:latin typeface="Arial"/>
                <a:ea typeface="Arial"/>
                <a:cs typeface="Arial"/>
              </a:defRPr>
            </a:pPr>
            <a:r>
              <a:rPr sz="1500" b="1">
                <a:solidFill>
                  <a:srgbClr val="7357D9"/>
                </a:solidFill>
                <a:latin typeface="Arial"/>
                <a:ea typeface="Arial"/>
                <a:cs typeface="Arial"/>
              </a:rPr>
              <a:t>TRAINING: 3,456 examples · 4 epochs · batch 192 · held-out test 1,152</a:t>
            </a:r>
          </a:p>
        </p:txBody>
      </p:sp>
    </p:spTree>
    <p:extLst>
      <p:ext uri="{BB962C8B-B14F-4D97-AF65-F5344CB8AC3E}">
        <p14:creationId xmlns:p14="http://schemas.microsoft.com/office/powerpoint/2010/main" val="1244367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kicker-14">
            <a:extLst>
              <a:ext uri="{FF2B5EF4-FFF2-40B4-BE49-F238E27FC236}">
                <a16:creationId xmlns:a16="http://schemas.microsoft.com/office/drawing/2014/main" id="{9953421E-C76B-4C5B-814A-9F8CE49F14F0}"/>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D94747"/>
                </a:solidFill>
                <a:latin typeface="Arial"/>
                <a:ea typeface="Arial"/>
                <a:cs typeface="Arial"/>
              </a:defRPr>
            </a:pPr>
            <a:r>
              <a:rPr sz="1200" b="1">
                <a:solidFill>
                  <a:srgbClr val="D94747"/>
                </a:solidFill>
                <a:latin typeface="Arial"/>
                <a:ea typeface="Arial"/>
                <a:cs typeface="Arial"/>
              </a:rPr>
              <a:t>STAGE 5 · NEGATIVE RESULT</a:t>
            </a:r>
          </a:p>
        </p:txBody>
      </p:sp>
      <p:sp>
        <p:nvSpPr>
          <p:cNvPr id="2" name="title-14">
            <a:extLst>
              <a:ext uri="{FF2B5EF4-FFF2-40B4-BE49-F238E27FC236}">
                <a16:creationId xmlns:a16="http://schemas.microsoft.com/office/drawing/2014/main" id="{962400EE-2265-4B1E-9EE3-36939EEC8CE1}"/>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End-to-end learning collapses toward APPLY</a:t>
            </a:r>
          </a:p>
        </p:txBody>
      </p:sp>
      <p:sp>
        <p:nvSpPr>
          <p:cNvPr id="3" name="Straight Connector 2">
            <a:extLst>
              <a:ext uri="{FF2B5EF4-FFF2-40B4-BE49-F238E27FC236}">
                <a16:creationId xmlns:a16="http://schemas.microsoft.com/office/drawing/2014/main" id="{CBF395C6-9E70-43CE-B61F-17F9B27C07F9}"/>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C9455A44-0318-4534-B0BE-3CFB9D5B2266}"/>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14</a:t>
            </a:r>
          </a:p>
        </p:txBody>
      </p:sp>
      <p:sp>
        <p:nvSpPr>
          <p:cNvPr id="5" name="Rectangle 4">
            <a:extLst>
              <a:ext uri="{FF2B5EF4-FFF2-40B4-BE49-F238E27FC236}">
                <a16:creationId xmlns:a16="http://schemas.microsoft.com/office/drawing/2014/main" id="{C163013C-A58E-44FA-92C3-503A7E84F763}"/>
              </a:ext>
            </a:extLst>
          </p:cNvPr>
          <p:cNvSpPr>
            <a:spLocks noGrp="1"/>
          </p:cNvSpPr>
          <p:nvPr/>
        </p:nvSpPr>
        <p:spPr>
          <a:xfrm>
            <a:off x="1143000" y="1581150"/>
            <a:ext cx="9906000" cy="476250"/>
          </a:xfrm>
          <a:prstGeom prst="rect">
            <a:avLst/>
          </a:prstGeom>
          <a:noFill/>
          <a:ln w="0">
            <a:noFill/>
            <a:prstDash val="solid"/>
          </a:ln>
        </p:spPr>
        <p:txBody>
          <a:bodyPr wrap="square" lIns="0" tIns="0" rIns="0" bIns="0" anchor="t">
            <a:noAutofit/>
          </a:bodyPr>
          <a:lstStyle/>
          <a:p>
            <a:pPr algn="ctr">
              <a:buNone/>
              <a:defRPr sz="2400" b="1">
                <a:solidFill>
                  <a:srgbClr val="D94747"/>
                </a:solidFill>
                <a:latin typeface="Arial"/>
                <a:ea typeface="Arial"/>
                <a:cs typeface="Arial"/>
              </a:defRPr>
            </a:pPr>
            <a:r>
              <a:rPr sz="2400" b="1">
                <a:solidFill>
                  <a:srgbClr val="D94747"/>
                </a:solidFill>
                <a:latin typeface="Arial"/>
                <a:ea typeface="Arial"/>
                <a:cs typeface="Arial"/>
              </a:rPr>
              <a:t>The from-scratch model learns the majority action, not the boundary.</a:t>
            </a:r>
          </a:p>
        </p:txBody>
      </p:sp>
      <p:sp>
        <p:nvSpPr>
          <p:cNvPr id="6" name="Rectangle 5">
            <a:extLst>
              <a:ext uri="{FF2B5EF4-FFF2-40B4-BE49-F238E27FC236}">
                <a16:creationId xmlns:a16="http://schemas.microsoft.com/office/drawing/2014/main" id="{6CDAFAA0-6750-4849-8FE8-A17E9DDCE800}"/>
              </a:ext>
            </a:extLst>
          </p:cNvPr>
          <p:cNvSpPr>
            <a:spLocks noGrp="1"/>
          </p:cNvSpPr>
          <p:nvPr/>
        </p:nvSpPr>
        <p:spPr>
          <a:xfrm>
            <a:off x="495300" y="2571750"/>
            <a:ext cx="3562350" cy="2324100"/>
          </a:xfrm>
          <a:prstGeom prst="rect">
            <a:avLst/>
          </a:prstGeom>
          <a:solidFill>
            <a:srgbClr val="F1F3F6"/>
          </a:solidFill>
          <a:ln w="0">
            <a:noFill/>
            <a:prstDash val="solid"/>
          </a:ln>
        </p:spPr>
      </p:sp>
      <p:sp>
        <p:nvSpPr>
          <p:cNvPr id="7" name="Rectangle 6">
            <a:extLst>
              <a:ext uri="{FF2B5EF4-FFF2-40B4-BE49-F238E27FC236}">
                <a16:creationId xmlns:a16="http://schemas.microsoft.com/office/drawing/2014/main" id="{9092E3C1-85DF-4644-8B91-1850634720B2}"/>
              </a:ext>
            </a:extLst>
          </p:cNvPr>
          <p:cNvSpPr>
            <a:spLocks noGrp="1"/>
          </p:cNvSpPr>
          <p:nvPr/>
        </p:nvSpPr>
        <p:spPr>
          <a:xfrm>
            <a:off x="4314825" y="2571750"/>
            <a:ext cx="3562350" cy="2324100"/>
          </a:xfrm>
          <a:prstGeom prst="rect">
            <a:avLst/>
          </a:prstGeom>
          <a:solidFill>
            <a:srgbClr val="F1F3F6"/>
          </a:solidFill>
          <a:ln w="0">
            <a:noFill/>
            <a:prstDash val="solid"/>
          </a:ln>
        </p:spPr>
      </p:sp>
      <p:sp>
        <p:nvSpPr>
          <p:cNvPr id="8" name="Rectangle 7">
            <a:extLst>
              <a:ext uri="{FF2B5EF4-FFF2-40B4-BE49-F238E27FC236}">
                <a16:creationId xmlns:a16="http://schemas.microsoft.com/office/drawing/2014/main" id="{D60FCAE1-0AED-4693-8AA1-9363A2E8C85F}"/>
              </a:ext>
            </a:extLst>
          </p:cNvPr>
          <p:cNvSpPr>
            <a:spLocks noGrp="1"/>
          </p:cNvSpPr>
          <p:nvPr/>
        </p:nvSpPr>
        <p:spPr>
          <a:xfrm>
            <a:off x="8134350" y="2571750"/>
            <a:ext cx="3562350" cy="2324100"/>
          </a:xfrm>
          <a:prstGeom prst="rect">
            <a:avLst/>
          </a:prstGeom>
          <a:solidFill>
            <a:srgbClr val="FCEBEC"/>
          </a:solidFill>
          <a:ln w="9525">
            <a:solidFill>
              <a:srgbClr val="D94747"/>
            </a:solidFill>
            <a:prstDash val="solid"/>
          </a:ln>
        </p:spPr>
      </p:sp>
      <p:sp>
        <p:nvSpPr>
          <p:cNvPr id="9" name="Rectangle 8">
            <a:extLst>
              <a:ext uri="{FF2B5EF4-FFF2-40B4-BE49-F238E27FC236}">
                <a16:creationId xmlns:a16="http://schemas.microsoft.com/office/drawing/2014/main" id="{59604925-3DFA-4C9E-822E-61FAAD7FC2F1}"/>
              </a:ext>
            </a:extLst>
          </p:cNvPr>
          <p:cNvSpPr>
            <a:spLocks noGrp="1"/>
          </p:cNvSpPr>
          <p:nvPr/>
        </p:nvSpPr>
        <p:spPr>
          <a:xfrm>
            <a:off x="762000" y="2838450"/>
            <a:ext cx="3028950" cy="666750"/>
          </a:xfrm>
          <a:prstGeom prst="rect">
            <a:avLst/>
          </a:prstGeom>
          <a:noFill/>
          <a:ln w="0">
            <a:noFill/>
            <a:prstDash val="solid"/>
          </a:ln>
        </p:spPr>
        <p:txBody>
          <a:bodyPr wrap="none" lIns="0" tIns="0" rIns="0" bIns="0" anchor="t">
            <a:noAutofit/>
          </a:bodyPr>
          <a:lstStyle/>
          <a:p>
            <a:pPr algn="l">
              <a:buNone/>
              <a:defRPr sz="4350" b="1">
                <a:solidFill>
                  <a:srgbClr val="3D8DFF"/>
                </a:solidFill>
                <a:latin typeface="Arial"/>
                <a:ea typeface="Arial"/>
                <a:cs typeface="Arial"/>
              </a:defRPr>
            </a:pPr>
            <a:r>
              <a:rPr sz="4350" b="1">
                <a:solidFill>
                  <a:srgbClr val="3D8DFF"/>
                </a:solidFill>
                <a:latin typeface="Arial"/>
                <a:ea typeface="Arial"/>
                <a:cs typeface="Arial"/>
              </a:rPr>
              <a:t>66.5%</a:t>
            </a:r>
          </a:p>
        </p:txBody>
      </p:sp>
      <p:sp>
        <p:nvSpPr>
          <p:cNvPr id="10" name="Rectangle 9">
            <a:extLst>
              <a:ext uri="{FF2B5EF4-FFF2-40B4-BE49-F238E27FC236}">
                <a16:creationId xmlns:a16="http://schemas.microsoft.com/office/drawing/2014/main" id="{B248B552-328C-4CF6-B370-180AFCA2AE10}"/>
              </a:ext>
            </a:extLst>
          </p:cNvPr>
          <p:cNvSpPr>
            <a:spLocks noGrp="1"/>
          </p:cNvSpPr>
          <p:nvPr/>
        </p:nvSpPr>
        <p:spPr>
          <a:xfrm>
            <a:off x="762000" y="3543300"/>
            <a:ext cx="302895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accuracy</a:t>
            </a:r>
          </a:p>
        </p:txBody>
      </p:sp>
      <p:sp>
        <p:nvSpPr>
          <p:cNvPr id="11" name="Rectangle 10">
            <a:extLst>
              <a:ext uri="{FF2B5EF4-FFF2-40B4-BE49-F238E27FC236}">
                <a16:creationId xmlns:a16="http://schemas.microsoft.com/office/drawing/2014/main" id="{AEBBCF8B-5AEC-4D83-A80A-132C18239082}"/>
              </a:ext>
            </a:extLst>
          </p:cNvPr>
          <p:cNvSpPr>
            <a:spLocks noGrp="1"/>
          </p:cNvSpPr>
          <p:nvPr/>
        </p:nvSpPr>
        <p:spPr>
          <a:xfrm>
            <a:off x="762000" y="3905250"/>
            <a:ext cx="302895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Close to the APPLY-heavy majority baseline.</a:t>
            </a:r>
          </a:p>
        </p:txBody>
      </p:sp>
      <p:sp>
        <p:nvSpPr>
          <p:cNvPr id="12" name="Rectangle 11">
            <a:extLst>
              <a:ext uri="{FF2B5EF4-FFF2-40B4-BE49-F238E27FC236}">
                <a16:creationId xmlns:a16="http://schemas.microsoft.com/office/drawing/2014/main" id="{BF82F443-689C-4C9B-B443-1D8D40051CD9}"/>
              </a:ext>
            </a:extLst>
          </p:cNvPr>
          <p:cNvSpPr>
            <a:spLocks noGrp="1"/>
          </p:cNvSpPr>
          <p:nvPr/>
        </p:nvSpPr>
        <p:spPr>
          <a:xfrm>
            <a:off x="4581525" y="2838450"/>
            <a:ext cx="3028950" cy="666750"/>
          </a:xfrm>
          <a:prstGeom prst="rect">
            <a:avLst/>
          </a:prstGeom>
          <a:noFill/>
          <a:ln w="0">
            <a:noFill/>
            <a:prstDash val="solid"/>
          </a:ln>
        </p:spPr>
        <p:txBody>
          <a:bodyPr wrap="none" lIns="0" tIns="0" rIns="0" bIns="0" anchor="t">
            <a:noAutofit/>
          </a:bodyPr>
          <a:lstStyle/>
          <a:p>
            <a:pPr algn="l">
              <a:buNone/>
              <a:defRPr sz="4350" b="1">
                <a:solidFill>
                  <a:srgbClr val="D94747"/>
                </a:solidFill>
                <a:latin typeface="Arial"/>
                <a:ea typeface="Arial"/>
                <a:cs typeface="Arial"/>
              </a:defRPr>
            </a:pPr>
            <a:r>
              <a:rPr sz="4350" b="1">
                <a:solidFill>
                  <a:srgbClr val="D94747"/>
                </a:solidFill>
                <a:latin typeface="Arial"/>
                <a:ea typeface="Arial"/>
                <a:cs typeface="Arial"/>
              </a:rPr>
              <a:t>29.6%</a:t>
            </a:r>
          </a:p>
        </p:txBody>
      </p:sp>
      <p:sp>
        <p:nvSpPr>
          <p:cNvPr id="13" name="Rectangle 12">
            <a:extLst>
              <a:ext uri="{FF2B5EF4-FFF2-40B4-BE49-F238E27FC236}">
                <a16:creationId xmlns:a16="http://schemas.microsoft.com/office/drawing/2014/main" id="{C06A38AE-62A9-42B3-898C-CA54A6596040}"/>
              </a:ext>
            </a:extLst>
          </p:cNvPr>
          <p:cNvSpPr>
            <a:spLocks noGrp="1"/>
          </p:cNvSpPr>
          <p:nvPr/>
        </p:nvSpPr>
        <p:spPr>
          <a:xfrm>
            <a:off x="4581525" y="3543300"/>
            <a:ext cx="302895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Macro-F1</a:t>
            </a:r>
          </a:p>
        </p:txBody>
      </p:sp>
      <p:sp>
        <p:nvSpPr>
          <p:cNvPr id="14" name="Rectangle 13">
            <a:extLst>
              <a:ext uri="{FF2B5EF4-FFF2-40B4-BE49-F238E27FC236}">
                <a16:creationId xmlns:a16="http://schemas.microsoft.com/office/drawing/2014/main" id="{9C462CCF-25DB-4F4F-849F-4A072E642C75}"/>
              </a:ext>
            </a:extLst>
          </p:cNvPr>
          <p:cNvSpPr>
            <a:spLocks noGrp="1"/>
          </p:cNvSpPr>
          <p:nvPr/>
        </p:nvSpPr>
        <p:spPr>
          <a:xfrm>
            <a:off x="4581525" y="3905250"/>
            <a:ext cx="302895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The minority actions are rarely recovered.</a:t>
            </a:r>
          </a:p>
        </p:txBody>
      </p:sp>
      <p:sp>
        <p:nvSpPr>
          <p:cNvPr id="15" name="Rectangle 14">
            <a:extLst>
              <a:ext uri="{FF2B5EF4-FFF2-40B4-BE49-F238E27FC236}">
                <a16:creationId xmlns:a16="http://schemas.microsoft.com/office/drawing/2014/main" id="{8AB33108-9149-4ABF-A1FC-EF704D225394}"/>
              </a:ext>
            </a:extLst>
          </p:cNvPr>
          <p:cNvSpPr>
            <a:spLocks noGrp="1"/>
          </p:cNvSpPr>
          <p:nvPr/>
        </p:nvSpPr>
        <p:spPr>
          <a:xfrm>
            <a:off x="8401050" y="2838450"/>
            <a:ext cx="3028950" cy="666750"/>
          </a:xfrm>
          <a:prstGeom prst="rect">
            <a:avLst/>
          </a:prstGeom>
          <a:noFill/>
          <a:ln w="0">
            <a:noFill/>
            <a:prstDash val="solid"/>
          </a:ln>
        </p:spPr>
        <p:txBody>
          <a:bodyPr wrap="none" lIns="0" tIns="0" rIns="0" bIns="0" anchor="t">
            <a:noAutofit/>
          </a:bodyPr>
          <a:lstStyle/>
          <a:p>
            <a:pPr algn="l">
              <a:buNone/>
              <a:defRPr sz="4350" b="1">
                <a:solidFill>
                  <a:srgbClr val="D94747"/>
                </a:solidFill>
                <a:latin typeface="Arial"/>
                <a:ea typeface="Arial"/>
                <a:cs typeface="Arial"/>
              </a:defRPr>
            </a:pPr>
            <a:r>
              <a:rPr sz="4350" b="1">
                <a:solidFill>
                  <a:srgbClr val="D94747"/>
                </a:solidFill>
                <a:latin typeface="Arial"/>
                <a:ea typeface="Arial"/>
                <a:cs typeface="Arial"/>
              </a:rPr>
              <a:t>96.4%</a:t>
            </a:r>
          </a:p>
        </p:txBody>
      </p:sp>
      <p:sp>
        <p:nvSpPr>
          <p:cNvPr id="16" name="Rectangle 15">
            <a:extLst>
              <a:ext uri="{FF2B5EF4-FFF2-40B4-BE49-F238E27FC236}">
                <a16:creationId xmlns:a16="http://schemas.microsoft.com/office/drawing/2014/main" id="{67C4B3F5-7113-449F-90E9-F4C3EB7A21D5}"/>
              </a:ext>
            </a:extLst>
          </p:cNvPr>
          <p:cNvSpPr>
            <a:spLocks noGrp="1"/>
          </p:cNvSpPr>
          <p:nvPr/>
        </p:nvSpPr>
        <p:spPr>
          <a:xfrm>
            <a:off x="8401050" y="3543300"/>
            <a:ext cx="3028950" cy="32385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overgeneralization</a:t>
            </a:r>
          </a:p>
        </p:txBody>
      </p:sp>
      <p:sp>
        <p:nvSpPr>
          <p:cNvPr id="17" name="Rectangle 16">
            <a:extLst>
              <a:ext uri="{FF2B5EF4-FFF2-40B4-BE49-F238E27FC236}">
                <a16:creationId xmlns:a16="http://schemas.microsoft.com/office/drawing/2014/main" id="{EEFDCF64-0F09-4BE5-8A23-3EEA103DE186}"/>
              </a:ext>
            </a:extLst>
          </p:cNvPr>
          <p:cNvSpPr>
            <a:spLocks noGrp="1"/>
          </p:cNvSpPr>
          <p:nvPr/>
        </p:nvSpPr>
        <p:spPr>
          <a:xfrm>
            <a:off x="8401050" y="3905250"/>
            <a:ext cx="3028950" cy="5905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Almost every outside opportunity is mishandled.</a:t>
            </a:r>
          </a:p>
        </p:txBody>
      </p:sp>
      <p:sp>
        <p:nvSpPr>
          <p:cNvPr id="18" name="Rectangle 17">
            <a:extLst>
              <a:ext uri="{FF2B5EF4-FFF2-40B4-BE49-F238E27FC236}">
                <a16:creationId xmlns:a16="http://schemas.microsoft.com/office/drawing/2014/main" id="{887509BE-50DA-4539-A9CA-E57A5FB14DB5}"/>
              </a:ext>
            </a:extLst>
          </p:cNvPr>
          <p:cNvSpPr>
            <a:spLocks noGrp="1"/>
          </p:cNvSpPr>
          <p:nvPr/>
        </p:nvSpPr>
        <p:spPr>
          <a:xfrm>
            <a:off x="1390650" y="5276850"/>
            <a:ext cx="9410700" cy="685800"/>
          </a:xfrm>
          <a:prstGeom prst="rect">
            <a:avLst/>
          </a:prstGeom>
          <a:solidFill>
            <a:srgbClr val="FCEBEC"/>
          </a:solidFill>
          <a:ln w="9525">
            <a:solidFill>
              <a:srgbClr val="D94747"/>
            </a:solidFill>
            <a:prstDash val="solid"/>
          </a:ln>
        </p:spPr>
      </p:sp>
      <p:sp>
        <p:nvSpPr>
          <p:cNvPr id="19" name="Rectangle 18">
            <a:extLst>
              <a:ext uri="{FF2B5EF4-FFF2-40B4-BE49-F238E27FC236}">
                <a16:creationId xmlns:a16="http://schemas.microsoft.com/office/drawing/2014/main" id="{5E0B2C86-1C47-470A-B5AB-9517B444B5C2}"/>
              </a:ext>
            </a:extLst>
          </p:cNvPr>
          <p:cNvSpPr>
            <a:spLocks noGrp="1"/>
          </p:cNvSpPr>
          <p:nvPr/>
        </p:nvSpPr>
        <p:spPr>
          <a:xfrm>
            <a:off x="1695450" y="5486400"/>
            <a:ext cx="2476500" cy="266700"/>
          </a:xfrm>
          <a:prstGeom prst="rect">
            <a:avLst/>
          </a:prstGeom>
          <a:noFill/>
          <a:ln w="0">
            <a:noFill/>
            <a:prstDash val="solid"/>
          </a:ln>
        </p:spPr>
        <p:txBody>
          <a:bodyPr wrap="square" lIns="0" tIns="0" rIns="0" bIns="0" anchor="t">
            <a:noAutofit/>
          </a:bodyPr>
          <a:lstStyle/>
          <a:p>
            <a:pPr algn="l">
              <a:buNone/>
              <a:defRPr sz="1650" b="1">
                <a:solidFill>
                  <a:srgbClr val="159A7D"/>
                </a:solidFill>
                <a:latin typeface="Arial"/>
                <a:ea typeface="Arial"/>
                <a:cs typeface="Arial"/>
              </a:defRPr>
            </a:pPr>
            <a:r>
              <a:rPr sz="1650" b="1">
                <a:solidFill>
                  <a:srgbClr val="159A7D"/>
                </a:solidFill>
                <a:latin typeface="Arial"/>
                <a:ea typeface="Arial"/>
                <a:cs typeface="Arial"/>
              </a:rPr>
              <a:t>INSIDE 98.6%</a:t>
            </a:r>
          </a:p>
        </p:txBody>
      </p:sp>
      <p:sp>
        <p:nvSpPr>
          <p:cNvPr id="20" name="Rectangle 19">
            <a:extLst>
              <a:ext uri="{FF2B5EF4-FFF2-40B4-BE49-F238E27FC236}">
                <a16:creationId xmlns:a16="http://schemas.microsoft.com/office/drawing/2014/main" id="{A92A5AB8-2E93-4233-B2D3-FB04AD93A14F}"/>
              </a:ext>
            </a:extLst>
          </p:cNvPr>
          <p:cNvSpPr>
            <a:spLocks noGrp="1"/>
          </p:cNvSpPr>
          <p:nvPr/>
        </p:nvSpPr>
        <p:spPr>
          <a:xfrm>
            <a:off x="4838700" y="5486400"/>
            <a:ext cx="2476500" cy="266700"/>
          </a:xfrm>
          <a:prstGeom prst="rect">
            <a:avLst/>
          </a:prstGeom>
          <a:noFill/>
          <a:ln w="0">
            <a:noFill/>
            <a:prstDash val="solid"/>
          </a:ln>
        </p:spPr>
        <p:txBody>
          <a:bodyPr wrap="square" lIns="0" tIns="0" rIns="0" bIns="0" anchor="t">
            <a:noAutofit/>
          </a:bodyPr>
          <a:lstStyle/>
          <a:p>
            <a:pPr algn="l">
              <a:buNone/>
              <a:defRPr sz="1650" b="1">
                <a:solidFill>
                  <a:srgbClr val="D94747"/>
                </a:solidFill>
                <a:latin typeface="Arial"/>
                <a:ea typeface="Arial"/>
                <a:cs typeface="Arial"/>
              </a:defRPr>
            </a:pPr>
            <a:r>
              <a:rPr sz="1650" b="1">
                <a:solidFill>
                  <a:srgbClr val="D94747"/>
                </a:solidFill>
                <a:latin typeface="Arial"/>
                <a:ea typeface="Arial"/>
                <a:cs typeface="Arial"/>
              </a:rPr>
              <a:t>OUTSIDE 3.1%</a:t>
            </a:r>
          </a:p>
        </p:txBody>
      </p:sp>
      <p:sp>
        <p:nvSpPr>
          <p:cNvPr id="21" name="Rectangle 20">
            <a:extLst>
              <a:ext uri="{FF2B5EF4-FFF2-40B4-BE49-F238E27FC236}">
                <a16:creationId xmlns:a16="http://schemas.microsoft.com/office/drawing/2014/main" id="{785B6044-2FD0-4C68-84FB-27A82B8F6BCF}"/>
              </a:ext>
            </a:extLst>
          </p:cNvPr>
          <p:cNvSpPr>
            <a:spLocks noGrp="1"/>
          </p:cNvSpPr>
          <p:nvPr/>
        </p:nvSpPr>
        <p:spPr>
          <a:xfrm>
            <a:off x="8001000" y="5486400"/>
            <a:ext cx="2095500" cy="266700"/>
          </a:xfrm>
          <a:prstGeom prst="rect">
            <a:avLst/>
          </a:prstGeom>
          <a:noFill/>
          <a:ln w="0">
            <a:noFill/>
            <a:prstDash val="solid"/>
          </a:ln>
        </p:spPr>
        <p:txBody>
          <a:bodyPr wrap="square" lIns="0" tIns="0" rIns="0" bIns="0" anchor="t">
            <a:noAutofit/>
          </a:bodyPr>
          <a:lstStyle/>
          <a:p>
            <a:pPr algn="l">
              <a:buNone/>
              <a:defRPr sz="1650" b="1">
                <a:solidFill>
                  <a:srgbClr val="C98500"/>
                </a:solidFill>
                <a:latin typeface="Arial"/>
                <a:ea typeface="Arial"/>
                <a:cs typeface="Arial"/>
              </a:defRPr>
            </a:pPr>
            <a:r>
              <a:rPr sz="1650" b="1">
                <a:solidFill>
                  <a:srgbClr val="C98500"/>
                </a:solidFill>
                <a:latin typeface="Arial"/>
                <a:ea typeface="Arial"/>
                <a:cs typeface="Arial"/>
              </a:rPr>
              <a:t>NEAR 1.6%</a:t>
            </a:r>
          </a:p>
        </p:txBody>
      </p:sp>
    </p:spTree>
    <p:extLst>
      <p:ext uri="{BB962C8B-B14F-4D97-AF65-F5344CB8AC3E}">
        <p14:creationId xmlns:p14="http://schemas.microsoft.com/office/powerpoint/2010/main" val="2050933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kicker-15">
            <a:extLst>
              <a:ext uri="{FF2B5EF4-FFF2-40B4-BE49-F238E27FC236}">
                <a16:creationId xmlns:a16="http://schemas.microsoft.com/office/drawing/2014/main" id="{A776DCCF-64B7-4FF2-9FE6-D469BEE5F4AD}"/>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159A7D"/>
                </a:solidFill>
                <a:latin typeface="Arial"/>
                <a:ea typeface="Arial"/>
                <a:cs typeface="Arial"/>
              </a:defRPr>
            </a:pPr>
            <a:r>
              <a:rPr sz="1200" b="1">
                <a:solidFill>
                  <a:srgbClr val="159A7D"/>
                </a:solidFill>
                <a:latin typeface="Arial"/>
                <a:ea typeface="Arial"/>
                <a:cs typeface="Arial"/>
              </a:rPr>
              <a:t>STAGE 6 · MODULAR DESIGN</a:t>
            </a:r>
          </a:p>
        </p:txBody>
      </p:sp>
      <p:sp>
        <p:nvSpPr>
          <p:cNvPr id="2" name="title-15">
            <a:extLst>
              <a:ext uri="{FF2B5EF4-FFF2-40B4-BE49-F238E27FC236}">
                <a16:creationId xmlns:a16="http://schemas.microsoft.com/office/drawing/2014/main" id="{9E165B8D-3BD5-4A56-8FB5-1E67D9F46B94}"/>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The hybrid recovers accuracy and auditability</a:t>
            </a:r>
          </a:p>
        </p:txBody>
      </p:sp>
      <p:sp>
        <p:nvSpPr>
          <p:cNvPr id="3" name="Straight Connector 2">
            <a:extLst>
              <a:ext uri="{FF2B5EF4-FFF2-40B4-BE49-F238E27FC236}">
                <a16:creationId xmlns:a16="http://schemas.microsoft.com/office/drawing/2014/main" id="{9B3D8438-9079-45C5-AB1D-1BE5D8D0F486}"/>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1020B10F-7163-4CAB-A276-51BB26196684}"/>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15</a:t>
            </a:r>
          </a:p>
        </p:txBody>
      </p:sp>
      <p:sp>
        <p:nvSpPr>
          <p:cNvPr id="5" name="Arrow: Right 4">
            <a:extLst>
              <a:ext uri="{FF2B5EF4-FFF2-40B4-BE49-F238E27FC236}">
                <a16:creationId xmlns:a16="http://schemas.microsoft.com/office/drawing/2014/main" id="{44233F46-9A92-450B-B517-E1DEB196252C}"/>
              </a:ext>
            </a:extLst>
          </p:cNvPr>
          <p:cNvSpPr>
            <a:spLocks noGrp="1"/>
          </p:cNvSpPr>
          <p:nvPr/>
        </p:nvSpPr>
        <p:spPr>
          <a:xfrm>
            <a:off x="2590800" y="2705100"/>
            <a:ext cx="457200" cy="266700"/>
          </a:xfrm>
          <a:prstGeom prst="rightArrow">
            <a:avLst/>
          </a:prstGeom>
          <a:solidFill>
            <a:srgbClr val="159A7D"/>
          </a:solidFill>
          <a:ln w="0">
            <a:solidFill>
              <a:srgbClr val="159A7D"/>
            </a:solidFill>
            <a:prstDash val="solid"/>
          </a:ln>
        </p:spPr>
      </p:sp>
      <p:sp>
        <p:nvSpPr>
          <p:cNvPr id="6" name="Arrow: Right 5">
            <a:extLst>
              <a:ext uri="{FF2B5EF4-FFF2-40B4-BE49-F238E27FC236}">
                <a16:creationId xmlns:a16="http://schemas.microsoft.com/office/drawing/2014/main" id="{DF34BC18-527B-49EA-A68F-6ECBA413B995}"/>
              </a:ext>
            </a:extLst>
          </p:cNvPr>
          <p:cNvSpPr>
            <a:spLocks noGrp="1"/>
          </p:cNvSpPr>
          <p:nvPr/>
        </p:nvSpPr>
        <p:spPr>
          <a:xfrm>
            <a:off x="5238750" y="2705100"/>
            <a:ext cx="457200" cy="266700"/>
          </a:xfrm>
          <a:prstGeom prst="rightArrow">
            <a:avLst/>
          </a:prstGeom>
          <a:solidFill>
            <a:srgbClr val="159A7D"/>
          </a:solidFill>
          <a:ln w="0">
            <a:solidFill>
              <a:srgbClr val="159A7D"/>
            </a:solidFill>
            <a:prstDash val="solid"/>
          </a:ln>
        </p:spPr>
      </p:sp>
      <p:sp>
        <p:nvSpPr>
          <p:cNvPr id="7" name="Arrow: Right 6">
            <a:extLst>
              <a:ext uri="{FF2B5EF4-FFF2-40B4-BE49-F238E27FC236}">
                <a16:creationId xmlns:a16="http://schemas.microsoft.com/office/drawing/2014/main" id="{363157F5-5B7A-4C92-AFC2-6F4D7C88CE6E}"/>
              </a:ext>
            </a:extLst>
          </p:cNvPr>
          <p:cNvSpPr>
            <a:spLocks noGrp="1"/>
          </p:cNvSpPr>
          <p:nvPr/>
        </p:nvSpPr>
        <p:spPr>
          <a:xfrm>
            <a:off x="7886700" y="2705100"/>
            <a:ext cx="457200" cy="266700"/>
          </a:xfrm>
          <a:prstGeom prst="rightArrow">
            <a:avLst/>
          </a:prstGeom>
          <a:solidFill>
            <a:srgbClr val="159A7D"/>
          </a:solidFill>
          <a:ln w="0">
            <a:solidFill>
              <a:srgbClr val="159A7D"/>
            </a:solidFill>
            <a:prstDash val="solid"/>
          </a:ln>
        </p:spPr>
      </p:sp>
      <p:sp>
        <p:nvSpPr>
          <p:cNvPr id="8" name="Rectangle 7">
            <a:extLst>
              <a:ext uri="{FF2B5EF4-FFF2-40B4-BE49-F238E27FC236}">
                <a16:creationId xmlns:a16="http://schemas.microsoft.com/office/drawing/2014/main" id="{C04EB0CB-F0D3-427A-B49B-E184767BC588}"/>
              </a:ext>
            </a:extLst>
          </p:cNvPr>
          <p:cNvSpPr>
            <a:spLocks noGrp="1"/>
          </p:cNvSpPr>
          <p:nvPr/>
        </p:nvSpPr>
        <p:spPr>
          <a:xfrm>
            <a:off x="495300" y="2038350"/>
            <a:ext cx="2095500" cy="1638300"/>
          </a:xfrm>
          <a:prstGeom prst="rect">
            <a:avLst/>
          </a:prstGeom>
          <a:solidFill>
            <a:srgbClr val="F1F3F6"/>
          </a:solidFill>
          <a:ln w="14288">
            <a:solidFill>
              <a:srgbClr val="C9CED8"/>
            </a:solidFill>
            <a:prstDash val="solid"/>
          </a:ln>
        </p:spPr>
      </p:sp>
      <p:sp>
        <p:nvSpPr>
          <p:cNvPr id="9" name="Rectangle 8">
            <a:extLst>
              <a:ext uri="{FF2B5EF4-FFF2-40B4-BE49-F238E27FC236}">
                <a16:creationId xmlns:a16="http://schemas.microsoft.com/office/drawing/2014/main" id="{A2BC903E-B6EE-4D45-BDD2-0AFFA6B06449}"/>
              </a:ext>
            </a:extLst>
          </p:cNvPr>
          <p:cNvSpPr>
            <a:spLocks noGrp="1"/>
          </p:cNvSpPr>
          <p:nvPr/>
        </p:nvSpPr>
        <p:spPr>
          <a:xfrm>
            <a:off x="685800" y="2324100"/>
            <a:ext cx="1714500" cy="590550"/>
          </a:xfrm>
          <a:prstGeom prst="rect">
            <a:avLst/>
          </a:prstGeom>
          <a:noFill/>
          <a:ln w="0">
            <a:noFill/>
            <a:prstDash val="solid"/>
          </a:ln>
        </p:spPr>
        <p:txBody>
          <a:bodyPr wrap="square" lIns="0" tIns="0" rIns="0" bIns="0" anchor="t">
            <a:normAutofit/>
          </a:bodyPr>
          <a:lstStyle/>
          <a:p>
            <a:pPr algn="ctr">
              <a:buNone/>
              <a:defRPr sz="2025" b="1">
                <a:solidFill>
                  <a:srgbClr val="0A1020"/>
                </a:solidFill>
                <a:latin typeface="Arial"/>
                <a:ea typeface="Arial"/>
                <a:cs typeface="Arial"/>
              </a:defRPr>
            </a:pPr>
            <a:r>
              <a:rPr sz="2025" b="1">
                <a:solidFill>
                  <a:srgbClr val="0A1020"/>
                </a:solidFill>
                <a:latin typeface="Arial"/>
                <a:ea typeface="Arial"/>
                <a:cs typeface="Arial"/>
              </a:rPr>
              <a:t>History</a:t>
            </a:r>
          </a:p>
        </p:txBody>
      </p:sp>
      <p:sp>
        <p:nvSpPr>
          <p:cNvPr id="10" name="Rectangle 9">
            <a:extLst>
              <a:ext uri="{FF2B5EF4-FFF2-40B4-BE49-F238E27FC236}">
                <a16:creationId xmlns:a16="http://schemas.microsoft.com/office/drawing/2014/main" id="{00675CC5-F5D5-4A57-95EA-016D9C88CC26}"/>
              </a:ext>
            </a:extLst>
          </p:cNvPr>
          <p:cNvSpPr>
            <a:spLocks noGrp="1"/>
          </p:cNvSpPr>
          <p:nvPr/>
        </p:nvSpPr>
        <p:spPr>
          <a:xfrm>
            <a:off x="685800" y="3009900"/>
            <a:ext cx="1714500" cy="495300"/>
          </a:xfrm>
          <a:prstGeom prst="rect">
            <a:avLst/>
          </a:prstGeom>
          <a:noFill/>
          <a:ln w="0">
            <a:noFill/>
            <a:prstDash val="solid"/>
          </a:ln>
        </p:spPr>
        <p:txBody>
          <a:bodyPr wrap="square" lIns="0" tIns="0" rIns="0" bIns="0" anchor="t">
            <a:normAutofit/>
          </a:bodyPr>
          <a:lstStyle/>
          <a:p>
            <a:pPr algn="ctr">
              <a:buNone/>
              <a:defRPr sz="1388" b="0">
                <a:solidFill>
                  <a:srgbClr val="5D6677"/>
                </a:solidFill>
                <a:latin typeface="Arial"/>
                <a:ea typeface="Arial"/>
                <a:cs typeface="Arial"/>
              </a:defRPr>
            </a:pPr>
            <a:r>
              <a:rPr sz="1388" b="0">
                <a:solidFill>
                  <a:srgbClr val="5D6677"/>
                </a:solidFill>
                <a:latin typeface="Arial"/>
                <a:ea typeface="Arial"/>
                <a:cs typeface="Arial"/>
              </a:rPr>
              <a:t>Natural-language evidence</a:t>
            </a:r>
          </a:p>
        </p:txBody>
      </p:sp>
      <p:sp>
        <p:nvSpPr>
          <p:cNvPr id="11" name="Rectangle 10">
            <a:extLst>
              <a:ext uri="{FF2B5EF4-FFF2-40B4-BE49-F238E27FC236}">
                <a16:creationId xmlns:a16="http://schemas.microsoft.com/office/drawing/2014/main" id="{63DD461F-3BB5-425D-A019-88933C4D158C}"/>
              </a:ext>
            </a:extLst>
          </p:cNvPr>
          <p:cNvSpPr>
            <a:spLocks noGrp="1"/>
          </p:cNvSpPr>
          <p:nvPr/>
        </p:nvSpPr>
        <p:spPr>
          <a:xfrm>
            <a:off x="3143250" y="2038350"/>
            <a:ext cx="2095500" cy="1638300"/>
          </a:xfrm>
          <a:prstGeom prst="rect">
            <a:avLst/>
          </a:prstGeom>
          <a:solidFill>
            <a:srgbClr val="F0ECFF"/>
          </a:solidFill>
          <a:ln w="14288">
            <a:solidFill>
              <a:srgbClr val="7357D9"/>
            </a:solidFill>
            <a:prstDash val="solid"/>
          </a:ln>
        </p:spPr>
      </p:sp>
      <p:sp>
        <p:nvSpPr>
          <p:cNvPr id="12" name="Rectangle 11">
            <a:extLst>
              <a:ext uri="{FF2B5EF4-FFF2-40B4-BE49-F238E27FC236}">
                <a16:creationId xmlns:a16="http://schemas.microsoft.com/office/drawing/2014/main" id="{B276399B-B28B-4114-8D5E-C13099E23602}"/>
              </a:ext>
            </a:extLst>
          </p:cNvPr>
          <p:cNvSpPr>
            <a:spLocks noGrp="1"/>
          </p:cNvSpPr>
          <p:nvPr/>
        </p:nvSpPr>
        <p:spPr>
          <a:xfrm>
            <a:off x="3333750" y="2324100"/>
            <a:ext cx="1714500" cy="590550"/>
          </a:xfrm>
          <a:prstGeom prst="rect">
            <a:avLst/>
          </a:prstGeom>
          <a:noFill/>
          <a:ln w="0">
            <a:noFill/>
            <a:prstDash val="solid"/>
          </a:ln>
        </p:spPr>
        <p:txBody>
          <a:bodyPr wrap="square" lIns="0" tIns="0" rIns="0" bIns="0" anchor="t">
            <a:normAutofit fontScale="95679"/>
          </a:bodyPr>
          <a:lstStyle/>
          <a:p>
            <a:pPr algn="ctr">
              <a:buNone/>
              <a:defRPr sz="2025" b="1">
                <a:solidFill>
                  <a:srgbClr val="0A1020"/>
                </a:solidFill>
                <a:latin typeface="Arial"/>
                <a:ea typeface="Arial"/>
                <a:cs typeface="Arial"/>
              </a:defRPr>
            </a:pPr>
            <a:r>
              <a:rPr sz="2025" b="1">
                <a:solidFill>
                  <a:srgbClr val="0A1020"/>
                </a:solidFill>
                <a:latin typeface="Arial"/>
                <a:ea typeface="Arial"/>
                <a:cs typeface="Arial"/>
              </a:rPr>
              <a:t>Tiny Transformer</a:t>
            </a:r>
          </a:p>
        </p:txBody>
      </p:sp>
      <p:sp>
        <p:nvSpPr>
          <p:cNvPr id="13" name="Rectangle 12">
            <a:extLst>
              <a:ext uri="{FF2B5EF4-FFF2-40B4-BE49-F238E27FC236}">
                <a16:creationId xmlns:a16="http://schemas.microsoft.com/office/drawing/2014/main" id="{CAD9DEC2-3301-4292-BA85-55B0EBD2F60C}"/>
              </a:ext>
            </a:extLst>
          </p:cNvPr>
          <p:cNvSpPr>
            <a:spLocks noGrp="1"/>
          </p:cNvSpPr>
          <p:nvPr/>
        </p:nvSpPr>
        <p:spPr>
          <a:xfrm>
            <a:off x="3333750" y="3009900"/>
            <a:ext cx="1714500" cy="495300"/>
          </a:xfrm>
          <a:prstGeom prst="rect">
            <a:avLst/>
          </a:prstGeom>
          <a:noFill/>
          <a:ln w="0">
            <a:noFill/>
            <a:prstDash val="solid"/>
          </a:ln>
        </p:spPr>
        <p:txBody>
          <a:bodyPr wrap="square" lIns="0" tIns="0" rIns="0" bIns="0" anchor="t">
            <a:normAutofit fontScale="83502"/>
          </a:bodyPr>
          <a:lstStyle/>
          <a:p>
            <a:pPr algn="ctr">
              <a:buNone/>
              <a:defRPr sz="1388" b="0">
                <a:solidFill>
                  <a:srgbClr val="5D6677"/>
                </a:solidFill>
                <a:latin typeface="Arial"/>
                <a:ea typeface="Arial"/>
                <a:cs typeface="Arial"/>
              </a:defRPr>
            </a:pPr>
            <a:r>
              <a:rPr sz="1388" b="0">
                <a:solidFill>
                  <a:srgbClr val="5D6677"/>
                </a:solidFill>
                <a:latin typeface="Arial"/>
                <a:ea typeface="Arial"/>
                <a:cs typeface="Arial"/>
              </a:rPr>
              <a:t>Learns profile, owner, type, and temporal validity</a:t>
            </a:r>
          </a:p>
        </p:txBody>
      </p:sp>
      <p:sp>
        <p:nvSpPr>
          <p:cNvPr id="14" name="Rectangle 13">
            <a:extLst>
              <a:ext uri="{FF2B5EF4-FFF2-40B4-BE49-F238E27FC236}">
                <a16:creationId xmlns:a16="http://schemas.microsoft.com/office/drawing/2014/main" id="{A75F5E72-6CAF-4525-8CA3-0DB20BF4410E}"/>
              </a:ext>
            </a:extLst>
          </p:cNvPr>
          <p:cNvSpPr>
            <a:spLocks noGrp="1"/>
          </p:cNvSpPr>
          <p:nvPr/>
        </p:nvSpPr>
        <p:spPr>
          <a:xfrm>
            <a:off x="5791200" y="2038350"/>
            <a:ext cx="2095500" cy="1638300"/>
          </a:xfrm>
          <a:prstGeom prst="rect">
            <a:avLst/>
          </a:prstGeom>
          <a:solidFill>
            <a:srgbClr val="F1F3F6"/>
          </a:solidFill>
          <a:ln w="14288">
            <a:solidFill>
              <a:srgbClr val="C9CED8"/>
            </a:solidFill>
            <a:prstDash val="solid"/>
          </a:ln>
        </p:spPr>
      </p:sp>
      <p:sp>
        <p:nvSpPr>
          <p:cNvPr id="15" name="Rectangle 14">
            <a:extLst>
              <a:ext uri="{FF2B5EF4-FFF2-40B4-BE49-F238E27FC236}">
                <a16:creationId xmlns:a16="http://schemas.microsoft.com/office/drawing/2014/main" id="{76A62539-C54F-444D-A774-8CF8CBAFCBA4}"/>
              </a:ext>
            </a:extLst>
          </p:cNvPr>
          <p:cNvSpPr>
            <a:spLocks noGrp="1"/>
          </p:cNvSpPr>
          <p:nvPr/>
        </p:nvSpPr>
        <p:spPr>
          <a:xfrm>
            <a:off x="5981700" y="2324100"/>
            <a:ext cx="1714500" cy="590550"/>
          </a:xfrm>
          <a:prstGeom prst="rect">
            <a:avLst/>
          </a:prstGeom>
          <a:noFill/>
          <a:ln w="0">
            <a:noFill/>
            <a:prstDash val="solid"/>
          </a:ln>
        </p:spPr>
        <p:txBody>
          <a:bodyPr wrap="square" lIns="0" tIns="0" rIns="0" bIns="0" anchor="t">
            <a:normAutofit fontScale="95679"/>
          </a:bodyPr>
          <a:lstStyle/>
          <a:p>
            <a:pPr algn="ctr">
              <a:buNone/>
              <a:defRPr sz="2025" b="1">
                <a:solidFill>
                  <a:srgbClr val="0A1020"/>
                </a:solidFill>
                <a:latin typeface="Arial"/>
                <a:ea typeface="Arial"/>
                <a:cs typeface="Arial"/>
              </a:defRPr>
            </a:pPr>
            <a:r>
              <a:rPr sz="2025" b="1">
                <a:solidFill>
                  <a:srgbClr val="0A1020"/>
                </a:solidFill>
                <a:latin typeface="Arial"/>
                <a:ea typeface="Arial"/>
                <a:cs typeface="Arial"/>
              </a:rPr>
              <a:t>Structured memory</a:t>
            </a:r>
          </a:p>
        </p:txBody>
      </p:sp>
      <p:sp>
        <p:nvSpPr>
          <p:cNvPr id="16" name="Rectangle 15">
            <a:extLst>
              <a:ext uri="{FF2B5EF4-FFF2-40B4-BE49-F238E27FC236}">
                <a16:creationId xmlns:a16="http://schemas.microsoft.com/office/drawing/2014/main" id="{BC1D9924-B341-41D0-8394-30D4F4F8B3C6}"/>
              </a:ext>
            </a:extLst>
          </p:cNvPr>
          <p:cNvSpPr>
            <a:spLocks noGrp="1"/>
          </p:cNvSpPr>
          <p:nvPr/>
        </p:nvSpPr>
        <p:spPr>
          <a:xfrm>
            <a:off x="5981700" y="3009900"/>
            <a:ext cx="1714500" cy="495300"/>
          </a:xfrm>
          <a:prstGeom prst="rect">
            <a:avLst/>
          </a:prstGeom>
          <a:noFill/>
          <a:ln w="0">
            <a:noFill/>
            <a:prstDash val="solid"/>
          </a:ln>
        </p:spPr>
        <p:txBody>
          <a:bodyPr wrap="square" lIns="0" tIns="0" rIns="0" bIns="0" anchor="t">
            <a:normAutofit/>
          </a:bodyPr>
          <a:lstStyle/>
          <a:p>
            <a:pPr algn="ctr">
              <a:buNone/>
              <a:defRPr sz="1388" b="0">
                <a:solidFill>
                  <a:srgbClr val="5D6677"/>
                </a:solidFill>
                <a:latin typeface="Arial"/>
                <a:ea typeface="Arial"/>
                <a:cs typeface="Arial"/>
              </a:defRPr>
            </a:pPr>
            <a:r>
              <a:rPr sz="1388" b="0">
                <a:solidFill>
                  <a:srgbClr val="5D6677"/>
                </a:solidFill>
                <a:latin typeface="Arial"/>
                <a:ea typeface="Arial"/>
                <a:cs typeface="Arial"/>
              </a:rPr>
              <a:t>Family + positive and negative scope</a:t>
            </a:r>
          </a:p>
        </p:txBody>
      </p:sp>
      <p:sp>
        <p:nvSpPr>
          <p:cNvPr id="17" name="Rectangle 16">
            <a:extLst>
              <a:ext uri="{FF2B5EF4-FFF2-40B4-BE49-F238E27FC236}">
                <a16:creationId xmlns:a16="http://schemas.microsoft.com/office/drawing/2014/main" id="{32332C84-04C3-42BC-92A3-72D59A640091}"/>
              </a:ext>
            </a:extLst>
          </p:cNvPr>
          <p:cNvSpPr>
            <a:spLocks noGrp="1"/>
          </p:cNvSpPr>
          <p:nvPr/>
        </p:nvSpPr>
        <p:spPr>
          <a:xfrm>
            <a:off x="8439150" y="2038350"/>
            <a:ext cx="2095500" cy="1638300"/>
          </a:xfrm>
          <a:prstGeom prst="rect">
            <a:avLst/>
          </a:prstGeom>
          <a:solidFill>
            <a:srgbClr val="E6F6F2"/>
          </a:solidFill>
          <a:ln w="14288">
            <a:solidFill>
              <a:srgbClr val="159A7D"/>
            </a:solidFill>
            <a:prstDash val="solid"/>
          </a:ln>
        </p:spPr>
      </p:sp>
      <p:sp>
        <p:nvSpPr>
          <p:cNvPr id="18" name="Rectangle 17">
            <a:extLst>
              <a:ext uri="{FF2B5EF4-FFF2-40B4-BE49-F238E27FC236}">
                <a16:creationId xmlns:a16="http://schemas.microsoft.com/office/drawing/2014/main" id="{E5B93E50-5223-423C-B667-56BAED00921C}"/>
              </a:ext>
            </a:extLst>
          </p:cNvPr>
          <p:cNvSpPr>
            <a:spLocks noGrp="1"/>
          </p:cNvSpPr>
          <p:nvPr/>
        </p:nvSpPr>
        <p:spPr>
          <a:xfrm>
            <a:off x="8629650" y="2324100"/>
            <a:ext cx="1714500" cy="590550"/>
          </a:xfrm>
          <a:prstGeom prst="rect">
            <a:avLst/>
          </a:prstGeom>
          <a:noFill/>
          <a:ln w="0">
            <a:noFill/>
            <a:prstDash val="solid"/>
          </a:ln>
        </p:spPr>
        <p:txBody>
          <a:bodyPr wrap="square" lIns="0" tIns="0" rIns="0" bIns="0" anchor="t">
            <a:normAutofit/>
          </a:bodyPr>
          <a:lstStyle/>
          <a:p>
            <a:pPr algn="ctr">
              <a:buNone/>
              <a:defRPr sz="2025" b="1">
                <a:solidFill>
                  <a:srgbClr val="159A7D"/>
                </a:solidFill>
                <a:latin typeface="Arial"/>
                <a:ea typeface="Arial"/>
                <a:cs typeface="Arial"/>
              </a:defRPr>
            </a:pPr>
            <a:r>
              <a:rPr sz="2025" b="1">
                <a:solidFill>
                  <a:srgbClr val="159A7D"/>
                </a:solidFill>
                <a:latin typeface="Arial"/>
                <a:ea typeface="Arial"/>
                <a:cs typeface="Arial"/>
              </a:rPr>
              <a:t>Rule policy</a:t>
            </a:r>
          </a:p>
        </p:txBody>
      </p:sp>
      <p:sp>
        <p:nvSpPr>
          <p:cNvPr id="19" name="Rectangle 18">
            <a:extLst>
              <a:ext uri="{FF2B5EF4-FFF2-40B4-BE49-F238E27FC236}">
                <a16:creationId xmlns:a16="http://schemas.microsoft.com/office/drawing/2014/main" id="{22167BD1-74B5-48DB-A559-ECF93505A919}"/>
              </a:ext>
            </a:extLst>
          </p:cNvPr>
          <p:cNvSpPr>
            <a:spLocks noGrp="1"/>
          </p:cNvSpPr>
          <p:nvPr/>
        </p:nvSpPr>
        <p:spPr>
          <a:xfrm>
            <a:off x="8629650" y="3009900"/>
            <a:ext cx="1714500" cy="495300"/>
          </a:xfrm>
          <a:prstGeom prst="rect">
            <a:avLst/>
          </a:prstGeom>
          <a:noFill/>
          <a:ln w="0">
            <a:noFill/>
            <a:prstDash val="solid"/>
          </a:ln>
        </p:spPr>
        <p:txBody>
          <a:bodyPr wrap="square" lIns="0" tIns="0" rIns="0" bIns="0" anchor="t">
            <a:normAutofit fontScale="78601"/>
          </a:bodyPr>
          <a:lstStyle/>
          <a:p>
            <a:pPr algn="ctr">
              <a:buNone/>
              <a:defRPr sz="1388" b="0">
                <a:solidFill>
                  <a:srgbClr val="5D6677"/>
                </a:solidFill>
                <a:latin typeface="Arial"/>
                <a:ea typeface="Arial"/>
                <a:cs typeface="Arial"/>
              </a:defRPr>
            </a:pPr>
            <a:r>
              <a:rPr sz="1388" b="0">
                <a:solidFill>
                  <a:srgbClr val="5D6677"/>
                </a:solidFill>
                <a:latin typeface="Arial"/>
                <a:ea typeface="Arial"/>
                <a:cs typeface="Arial"/>
              </a:rPr>
              <a:t>Auditable APPLY / IGNORE / CLARIFY decision</a:t>
            </a:r>
          </a:p>
        </p:txBody>
      </p:sp>
      <p:sp>
        <p:nvSpPr>
          <p:cNvPr id="20" name="Rectangle 19">
            <a:extLst>
              <a:ext uri="{FF2B5EF4-FFF2-40B4-BE49-F238E27FC236}">
                <a16:creationId xmlns:a16="http://schemas.microsoft.com/office/drawing/2014/main" id="{DDFDC283-22B0-4B5E-8DAD-F6E57D633A44}"/>
              </a:ext>
            </a:extLst>
          </p:cNvPr>
          <p:cNvSpPr>
            <a:spLocks noGrp="1"/>
          </p:cNvSpPr>
          <p:nvPr/>
        </p:nvSpPr>
        <p:spPr>
          <a:xfrm>
            <a:off x="761595" y="4086225"/>
            <a:ext cx="10097310" cy="438150"/>
          </a:xfrm>
          <a:prstGeom prst="rect">
            <a:avLst/>
          </a:prstGeom>
          <a:noFill/>
          <a:ln w="0">
            <a:noFill/>
            <a:prstDash val="solid"/>
          </a:ln>
        </p:spPr>
        <p:txBody>
          <a:bodyPr wrap="square" lIns="0" tIns="0" rIns="0" bIns="0" anchor="t">
            <a:noAutofit/>
          </a:bodyPr>
          <a:lstStyle/>
          <a:p>
            <a:pPr algn="ctr">
              <a:buNone/>
              <a:defRPr sz="2400" b="1">
                <a:solidFill>
                  <a:srgbClr val="159A7D"/>
                </a:solidFill>
                <a:latin typeface="Arial"/>
                <a:ea typeface="Arial"/>
                <a:cs typeface="Arial"/>
              </a:defRPr>
            </a:pPr>
            <a:r>
              <a:rPr sz="2400" b="1">
                <a:solidFill>
                  <a:srgbClr val="159A7D"/>
                </a:solidFill>
                <a:latin typeface="Arial"/>
                <a:ea typeface="Arial"/>
                <a:cs typeface="Arial"/>
              </a:rPr>
              <a:t>The model interprets language; the rule controls the boundary.</a:t>
            </a:r>
          </a:p>
        </p:txBody>
      </p:sp>
      <p:sp>
        <p:nvSpPr>
          <p:cNvPr id="21" name="Rectangle 20">
            <a:extLst>
              <a:ext uri="{FF2B5EF4-FFF2-40B4-BE49-F238E27FC236}">
                <a16:creationId xmlns:a16="http://schemas.microsoft.com/office/drawing/2014/main" id="{A8CD0894-09CA-4EB5-AADE-8D619C6DEF20}"/>
              </a:ext>
            </a:extLst>
          </p:cNvPr>
          <p:cNvSpPr>
            <a:spLocks noGrp="1"/>
          </p:cNvSpPr>
          <p:nvPr/>
        </p:nvSpPr>
        <p:spPr>
          <a:xfrm>
            <a:off x="666750" y="4933950"/>
            <a:ext cx="2286000" cy="552450"/>
          </a:xfrm>
          <a:prstGeom prst="rect">
            <a:avLst/>
          </a:prstGeom>
          <a:noFill/>
          <a:ln w="0">
            <a:noFill/>
            <a:prstDash val="solid"/>
          </a:ln>
        </p:spPr>
        <p:txBody>
          <a:bodyPr wrap="square" lIns="0" tIns="0" rIns="0" bIns="0" anchor="t">
            <a:noAutofit/>
          </a:bodyPr>
          <a:lstStyle/>
          <a:p>
            <a:pPr algn="ctr">
              <a:buNone/>
              <a:defRPr sz="3600" b="1">
                <a:solidFill>
                  <a:srgbClr val="159A7D"/>
                </a:solidFill>
                <a:latin typeface="Arial"/>
                <a:ea typeface="Arial"/>
                <a:cs typeface="Arial"/>
              </a:defRPr>
            </a:pPr>
            <a:r>
              <a:rPr sz="3600" b="1">
                <a:solidFill>
                  <a:srgbClr val="159A7D"/>
                </a:solidFill>
                <a:latin typeface="Arial"/>
                <a:ea typeface="Arial"/>
                <a:cs typeface="Arial"/>
              </a:rPr>
              <a:t>93.7%</a:t>
            </a:r>
          </a:p>
        </p:txBody>
      </p:sp>
      <p:sp>
        <p:nvSpPr>
          <p:cNvPr id="22" name="Rectangle 21">
            <a:extLst>
              <a:ext uri="{FF2B5EF4-FFF2-40B4-BE49-F238E27FC236}">
                <a16:creationId xmlns:a16="http://schemas.microsoft.com/office/drawing/2014/main" id="{58A12F5B-237E-4E5E-8184-A2ECFDF93D5D}"/>
              </a:ext>
            </a:extLst>
          </p:cNvPr>
          <p:cNvSpPr>
            <a:spLocks noGrp="1"/>
          </p:cNvSpPr>
          <p:nvPr/>
        </p:nvSpPr>
        <p:spPr>
          <a:xfrm>
            <a:off x="666750" y="5543550"/>
            <a:ext cx="2286000" cy="304800"/>
          </a:xfrm>
          <a:prstGeom prst="rect">
            <a:avLst/>
          </a:prstGeom>
          <a:noFill/>
          <a:ln w="0">
            <a:noFill/>
            <a:prstDash val="solid"/>
          </a:ln>
        </p:spPr>
        <p:txBody>
          <a:bodyPr wrap="square" lIns="0" tIns="0" rIns="0" bIns="0" anchor="t">
            <a:noAutofit/>
          </a:bodyPr>
          <a:lstStyle/>
          <a:p>
            <a:pPr algn="ctr">
              <a:buNone/>
              <a:defRPr sz="1575" b="1">
                <a:solidFill>
                  <a:srgbClr val="0A1020"/>
                </a:solidFill>
                <a:latin typeface="Arial"/>
                <a:ea typeface="Arial"/>
                <a:cs typeface="Arial"/>
              </a:defRPr>
            </a:pPr>
            <a:r>
              <a:rPr sz="1575" b="1">
                <a:solidFill>
                  <a:srgbClr val="0A1020"/>
                </a:solidFill>
                <a:latin typeface="Arial"/>
                <a:ea typeface="Arial"/>
                <a:cs typeface="Arial"/>
              </a:rPr>
              <a:t>accuracy</a:t>
            </a:r>
          </a:p>
        </p:txBody>
      </p:sp>
      <p:sp>
        <p:nvSpPr>
          <p:cNvPr id="23" name="Rectangle 22">
            <a:extLst>
              <a:ext uri="{FF2B5EF4-FFF2-40B4-BE49-F238E27FC236}">
                <a16:creationId xmlns:a16="http://schemas.microsoft.com/office/drawing/2014/main" id="{BD02CCA8-183D-4DAD-813C-EAFCE1775D2F}"/>
              </a:ext>
            </a:extLst>
          </p:cNvPr>
          <p:cNvSpPr>
            <a:spLocks noGrp="1"/>
          </p:cNvSpPr>
          <p:nvPr/>
        </p:nvSpPr>
        <p:spPr>
          <a:xfrm>
            <a:off x="3524250" y="4933950"/>
            <a:ext cx="2286000" cy="552450"/>
          </a:xfrm>
          <a:prstGeom prst="rect">
            <a:avLst/>
          </a:prstGeom>
          <a:noFill/>
          <a:ln w="0">
            <a:noFill/>
            <a:prstDash val="solid"/>
          </a:ln>
        </p:spPr>
        <p:txBody>
          <a:bodyPr wrap="square" lIns="0" tIns="0" rIns="0" bIns="0" anchor="t">
            <a:noAutofit/>
          </a:bodyPr>
          <a:lstStyle/>
          <a:p>
            <a:pPr algn="ctr">
              <a:buNone/>
              <a:defRPr sz="3600" b="1">
                <a:solidFill>
                  <a:srgbClr val="159A7D"/>
                </a:solidFill>
                <a:latin typeface="Arial"/>
                <a:ea typeface="Arial"/>
                <a:cs typeface="Arial"/>
              </a:defRPr>
            </a:pPr>
            <a:r>
              <a:rPr sz="3600" b="1">
                <a:solidFill>
                  <a:srgbClr val="159A7D"/>
                </a:solidFill>
                <a:latin typeface="Arial"/>
                <a:ea typeface="Arial"/>
                <a:cs typeface="Arial"/>
              </a:rPr>
              <a:t>90.9%</a:t>
            </a:r>
          </a:p>
        </p:txBody>
      </p:sp>
      <p:sp>
        <p:nvSpPr>
          <p:cNvPr id="24" name="Rectangle 23">
            <a:extLst>
              <a:ext uri="{FF2B5EF4-FFF2-40B4-BE49-F238E27FC236}">
                <a16:creationId xmlns:a16="http://schemas.microsoft.com/office/drawing/2014/main" id="{11E48E9B-AF52-44FD-BE9E-34933B89AF34}"/>
              </a:ext>
            </a:extLst>
          </p:cNvPr>
          <p:cNvSpPr>
            <a:spLocks noGrp="1"/>
          </p:cNvSpPr>
          <p:nvPr/>
        </p:nvSpPr>
        <p:spPr>
          <a:xfrm>
            <a:off x="3524250" y="5543550"/>
            <a:ext cx="2286000" cy="304800"/>
          </a:xfrm>
          <a:prstGeom prst="rect">
            <a:avLst/>
          </a:prstGeom>
          <a:noFill/>
          <a:ln w="0">
            <a:noFill/>
            <a:prstDash val="solid"/>
          </a:ln>
        </p:spPr>
        <p:txBody>
          <a:bodyPr wrap="square" lIns="0" tIns="0" rIns="0" bIns="0" anchor="t">
            <a:noAutofit/>
          </a:bodyPr>
          <a:lstStyle/>
          <a:p>
            <a:pPr algn="ctr">
              <a:buNone/>
              <a:defRPr sz="1575" b="1">
                <a:solidFill>
                  <a:srgbClr val="0A1020"/>
                </a:solidFill>
                <a:latin typeface="Arial"/>
                <a:ea typeface="Arial"/>
                <a:cs typeface="Arial"/>
              </a:defRPr>
            </a:pPr>
            <a:r>
              <a:rPr sz="1575" b="1">
                <a:solidFill>
                  <a:srgbClr val="0A1020"/>
                </a:solidFill>
                <a:latin typeface="Arial"/>
                <a:ea typeface="Arial"/>
                <a:cs typeface="Arial"/>
              </a:rPr>
              <a:t>Macro-F1</a:t>
            </a:r>
          </a:p>
        </p:txBody>
      </p:sp>
      <p:sp>
        <p:nvSpPr>
          <p:cNvPr id="25" name="Rectangle 24">
            <a:extLst>
              <a:ext uri="{FF2B5EF4-FFF2-40B4-BE49-F238E27FC236}">
                <a16:creationId xmlns:a16="http://schemas.microsoft.com/office/drawing/2014/main" id="{5E476B57-7595-41D8-8712-A880DA77FDAB}"/>
              </a:ext>
            </a:extLst>
          </p:cNvPr>
          <p:cNvSpPr>
            <a:spLocks noGrp="1"/>
          </p:cNvSpPr>
          <p:nvPr/>
        </p:nvSpPr>
        <p:spPr>
          <a:xfrm>
            <a:off x="6381750" y="4933950"/>
            <a:ext cx="2286000" cy="552450"/>
          </a:xfrm>
          <a:prstGeom prst="rect">
            <a:avLst/>
          </a:prstGeom>
          <a:noFill/>
          <a:ln w="0">
            <a:noFill/>
            <a:prstDash val="solid"/>
          </a:ln>
        </p:spPr>
        <p:txBody>
          <a:bodyPr wrap="square" lIns="0" tIns="0" rIns="0" bIns="0" anchor="t">
            <a:noAutofit/>
          </a:bodyPr>
          <a:lstStyle/>
          <a:p>
            <a:pPr algn="ctr">
              <a:buNone/>
              <a:defRPr sz="3600" b="1">
                <a:solidFill>
                  <a:srgbClr val="159A7D"/>
                </a:solidFill>
                <a:latin typeface="Arial"/>
                <a:ea typeface="Arial"/>
                <a:cs typeface="Arial"/>
              </a:defRPr>
            </a:pPr>
            <a:r>
              <a:rPr sz="3600" b="1">
                <a:solidFill>
                  <a:srgbClr val="159A7D"/>
                </a:solidFill>
                <a:latin typeface="Arial"/>
                <a:ea typeface="Arial"/>
                <a:cs typeface="Arial"/>
              </a:rPr>
              <a:t>85.9%</a:t>
            </a:r>
          </a:p>
        </p:txBody>
      </p:sp>
      <p:sp>
        <p:nvSpPr>
          <p:cNvPr id="26" name="Rectangle 25">
            <a:extLst>
              <a:ext uri="{FF2B5EF4-FFF2-40B4-BE49-F238E27FC236}">
                <a16:creationId xmlns:a16="http://schemas.microsoft.com/office/drawing/2014/main" id="{ED317BBB-A5DE-41AB-95E9-EB9FCC34FAC2}"/>
              </a:ext>
            </a:extLst>
          </p:cNvPr>
          <p:cNvSpPr>
            <a:spLocks noGrp="1"/>
          </p:cNvSpPr>
          <p:nvPr/>
        </p:nvSpPr>
        <p:spPr>
          <a:xfrm>
            <a:off x="6381750" y="5543550"/>
            <a:ext cx="2286000" cy="304800"/>
          </a:xfrm>
          <a:prstGeom prst="rect">
            <a:avLst/>
          </a:prstGeom>
          <a:noFill/>
          <a:ln w="0">
            <a:noFill/>
            <a:prstDash val="solid"/>
          </a:ln>
        </p:spPr>
        <p:txBody>
          <a:bodyPr wrap="square" lIns="0" tIns="0" rIns="0" bIns="0" anchor="t">
            <a:noAutofit/>
          </a:bodyPr>
          <a:lstStyle/>
          <a:p>
            <a:pPr algn="ctr">
              <a:buNone/>
              <a:defRPr sz="1575" b="1">
                <a:solidFill>
                  <a:srgbClr val="0A1020"/>
                </a:solidFill>
                <a:latin typeface="Arial"/>
                <a:ea typeface="Arial"/>
                <a:cs typeface="Arial"/>
              </a:defRPr>
            </a:pPr>
            <a:r>
              <a:rPr sz="1575" b="1">
                <a:solidFill>
                  <a:srgbClr val="0A1020"/>
                </a:solidFill>
                <a:latin typeface="Arial"/>
                <a:ea typeface="Arial"/>
                <a:cs typeface="Arial"/>
              </a:rPr>
              <a:t>outside + near</a:t>
            </a:r>
          </a:p>
        </p:txBody>
      </p:sp>
      <p:sp>
        <p:nvSpPr>
          <p:cNvPr id="27" name="Rectangle 26">
            <a:extLst>
              <a:ext uri="{FF2B5EF4-FFF2-40B4-BE49-F238E27FC236}">
                <a16:creationId xmlns:a16="http://schemas.microsoft.com/office/drawing/2014/main" id="{C1FEE6D9-400F-4841-80D7-EE4BDA2EAEC6}"/>
              </a:ext>
            </a:extLst>
          </p:cNvPr>
          <p:cNvSpPr>
            <a:spLocks noGrp="1"/>
          </p:cNvSpPr>
          <p:nvPr/>
        </p:nvSpPr>
        <p:spPr>
          <a:xfrm>
            <a:off x="9239250" y="4933950"/>
            <a:ext cx="2286000" cy="552450"/>
          </a:xfrm>
          <a:prstGeom prst="rect">
            <a:avLst/>
          </a:prstGeom>
          <a:noFill/>
          <a:ln w="0">
            <a:noFill/>
            <a:prstDash val="solid"/>
          </a:ln>
        </p:spPr>
        <p:txBody>
          <a:bodyPr wrap="square" lIns="0" tIns="0" rIns="0" bIns="0" anchor="t">
            <a:noAutofit/>
          </a:bodyPr>
          <a:lstStyle/>
          <a:p>
            <a:pPr algn="ctr">
              <a:buNone/>
              <a:defRPr sz="3600" b="1">
                <a:solidFill>
                  <a:srgbClr val="D94747"/>
                </a:solidFill>
                <a:latin typeface="Arial"/>
                <a:ea typeface="Arial"/>
                <a:cs typeface="Arial"/>
              </a:defRPr>
            </a:pPr>
            <a:r>
              <a:rPr sz="3600" b="1">
                <a:solidFill>
                  <a:srgbClr val="D94747"/>
                </a:solidFill>
                <a:latin typeface="Arial"/>
                <a:ea typeface="Arial"/>
                <a:cs typeface="Arial"/>
              </a:rPr>
              <a:t>8.3%</a:t>
            </a:r>
          </a:p>
        </p:txBody>
      </p:sp>
      <p:sp>
        <p:nvSpPr>
          <p:cNvPr id="28" name="Rectangle 27">
            <a:extLst>
              <a:ext uri="{FF2B5EF4-FFF2-40B4-BE49-F238E27FC236}">
                <a16:creationId xmlns:a16="http://schemas.microsoft.com/office/drawing/2014/main" id="{8BC08E1B-8BA6-4381-845B-225817F53F19}"/>
              </a:ext>
            </a:extLst>
          </p:cNvPr>
          <p:cNvSpPr>
            <a:spLocks noGrp="1"/>
          </p:cNvSpPr>
          <p:nvPr/>
        </p:nvSpPr>
        <p:spPr>
          <a:xfrm>
            <a:off x="9239250" y="5543550"/>
            <a:ext cx="2286000" cy="304800"/>
          </a:xfrm>
          <a:prstGeom prst="rect">
            <a:avLst/>
          </a:prstGeom>
          <a:noFill/>
          <a:ln w="0">
            <a:noFill/>
            <a:prstDash val="solid"/>
          </a:ln>
        </p:spPr>
        <p:txBody>
          <a:bodyPr wrap="square" lIns="0" tIns="0" rIns="0" bIns="0" anchor="t">
            <a:noAutofit/>
          </a:bodyPr>
          <a:lstStyle/>
          <a:p>
            <a:pPr algn="ctr">
              <a:buNone/>
              <a:defRPr sz="1575" b="1">
                <a:solidFill>
                  <a:srgbClr val="0A1020"/>
                </a:solidFill>
                <a:latin typeface="Arial"/>
                <a:ea typeface="Arial"/>
                <a:cs typeface="Arial"/>
              </a:defRPr>
            </a:pPr>
            <a:r>
              <a:rPr sz="1575" b="1">
                <a:solidFill>
                  <a:srgbClr val="0A1020"/>
                </a:solidFill>
                <a:latin typeface="Arial"/>
                <a:ea typeface="Arial"/>
                <a:cs typeface="Arial"/>
              </a:rPr>
              <a:t>overgeneralization</a:t>
            </a:r>
          </a:p>
        </p:txBody>
      </p:sp>
    </p:spTree>
    <p:extLst>
      <p:ext uri="{BB962C8B-B14F-4D97-AF65-F5344CB8AC3E}">
        <p14:creationId xmlns:p14="http://schemas.microsoft.com/office/powerpoint/2010/main" val="202568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kicker-16">
            <a:extLst>
              <a:ext uri="{FF2B5EF4-FFF2-40B4-BE49-F238E27FC236}">
                <a16:creationId xmlns:a16="http://schemas.microsoft.com/office/drawing/2014/main" id="{66F0E6DA-E2C5-4800-9CA3-325EACA69376}"/>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7357D9"/>
                </a:solidFill>
                <a:latin typeface="Arial"/>
                <a:ea typeface="Arial"/>
                <a:cs typeface="Arial"/>
              </a:defRPr>
            </a:pPr>
            <a:r>
              <a:rPr sz="1200" b="1">
                <a:solidFill>
                  <a:srgbClr val="7357D9"/>
                </a:solidFill>
                <a:latin typeface="Arial"/>
                <a:ea typeface="Arial"/>
                <a:cs typeface="Arial"/>
              </a:rPr>
              <a:t>STAGE 7 · SMALL LLM</a:t>
            </a:r>
          </a:p>
        </p:txBody>
      </p:sp>
      <p:sp>
        <p:nvSpPr>
          <p:cNvPr id="2" name="title-16">
            <a:extLst>
              <a:ext uri="{FF2B5EF4-FFF2-40B4-BE49-F238E27FC236}">
                <a16:creationId xmlns:a16="http://schemas.microsoft.com/office/drawing/2014/main" id="{66C849CC-7E24-412D-A292-290C901DD939}"/>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The LLM pipeline has three jobs</a:t>
            </a:r>
          </a:p>
        </p:txBody>
      </p:sp>
      <p:sp>
        <p:nvSpPr>
          <p:cNvPr id="3" name="Straight Connector 2">
            <a:extLst>
              <a:ext uri="{FF2B5EF4-FFF2-40B4-BE49-F238E27FC236}">
                <a16:creationId xmlns:a16="http://schemas.microsoft.com/office/drawing/2014/main" id="{2721B7BD-F065-484C-B6F4-009481B6644B}"/>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8CAEB8DA-18F4-4594-87F9-707F40FEA067}"/>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16</a:t>
            </a:r>
          </a:p>
        </p:txBody>
      </p:sp>
      <p:sp>
        <p:nvSpPr>
          <p:cNvPr id="5" name="Arrow: Right 4">
            <a:extLst>
              <a:ext uri="{FF2B5EF4-FFF2-40B4-BE49-F238E27FC236}">
                <a16:creationId xmlns:a16="http://schemas.microsoft.com/office/drawing/2014/main" id="{8024F2B8-69E2-4731-AB3C-0CD15EC6C0A6}"/>
              </a:ext>
            </a:extLst>
          </p:cNvPr>
          <p:cNvSpPr>
            <a:spLocks noGrp="1"/>
          </p:cNvSpPr>
          <p:nvPr/>
        </p:nvSpPr>
        <p:spPr>
          <a:xfrm>
            <a:off x="3810000" y="3238500"/>
            <a:ext cx="590550" cy="285750"/>
          </a:xfrm>
          <a:prstGeom prst="rightArrow">
            <a:avLst/>
          </a:prstGeom>
          <a:solidFill>
            <a:srgbClr val="7357D9"/>
          </a:solidFill>
          <a:ln w="0">
            <a:solidFill>
              <a:srgbClr val="7357D9"/>
            </a:solidFill>
            <a:prstDash val="solid"/>
          </a:ln>
        </p:spPr>
      </p:sp>
      <p:sp>
        <p:nvSpPr>
          <p:cNvPr id="6" name="Arrow: Right 5">
            <a:extLst>
              <a:ext uri="{FF2B5EF4-FFF2-40B4-BE49-F238E27FC236}">
                <a16:creationId xmlns:a16="http://schemas.microsoft.com/office/drawing/2014/main" id="{D63308BA-5E33-4B21-B117-6519EB72BE84}"/>
              </a:ext>
            </a:extLst>
          </p:cNvPr>
          <p:cNvSpPr>
            <a:spLocks noGrp="1"/>
          </p:cNvSpPr>
          <p:nvPr/>
        </p:nvSpPr>
        <p:spPr>
          <a:xfrm>
            <a:off x="7791450" y="3238500"/>
            <a:ext cx="590550" cy="285750"/>
          </a:xfrm>
          <a:prstGeom prst="rightArrow">
            <a:avLst/>
          </a:prstGeom>
          <a:solidFill>
            <a:srgbClr val="7357D9"/>
          </a:solidFill>
          <a:ln w="0">
            <a:solidFill>
              <a:srgbClr val="7357D9"/>
            </a:solidFill>
            <a:prstDash val="solid"/>
          </a:ln>
        </p:spPr>
      </p:sp>
      <p:sp>
        <p:nvSpPr>
          <p:cNvPr id="7" name="Rectangle 6">
            <a:extLst>
              <a:ext uri="{FF2B5EF4-FFF2-40B4-BE49-F238E27FC236}">
                <a16:creationId xmlns:a16="http://schemas.microsoft.com/office/drawing/2014/main" id="{9A1E4D72-073E-40E9-981C-D8833EADD215}"/>
              </a:ext>
            </a:extLst>
          </p:cNvPr>
          <p:cNvSpPr>
            <a:spLocks noGrp="1"/>
          </p:cNvSpPr>
          <p:nvPr/>
        </p:nvSpPr>
        <p:spPr>
          <a:xfrm>
            <a:off x="495300" y="1905000"/>
            <a:ext cx="3314700" cy="2933700"/>
          </a:xfrm>
          <a:prstGeom prst="rect">
            <a:avLst/>
          </a:prstGeom>
          <a:solidFill>
            <a:srgbClr val="F0ECFF"/>
          </a:solidFill>
          <a:ln w="19050">
            <a:solidFill>
              <a:srgbClr val="7357D9"/>
            </a:solidFill>
            <a:prstDash val="solid"/>
          </a:ln>
        </p:spPr>
      </p:sp>
      <p:sp>
        <p:nvSpPr>
          <p:cNvPr id="8" name="Rectangle 7">
            <a:extLst>
              <a:ext uri="{FF2B5EF4-FFF2-40B4-BE49-F238E27FC236}">
                <a16:creationId xmlns:a16="http://schemas.microsoft.com/office/drawing/2014/main" id="{689C1DEB-1E9D-4F18-979B-AC426F209117}"/>
              </a:ext>
            </a:extLst>
          </p:cNvPr>
          <p:cNvSpPr>
            <a:spLocks noGrp="1"/>
          </p:cNvSpPr>
          <p:nvPr/>
        </p:nvSpPr>
        <p:spPr>
          <a:xfrm>
            <a:off x="723900" y="2171700"/>
            <a:ext cx="2857500" cy="419100"/>
          </a:xfrm>
          <a:prstGeom prst="rect">
            <a:avLst/>
          </a:prstGeom>
          <a:noFill/>
          <a:ln w="0">
            <a:noFill/>
            <a:prstDash val="solid"/>
          </a:ln>
        </p:spPr>
        <p:txBody>
          <a:bodyPr wrap="square" lIns="0" tIns="0" rIns="0" bIns="0" anchor="t">
            <a:noAutofit/>
          </a:bodyPr>
          <a:lstStyle/>
          <a:p>
            <a:pPr algn="l">
              <a:buNone/>
              <a:defRPr sz="2550" b="1">
                <a:solidFill>
                  <a:srgbClr val="7357D9"/>
                </a:solidFill>
                <a:latin typeface="Arial"/>
                <a:ea typeface="Arial"/>
                <a:cs typeface="Arial"/>
              </a:defRPr>
            </a:pPr>
            <a:r>
              <a:rPr sz="2550" b="1">
                <a:solidFill>
                  <a:srgbClr val="7357D9"/>
                </a:solidFill>
                <a:latin typeface="Arial"/>
                <a:ea typeface="Arial"/>
                <a:cs typeface="Arial"/>
              </a:rPr>
              <a:t>1 · EXTRACT</a:t>
            </a:r>
          </a:p>
        </p:txBody>
      </p:sp>
      <p:sp>
        <p:nvSpPr>
          <p:cNvPr id="9" name="Rectangle 8">
            <a:extLst>
              <a:ext uri="{FF2B5EF4-FFF2-40B4-BE49-F238E27FC236}">
                <a16:creationId xmlns:a16="http://schemas.microsoft.com/office/drawing/2014/main" id="{329412FE-C50F-4D3D-890B-91C69E1FE63E}"/>
              </a:ext>
            </a:extLst>
          </p:cNvPr>
          <p:cNvSpPr>
            <a:spLocks noGrp="1"/>
          </p:cNvSpPr>
          <p:nvPr/>
        </p:nvSpPr>
        <p:spPr>
          <a:xfrm>
            <a:off x="723900" y="2686050"/>
            <a:ext cx="2857500" cy="30480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History → JSON memory</a:t>
            </a:r>
          </a:p>
        </p:txBody>
      </p:sp>
      <p:sp>
        <p:nvSpPr>
          <p:cNvPr id="10" name="Rectangle 9">
            <a:extLst>
              <a:ext uri="{FF2B5EF4-FFF2-40B4-BE49-F238E27FC236}">
                <a16:creationId xmlns:a16="http://schemas.microsoft.com/office/drawing/2014/main" id="{C1DCD983-6A3B-4486-B3CD-9F8C4D033A2F}"/>
              </a:ext>
            </a:extLst>
          </p:cNvPr>
          <p:cNvSpPr>
            <a:spLocks noGrp="1"/>
          </p:cNvSpPr>
          <p:nvPr/>
        </p:nvSpPr>
        <p:spPr>
          <a:xfrm>
            <a:off x="723900" y="3162300"/>
            <a:ext cx="2857500" cy="1352550"/>
          </a:xfrm>
          <a:prstGeom prst="rect">
            <a:avLst/>
          </a:prstGeom>
          <a:noFill/>
          <a:ln w="0">
            <a:noFill/>
            <a:prstDash val="solid"/>
          </a:ln>
        </p:spPr>
        <p:txBody>
          <a:bodyPr wrap="square" lIns="0" tIns="0" rIns="0" bIns="0" anchor="t">
            <a:norm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Identify the preference, causal type, owner, temporal validity, evidence, and positive/negative scope.</a:t>
            </a:r>
          </a:p>
        </p:txBody>
      </p:sp>
      <p:sp>
        <p:nvSpPr>
          <p:cNvPr id="11" name="Rectangle 10">
            <a:extLst>
              <a:ext uri="{FF2B5EF4-FFF2-40B4-BE49-F238E27FC236}">
                <a16:creationId xmlns:a16="http://schemas.microsoft.com/office/drawing/2014/main" id="{1A6B7C2D-80CA-48F8-B348-11AC93437E62}"/>
              </a:ext>
            </a:extLst>
          </p:cNvPr>
          <p:cNvSpPr>
            <a:spLocks noGrp="1"/>
          </p:cNvSpPr>
          <p:nvPr/>
        </p:nvSpPr>
        <p:spPr>
          <a:xfrm>
            <a:off x="4438650" y="1905000"/>
            <a:ext cx="3314700" cy="2933700"/>
          </a:xfrm>
          <a:prstGeom prst="rect">
            <a:avLst/>
          </a:prstGeom>
          <a:solidFill>
            <a:srgbClr val="EAF3FF"/>
          </a:solidFill>
          <a:ln w="19050">
            <a:solidFill>
              <a:srgbClr val="3D8DFF"/>
            </a:solidFill>
            <a:prstDash val="solid"/>
          </a:ln>
        </p:spPr>
      </p:sp>
      <p:sp>
        <p:nvSpPr>
          <p:cNvPr id="12" name="Rectangle 11">
            <a:extLst>
              <a:ext uri="{FF2B5EF4-FFF2-40B4-BE49-F238E27FC236}">
                <a16:creationId xmlns:a16="http://schemas.microsoft.com/office/drawing/2014/main" id="{6FB44B8E-2EEF-42BD-ABD2-455BFBAE1AF2}"/>
              </a:ext>
            </a:extLst>
          </p:cNvPr>
          <p:cNvSpPr>
            <a:spLocks noGrp="1"/>
          </p:cNvSpPr>
          <p:nvPr/>
        </p:nvSpPr>
        <p:spPr>
          <a:xfrm>
            <a:off x="4667250" y="2171700"/>
            <a:ext cx="2857500" cy="419100"/>
          </a:xfrm>
          <a:prstGeom prst="rect">
            <a:avLst/>
          </a:prstGeom>
          <a:noFill/>
          <a:ln w="0">
            <a:noFill/>
            <a:prstDash val="solid"/>
          </a:ln>
        </p:spPr>
        <p:txBody>
          <a:bodyPr wrap="square" lIns="0" tIns="0" rIns="0" bIns="0" anchor="t">
            <a:noAutofit/>
          </a:bodyPr>
          <a:lstStyle/>
          <a:p>
            <a:pPr algn="l">
              <a:buNone/>
              <a:defRPr sz="2550" b="1">
                <a:solidFill>
                  <a:srgbClr val="3D8DFF"/>
                </a:solidFill>
                <a:latin typeface="Arial"/>
                <a:ea typeface="Arial"/>
                <a:cs typeface="Arial"/>
              </a:defRPr>
            </a:pPr>
            <a:r>
              <a:rPr sz="2550" b="1">
                <a:solidFill>
                  <a:srgbClr val="3D8DFF"/>
                </a:solidFill>
                <a:latin typeface="Arial"/>
                <a:ea typeface="Arial"/>
                <a:cs typeface="Arial"/>
              </a:rPr>
              <a:t>2 · DECIDE</a:t>
            </a:r>
          </a:p>
        </p:txBody>
      </p:sp>
      <p:sp>
        <p:nvSpPr>
          <p:cNvPr id="13" name="Rectangle 12">
            <a:extLst>
              <a:ext uri="{FF2B5EF4-FFF2-40B4-BE49-F238E27FC236}">
                <a16:creationId xmlns:a16="http://schemas.microsoft.com/office/drawing/2014/main" id="{4F01C6D6-B523-49FA-BF14-18B9FA3061DD}"/>
              </a:ext>
            </a:extLst>
          </p:cNvPr>
          <p:cNvSpPr>
            <a:spLocks noGrp="1"/>
          </p:cNvSpPr>
          <p:nvPr/>
        </p:nvSpPr>
        <p:spPr>
          <a:xfrm>
            <a:off x="4667250" y="2686050"/>
            <a:ext cx="2857500" cy="30480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Memory + query → action</a:t>
            </a:r>
          </a:p>
        </p:txBody>
      </p:sp>
      <p:sp>
        <p:nvSpPr>
          <p:cNvPr id="14" name="Rectangle 13">
            <a:extLst>
              <a:ext uri="{FF2B5EF4-FFF2-40B4-BE49-F238E27FC236}">
                <a16:creationId xmlns:a16="http://schemas.microsoft.com/office/drawing/2014/main" id="{0A2F1CA8-57A4-45B1-B9A1-F568DF5BE17C}"/>
              </a:ext>
            </a:extLst>
          </p:cNvPr>
          <p:cNvSpPr>
            <a:spLocks noGrp="1"/>
          </p:cNvSpPr>
          <p:nvPr/>
        </p:nvSpPr>
        <p:spPr>
          <a:xfrm>
            <a:off x="4667250" y="3162300"/>
            <a:ext cx="2857500" cy="1352550"/>
          </a:xfrm>
          <a:prstGeom prst="rect">
            <a:avLst/>
          </a:prstGeom>
          <a:noFill/>
          <a:ln w="0">
            <a:noFill/>
            <a:prstDash val="solid"/>
          </a:ln>
        </p:spPr>
        <p:txBody>
          <a:bodyPr wrap="square" lIns="0" tIns="0" rIns="0" bIns="0" anchor="t">
            <a:norm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Compare the current context with the boundary and choose APPLY, IGNORE, or CLARIFY.</a:t>
            </a:r>
          </a:p>
        </p:txBody>
      </p:sp>
      <p:sp>
        <p:nvSpPr>
          <p:cNvPr id="15" name="Rectangle 14">
            <a:extLst>
              <a:ext uri="{FF2B5EF4-FFF2-40B4-BE49-F238E27FC236}">
                <a16:creationId xmlns:a16="http://schemas.microsoft.com/office/drawing/2014/main" id="{CAD75AFB-D939-4164-8BF7-3CF80435D9B4}"/>
              </a:ext>
            </a:extLst>
          </p:cNvPr>
          <p:cNvSpPr>
            <a:spLocks noGrp="1"/>
          </p:cNvSpPr>
          <p:nvPr/>
        </p:nvSpPr>
        <p:spPr>
          <a:xfrm>
            <a:off x="8382000" y="1905000"/>
            <a:ext cx="3314700" cy="2933700"/>
          </a:xfrm>
          <a:prstGeom prst="rect">
            <a:avLst/>
          </a:prstGeom>
          <a:solidFill>
            <a:srgbClr val="E6F6F2"/>
          </a:solidFill>
          <a:ln w="19050">
            <a:solidFill>
              <a:srgbClr val="159A7D"/>
            </a:solidFill>
            <a:prstDash val="solid"/>
          </a:ln>
        </p:spPr>
      </p:sp>
      <p:sp>
        <p:nvSpPr>
          <p:cNvPr id="16" name="Rectangle 15">
            <a:extLst>
              <a:ext uri="{FF2B5EF4-FFF2-40B4-BE49-F238E27FC236}">
                <a16:creationId xmlns:a16="http://schemas.microsoft.com/office/drawing/2014/main" id="{2824717E-2756-4314-879C-27D964ED5898}"/>
              </a:ext>
            </a:extLst>
          </p:cNvPr>
          <p:cNvSpPr>
            <a:spLocks noGrp="1"/>
          </p:cNvSpPr>
          <p:nvPr/>
        </p:nvSpPr>
        <p:spPr>
          <a:xfrm>
            <a:off x="8610600" y="2171700"/>
            <a:ext cx="2857500" cy="419100"/>
          </a:xfrm>
          <a:prstGeom prst="rect">
            <a:avLst/>
          </a:prstGeom>
          <a:noFill/>
          <a:ln w="0">
            <a:noFill/>
            <a:prstDash val="solid"/>
          </a:ln>
        </p:spPr>
        <p:txBody>
          <a:bodyPr wrap="square" lIns="0" tIns="0" rIns="0" bIns="0" anchor="t">
            <a:noAutofit/>
          </a:bodyPr>
          <a:lstStyle/>
          <a:p>
            <a:pPr algn="l">
              <a:buNone/>
              <a:defRPr sz="2550" b="1">
                <a:solidFill>
                  <a:srgbClr val="159A7D"/>
                </a:solidFill>
                <a:latin typeface="Arial"/>
                <a:ea typeface="Arial"/>
                <a:cs typeface="Arial"/>
              </a:defRPr>
            </a:pPr>
            <a:r>
              <a:rPr sz="2550" b="1">
                <a:solidFill>
                  <a:srgbClr val="159A7D"/>
                </a:solidFill>
                <a:latin typeface="Arial"/>
                <a:ea typeface="Arial"/>
                <a:cs typeface="Arial"/>
              </a:rPr>
              <a:t>3 · GENERATE</a:t>
            </a:r>
          </a:p>
        </p:txBody>
      </p:sp>
      <p:sp>
        <p:nvSpPr>
          <p:cNvPr id="17" name="Rectangle 16">
            <a:extLst>
              <a:ext uri="{FF2B5EF4-FFF2-40B4-BE49-F238E27FC236}">
                <a16:creationId xmlns:a16="http://schemas.microsoft.com/office/drawing/2014/main" id="{8370A4A0-5187-4783-86F8-04A56AE6BCB2}"/>
              </a:ext>
            </a:extLst>
          </p:cNvPr>
          <p:cNvSpPr>
            <a:spLocks noGrp="1"/>
          </p:cNvSpPr>
          <p:nvPr/>
        </p:nvSpPr>
        <p:spPr>
          <a:xfrm>
            <a:off x="8610600" y="2686050"/>
            <a:ext cx="2857500" cy="304800"/>
          </a:xfrm>
          <a:prstGeom prst="rect">
            <a:avLst/>
          </a:prstGeom>
          <a:noFill/>
          <a:ln w="0">
            <a:noFill/>
            <a:prstDash val="solid"/>
          </a:ln>
        </p:spPr>
        <p:txBody>
          <a:bodyPr wrap="square" lIns="0" tIns="0" rIns="0" bIns="0" anchor="t">
            <a:normAutofit/>
          </a:bodyPr>
          <a:lstStyle/>
          <a:p>
            <a:pPr algn="l">
              <a:buNone/>
              <a:defRPr sz="1800" b="1">
                <a:solidFill>
                  <a:srgbClr val="0A1020"/>
                </a:solidFill>
                <a:latin typeface="Arial"/>
                <a:ea typeface="Arial"/>
                <a:cs typeface="Arial"/>
              </a:defRPr>
            </a:pPr>
            <a:r>
              <a:rPr sz="1800" b="1">
                <a:solidFill>
                  <a:srgbClr val="0A1020"/>
                </a:solidFill>
                <a:latin typeface="Arial"/>
                <a:ea typeface="Arial"/>
                <a:cs typeface="Arial"/>
              </a:rPr>
              <a:t>Action → response</a:t>
            </a:r>
          </a:p>
        </p:txBody>
      </p:sp>
      <p:sp>
        <p:nvSpPr>
          <p:cNvPr id="18" name="Rectangle 17">
            <a:extLst>
              <a:ext uri="{FF2B5EF4-FFF2-40B4-BE49-F238E27FC236}">
                <a16:creationId xmlns:a16="http://schemas.microsoft.com/office/drawing/2014/main" id="{093CBDC0-1B9B-46A8-98F1-FD46A00689E8}"/>
              </a:ext>
            </a:extLst>
          </p:cNvPr>
          <p:cNvSpPr>
            <a:spLocks noGrp="1"/>
          </p:cNvSpPr>
          <p:nvPr/>
        </p:nvSpPr>
        <p:spPr>
          <a:xfrm>
            <a:off x="8610600" y="3162300"/>
            <a:ext cx="2857500" cy="1352550"/>
          </a:xfrm>
          <a:prstGeom prst="rect">
            <a:avLst/>
          </a:prstGeom>
          <a:noFill/>
          <a:ln w="0">
            <a:noFill/>
            <a:prstDash val="solid"/>
          </a:ln>
        </p:spPr>
        <p:txBody>
          <a:bodyPr wrap="square" lIns="0" tIns="0" rIns="0" bIns="0" anchor="t">
            <a:normAutofit/>
          </a:bodyPr>
          <a:lstStyle/>
          <a:p>
            <a:pPr algn="l">
              <a:buNone/>
              <a:defRPr sz="1650" b="0">
                <a:solidFill>
                  <a:srgbClr val="0A1020"/>
                </a:solidFill>
                <a:latin typeface="Arial"/>
                <a:ea typeface="Arial"/>
                <a:cs typeface="Arial"/>
              </a:defRPr>
            </a:pPr>
            <a:r>
              <a:rPr sz="1650" b="0">
                <a:solidFill>
                  <a:srgbClr val="0A1020"/>
                </a:solidFill>
                <a:latin typeface="Arial"/>
                <a:ea typeface="Arial"/>
                <a:cs typeface="Arial"/>
              </a:rPr>
              <a:t>Produce a personalized answer, neutral answer, or one targeted clarification question.</a:t>
            </a:r>
          </a:p>
        </p:txBody>
      </p:sp>
      <p:sp>
        <p:nvSpPr>
          <p:cNvPr id="19" name="Rectangle 18">
            <a:extLst>
              <a:ext uri="{FF2B5EF4-FFF2-40B4-BE49-F238E27FC236}">
                <a16:creationId xmlns:a16="http://schemas.microsoft.com/office/drawing/2014/main" id="{2140939F-5F93-47F2-BF79-1BA8F18454F8}"/>
              </a:ext>
            </a:extLst>
          </p:cNvPr>
          <p:cNvSpPr>
            <a:spLocks noGrp="1"/>
          </p:cNvSpPr>
          <p:nvPr/>
        </p:nvSpPr>
        <p:spPr>
          <a:xfrm>
            <a:off x="1524000" y="5257800"/>
            <a:ext cx="9144000" cy="819150"/>
          </a:xfrm>
          <a:prstGeom prst="rect">
            <a:avLst/>
          </a:prstGeom>
          <a:solidFill>
            <a:srgbClr val="F1F3F6"/>
          </a:solidFill>
          <a:ln w="9525">
            <a:solidFill>
              <a:srgbClr val="C9CED8"/>
            </a:solidFill>
            <a:prstDash val="solid"/>
          </a:ln>
        </p:spPr>
      </p:sp>
      <p:sp>
        <p:nvSpPr>
          <p:cNvPr id="20" name="Rectangle 19">
            <a:extLst>
              <a:ext uri="{FF2B5EF4-FFF2-40B4-BE49-F238E27FC236}">
                <a16:creationId xmlns:a16="http://schemas.microsoft.com/office/drawing/2014/main" id="{22832583-D770-497B-B496-EAD272A1BBC7}"/>
              </a:ext>
            </a:extLst>
          </p:cNvPr>
          <p:cNvSpPr>
            <a:spLocks noGrp="1"/>
          </p:cNvSpPr>
          <p:nvPr/>
        </p:nvSpPr>
        <p:spPr>
          <a:xfrm>
            <a:off x="1618034" y="5372100"/>
            <a:ext cx="2286000" cy="266700"/>
          </a:xfrm>
          <a:prstGeom prst="rect">
            <a:avLst/>
          </a:prstGeom>
          <a:noFill/>
          <a:ln w="0">
            <a:noFill/>
            <a:prstDash val="solid"/>
          </a:ln>
        </p:spPr>
        <p:txBody>
          <a:bodyPr wrap="square" lIns="0" tIns="0" rIns="0" bIns="0" anchor="t">
            <a:noAutofit/>
          </a:bodyPr>
          <a:lstStyle/>
          <a:p>
            <a:pPr algn="l">
              <a:buNone/>
              <a:defRPr sz="1500" b="1">
                <a:solidFill>
                  <a:srgbClr val="7357D9"/>
                </a:solidFill>
                <a:latin typeface="Arial"/>
                <a:ea typeface="Arial"/>
                <a:cs typeface="Arial"/>
              </a:defRPr>
            </a:pPr>
            <a:r>
              <a:rPr sz="1500" b="1">
                <a:solidFill>
                  <a:srgbClr val="7357D9"/>
                </a:solidFill>
                <a:latin typeface="Arial"/>
                <a:ea typeface="Arial"/>
                <a:cs typeface="Arial"/>
              </a:rPr>
              <a:t>Current evaluation focus</a:t>
            </a:r>
          </a:p>
        </p:txBody>
      </p:sp>
      <p:sp>
        <p:nvSpPr>
          <p:cNvPr id="21" name="Rectangle 20">
            <a:extLst>
              <a:ext uri="{FF2B5EF4-FFF2-40B4-BE49-F238E27FC236}">
                <a16:creationId xmlns:a16="http://schemas.microsoft.com/office/drawing/2014/main" id="{4A9EFD96-3120-4BE8-B5C0-DCFEAA9EC941}"/>
              </a:ext>
            </a:extLst>
          </p:cNvPr>
          <p:cNvSpPr>
            <a:spLocks noGrp="1"/>
          </p:cNvSpPr>
          <p:nvPr/>
        </p:nvSpPr>
        <p:spPr>
          <a:xfrm>
            <a:off x="4038600" y="5391150"/>
            <a:ext cx="6535366" cy="476250"/>
          </a:xfrm>
          <a:prstGeom prst="rect">
            <a:avLst/>
          </a:prstGeom>
          <a:noFill/>
          <a:ln w="0">
            <a:noFill/>
            <a:prstDash val="solid"/>
          </a:ln>
        </p:spPr>
        <p:txBody>
          <a:bodyPr wrap="square" lIns="0" tIns="0" rIns="0" bIns="0" anchor="t">
            <a:normAutofit fontScale="98987"/>
          </a:bodyPr>
          <a:lstStyle/>
          <a:p>
            <a:pPr algn="l">
              <a:buNone/>
              <a:defRPr sz="1500" b="1">
                <a:solidFill>
                  <a:srgbClr val="0A1020"/>
                </a:solidFill>
                <a:latin typeface="Arial"/>
                <a:ea typeface="Arial"/>
                <a:cs typeface="Arial"/>
              </a:defRPr>
            </a:pPr>
            <a:r>
              <a:rPr sz="1500" b="1">
                <a:solidFill>
                  <a:srgbClr val="0A1020"/>
                </a:solidFill>
                <a:latin typeface="Arial"/>
                <a:ea typeface="Arial"/>
                <a:cs typeface="Arial"/>
              </a:rPr>
              <a:t>Extraction and decision are evaluated modularly. Response generation is implemented, but not yet a standalone quality benchmark.</a:t>
            </a:r>
          </a:p>
        </p:txBody>
      </p:sp>
    </p:spTree>
    <p:extLst>
      <p:ext uri="{BB962C8B-B14F-4D97-AF65-F5344CB8AC3E}">
        <p14:creationId xmlns:p14="http://schemas.microsoft.com/office/powerpoint/2010/main" val="590098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kicker-17">
            <a:extLst>
              <a:ext uri="{FF2B5EF4-FFF2-40B4-BE49-F238E27FC236}">
                <a16:creationId xmlns:a16="http://schemas.microsoft.com/office/drawing/2014/main" id="{52678E1E-3AE9-4C07-ACB1-B476EE4BF3E9}"/>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7357D9"/>
                </a:solidFill>
                <a:latin typeface="Arial"/>
                <a:ea typeface="Arial"/>
                <a:cs typeface="Arial"/>
              </a:defRPr>
            </a:pPr>
            <a:r>
              <a:rPr sz="1200" b="1">
                <a:solidFill>
                  <a:srgbClr val="7357D9"/>
                </a:solidFill>
                <a:latin typeface="Arial"/>
                <a:ea typeface="Arial"/>
                <a:cs typeface="Arial"/>
              </a:rPr>
              <a:t>STAGE 7 · EXPERIMENTAL DESIGN</a:t>
            </a:r>
          </a:p>
        </p:txBody>
      </p:sp>
      <p:sp>
        <p:nvSpPr>
          <p:cNvPr id="2" name="title-17">
            <a:extLst>
              <a:ext uri="{FF2B5EF4-FFF2-40B4-BE49-F238E27FC236}">
                <a16:creationId xmlns:a16="http://schemas.microsoft.com/office/drawing/2014/main" id="{7A330446-74DD-4175-B21F-2E116A50B08B}"/>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Four ablations isolate the bottlenecks</a:t>
            </a:r>
          </a:p>
        </p:txBody>
      </p:sp>
      <p:sp>
        <p:nvSpPr>
          <p:cNvPr id="3" name="Straight Connector 2">
            <a:extLst>
              <a:ext uri="{FF2B5EF4-FFF2-40B4-BE49-F238E27FC236}">
                <a16:creationId xmlns:a16="http://schemas.microsoft.com/office/drawing/2014/main" id="{BF045497-2555-4A16-959D-D3076445D5A2}"/>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8835A941-F46A-4FE9-AD8A-6076C01C663F}"/>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17</a:t>
            </a:r>
          </a:p>
        </p:txBody>
      </p:sp>
      <p:sp>
        <p:nvSpPr>
          <p:cNvPr id="5" name="Rectangle 4">
            <a:extLst>
              <a:ext uri="{FF2B5EF4-FFF2-40B4-BE49-F238E27FC236}">
                <a16:creationId xmlns:a16="http://schemas.microsoft.com/office/drawing/2014/main" id="{76B85B5B-B108-443F-BCEC-82E845D90E37}"/>
              </a:ext>
            </a:extLst>
          </p:cNvPr>
          <p:cNvSpPr>
            <a:spLocks noGrp="1"/>
          </p:cNvSpPr>
          <p:nvPr/>
        </p:nvSpPr>
        <p:spPr>
          <a:xfrm>
            <a:off x="495300" y="1466850"/>
            <a:ext cx="10668000" cy="323850"/>
          </a:xfrm>
          <a:prstGeom prst="rect">
            <a:avLst/>
          </a:prstGeom>
          <a:noFill/>
          <a:ln w="0">
            <a:noFill/>
            <a:prstDash val="solid"/>
          </a:ln>
        </p:spPr>
        <p:txBody>
          <a:bodyPr wrap="square" lIns="0" tIns="0" rIns="0" bIns="0" anchor="t">
            <a:noAutofit/>
          </a:bodyPr>
          <a:lstStyle/>
          <a:p>
            <a:pPr algn="l">
              <a:buNone/>
              <a:defRPr sz="1575" b="1">
                <a:solidFill>
                  <a:srgbClr val="5D6677"/>
                </a:solidFill>
                <a:latin typeface="Arial"/>
                <a:ea typeface="Arial"/>
                <a:cs typeface="Arial"/>
              </a:defRPr>
            </a:pPr>
            <a:r>
              <a:rPr sz="1575" b="1">
                <a:solidFill>
                  <a:srgbClr val="5D6677"/>
                </a:solidFill>
                <a:latin typeface="Arial"/>
                <a:ea typeface="Arial"/>
                <a:cs typeface="Arial"/>
              </a:rPr>
              <a:t>Qwen2.5-1.5B-Instruct · 72 balanced examples · 24 per action · temperature 0</a:t>
            </a:r>
          </a:p>
        </p:txBody>
      </p:sp>
      <p:graphicFrame>
        <p:nvGraphicFramePr>
          <p:cNvPr id="17" name="Table 14"/>
          <p:cNvGraphicFramePr/>
          <p:nvPr/>
        </p:nvGraphicFramePr>
        <p:xfrm>
          <a:off x="495300" y="2019300"/>
          <a:ext cx="11201401" cy="3143250"/>
        </p:xfrm>
        <a:graphic>
          <a:graphicData uri="http://schemas.openxmlformats.org/drawingml/2006/table">
            <a:tbl>
              <a:tblPr/>
              <a:tblGrid>
                <a:gridCol w="2700338">
                  <a:extLst>
                    <a:ext uri="{9D8B030D-6E8A-4147-A177-3AD203B41FA5}">
                      <a16:colId xmlns:a16="http://schemas.microsoft.com/office/drawing/2014/main" val="20000"/>
                    </a:ext>
                  </a:extLst>
                </a:gridCol>
                <a:gridCol w="2700338">
                  <a:extLst>
                    <a:ext uri="{9D8B030D-6E8A-4147-A177-3AD203B41FA5}">
                      <a16:colId xmlns:a16="http://schemas.microsoft.com/office/drawing/2014/main" val="20001"/>
                    </a:ext>
                  </a:extLst>
                </a:gridCol>
                <a:gridCol w="2300287">
                  <a:extLst>
                    <a:ext uri="{9D8B030D-6E8A-4147-A177-3AD203B41FA5}">
                      <a16:colId xmlns:a16="http://schemas.microsoft.com/office/drawing/2014/main" val="20002"/>
                    </a:ext>
                  </a:extLst>
                </a:gridCol>
                <a:gridCol w="3500438">
                  <a:extLst>
                    <a:ext uri="{9D8B030D-6E8A-4147-A177-3AD203B41FA5}">
                      <a16:colId xmlns:a16="http://schemas.microsoft.com/office/drawing/2014/main" val="20003"/>
                    </a:ext>
                  </a:extLst>
                </a:gridCol>
              </a:tblGrid>
              <a:tr h="628650">
                <a:tc>
                  <a:txBody>
                    <a:bodyPr/>
                    <a:lstStyle/>
                    <a:p>
                      <a:r>
                        <a:rPr sz="1425" b="1">
                          <a:solidFill>
                            <a:srgbClr val="FFFFFF"/>
                          </a:solidFill>
                          <a:latin typeface="Arial"/>
                          <a:ea typeface="Arial"/>
                          <a:cs typeface="Arial"/>
                        </a:rPr>
                        <a:t>Mode</a:t>
                      </a:r>
                    </a:p>
                  </a:txBody>
                  <a:tcPr marL="114300" marR="114300" marT="95250" marB="95250" anchor="ctr">
                    <a:solidFill>
                      <a:srgbClr val="0A1020"/>
                    </a:solidFill>
                  </a:tcPr>
                </a:tc>
                <a:tc>
                  <a:txBody>
                    <a:bodyPr/>
                    <a:lstStyle/>
                    <a:p>
                      <a:r>
                        <a:rPr sz="1425" b="1">
                          <a:solidFill>
                            <a:srgbClr val="FFFFFF"/>
                          </a:solidFill>
                          <a:latin typeface="Arial"/>
                          <a:ea typeface="Arial"/>
                          <a:cs typeface="Arial"/>
                        </a:rPr>
                        <a:t>Memory source</a:t>
                      </a:r>
                    </a:p>
                  </a:txBody>
                  <a:tcPr marL="114300" marR="114300" marT="95250" marB="95250" anchor="ctr">
                    <a:solidFill>
                      <a:srgbClr val="0A1020"/>
                    </a:solidFill>
                  </a:tcPr>
                </a:tc>
                <a:tc>
                  <a:txBody>
                    <a:bodyPr/>
                    <a:lstStyle/>
                    <a:p>
                      <a:r>
                        <a:rPr sz="1425" b="1">
                          <a:solidFill>
                            <a:srgbClr val="FFFFFF"/>
                          </a:solidFill>
                          <a:latin typeface="Arial"/>
                          <a:ea typeface="Arial"/>
                          <a:cs typeface="Arial"/>
                        </a:rPr>
                        <a:t>Decision source</a:t>
                      </a:r>
                    </a:p>
                  </a:txBody>
                  <a:tcPr marL="114300" marR="114300" marT="95250" marB="95250" anchor="ctr">
                    <a:solidFill>
                      <a:srgbClr val="0A1020"/>
                    </a:solidFill>
                  </a:tcPr>
                </a:tc>
                <a:tc>
                  <a:txBody>
                    <a:bodyPr/>
                    <a:lstStyle/>
                    <a:p>
                      <a:r>
                        <a:rPr sz="1425" b="1">
                          <a:solidFill>
                            <a:srgbClr val="FFFFFF"/>
                          </a:solidFill>
                          <a:latin typeface="Arial"/>
                          <a:ea typeface="Arial"/>
                          <a:cs typeface="Arial"/>
                        </a:rPr>
                        <a:t>What it isolates</a:t>
                      </a:r>
                    </a:p>
                  </a:txBody>
                  <a:tcPr marL="114300" marR="114300" marT="95250" marB="95250" anchor="ctr">
                    <a:solidFill>
                      <a:srgbClr val="0A1020"/>
                    </a:solidFill>
                  </a:tcPr>
                </a:tc>
                <a:extLst>
                  <a:ext uri="{0D108BD9-81ED-4DB2-BD59-A6C34878D82A}">
                    <a16:rowId xmlns:a16="http://schemas.microsoft.com/office/drawing/2014/main" val="10000"/>
                  </a:ext>
                </a:extLst>
              </a:tr>
              <a:tr h="628650">
                <a:tc>
                  <a:txBody>
                    <a:bodyPr/>
                    <a:lstStyle/>
                    <a:p>
                      <a:r>
                        <a:rPr sz="1425">
                          <a:solidFill>
                            <a:srgbClr val="0A1020"/>
                          </a:solidFill>
                          <a:latin typeface="Arial"/>
                          <a:ea typeface="Arial"/>
                          <a:cs typeface="Arial"/>
                        </a:rPr>
                        <a:t>Gold Memory + LLM</a:t>
                      </a:r>
                    </a:p>
                  </a:txBody>
                  <a:tcPr marL="114300" marR="114300" marT="95250" marB="95250" anchor="ctr">
                    <a:solidFill>
                      <a:srgbClr val="FFFFFF"/>
                    </a:solidFill>
                  </a:tcPr>
                </a:tc>
                <a:tc>
                  <a:txBody>
                    <a:bodyPr/>
                    <a:lstStyle/>
                    <a:p>
                      <a:r>
                        <a:rPr sz="1425">
                          <a:solidFill>
                            <a:srgbClr val="0A1020"/>
                          </a:solidFill>
                          <a:latin typeface="Arial"/>
                          <a:ea typeface="Arial"/>
                          <a:cs typeface="Arial"/>
                        </a:rPr>
                        <a:t>Gold structured memory</a:t>
                      </a:r>
                    </a:p>
                  </a:txBody>
                  <a:tcPr marL="114300" marR="114300" marT="95250" marB="95250" anchor="ctr">
                    <a:solidFill>
                      <a:srgbClr val="FFFFFF"/>
                    </a:solidFill>
                  </a:tcPr>
                </a:tc>
                <a:tc>
                  <a:txBody>
                    <a:bodyPr/>
                    <a:lstStyle/>
                    <a:p>
                      <a:r>
                        <a:rPr sz="1425">
                          <a:solidFill>
                            <a:srgbClr val="0A1020"/>
                          </a:solidFill>
                          <a:latin typeface="Arial"/>
                          <a:ea typeface="Arial"/>
                          <a:cs typeface="Arial"/>
                        </a:rPr>
                        <a:t>LLM label</a:t>
                      </a:r>
                    </a:p>
                  </a:txBody>
                  <a:tcPr marL="114300" marR="114300" marT="95250" marB="95250" anchor="ctr">
                    <a:solidFill>
                      <a:srgbClr val="FFFFFF"/>
                    </a:solidFill>
                  </a:tcPr>
                </a:tc>
                <a:tc>
                  <a:txBody>
                    <a:bodyPr/>
                    <a:lstStyle/>
                    <a:p>
                      <a:r>
                        <a:rPr sz="1425">
                          <a:solidFill>
                            <a:srgbClr val="0A1020"/>
                          </a:solidFill>
                          <a:latin typeface="Arial"/>
                          <a:ea typeface="Arial"/>
                          <a:cs typeface="Arial"/>
                        </a:rPr>
                        <a:t>Decision bottleneck</a:t>
                      </a:r>
                    </a:p>
                  </a:txBody>
                  <a:tcPr marL="114300" marR="114300" marT="95250" marB="95250" anchor="ctr">
                    <a:solidFill>
                      <a:srgbClr val="FFFFFF"/>
                    </a:solidFill>
                  </a:tcPr>
                </a:tc>
                <a:extLst>
                  <a:ext uri="{0D108BD9-81ED-4DB2-BD59-A6C34878D82A}">
                    <a16:rowId xmlns:a16="http://schemas.microsoft.com/office/drawing/2014/main" val="10001"/>
                  </a:ext>
                </a:extLst>
              </a:tr>
              <a:tr h="628650">
                <a:tc>
                  <a:txBody>
                    <a:bodyPr/>
                    <a:lstStyle/>
                    <a:p>
                      <a:r>
                        <a:rPr sz="1425">
                          <a:solidFill>
                            <a:srgbClr val="0A1020"/>
                          </a:solidFill>
                          <a:latin typeface="Arial"/>
                          <a:ea typeface="Arial"/>
                          <a:cs typeface="Arial"/>
                        </a:rPr>
                        <a:t>Rule Memory + LLM</a:t>
                      </a:r>
                    </a:p>
                  </a:txBody>
                  <a:tcPr marL="114300" marR="114300" marT="95250" marB="95250" anchor="ctr">
                    <a:solidFill>
                      <a:srgbClr val="FFFFFF"/>
                    </a:solidFill>
                  </a:tcPr>
                </a:tc>
                <a:tc>
                  <a:txBody>
                    <a:bodyPr/>
                    <a:lstStyle/>
                    <a:p>
                      <a:r>
                        <a:rPr sz="1425">
                          <a:solidFill>
                            <a:srgbClr val="0A1020"/>
                          </a:solidFill>
                          <a:latin typeface="Arial"/>
                          <a:ea typeface="Arial"/>
                          <a:cs typeface="Arial"/>
                        </a:rPr>
                        <a:t>Rule extractor</a:t>
                      </a:r>
                    </a:p>
                  </a:txBody>
                  <a:tcPr marL="114300" marR="114300" marT="95250" marB="95250" anchor="ctr">
                    <a:solidFill>
                      <a:srgbClr val="FFFFFF"/>
                    </a:solidFill>
                  </a:tcPr>
                </a:tc>
                <a:tc>
                  <a:txBody>
                    <a:bodyPr/>
                    <a:lstStyle/>
                    <a:p>
                      <a:r>
                        <a:rPr sz="1425">
                          <a:solidFill>
                            <a:srgbClr val="0A1020"/>
                          </a:solidFill>
                          <a:latin typeface="Arial"/>
                          <a:ea typeface="Arial"/>
                          <a:cs typeface="Arial"/>
                        </a:rPr>
                        <a:t>LLM label</a:t>
                      </a:r>
                    </a:p>
                  </a:txBody>
                  <a:tcPr marL="114300" marR="114300" marT="95250" marB="95250" anchor="ctr">
                    <a:solidFill>
                      <a:srgbClr val="FFFFFF"/>
                    </a:solidFill>
                  </a:tcPr>
                </a:tc>
                <a:tc>
                  <a:txBody>
                    <a:bodyPr/>
                    <a:lstStyle/>
                    <a:p>
                      <a:r>
                        <a:rPr sz="1425">
                          <a:solidFill>
                            <a:srgbClr val="0A1020"/>
                          </a:solidFill>
                          <a:latin typeface="Arial"/>
                          <a:ea typeface="Arial"/>
                          <a:cs typeface="Arial"/>
                        </a:rPr>
                        <a:t>LLM decision with usable memory</a:t>
                      </a:r>
                    </a:p>
                  </a:txBody>
                  <a:tcPr marL="114300" marR="114300" marT="95250" marB="95250" anchor="ctr">
                    <a:solidFill>
                      <a:srgbClr val="FFFFFF"/>
                    </a:solidFill>
                  </a:tcPr>
                </a:tc>
                <a:extLst>
                  <a:ext uri="{0D108BD9-81ED-4DB2-BD59-A6C34878D82A}">
                    <a16:rowId xmlns:a16="http://schemas.microsoft.com/office/drawing/2014/main" val="10002"/>
                  </a:ext>
                </a:extLst>
              </a:tr>
              <a:tr h="628650">
                <a:tc>
                  <a:txBody>
                    <a:bodyPr/>
                    <a:lstStyle/>
                    <a:p>
                      <a:r>
                        <a:rPr sz="1425">
                          <a:solidFill>
                            <a:srgbClr val="0A1020"/>
                          </a:solidFill>
                          <a:latin typeface="Arial"/>
                          <a:ea typeface="Arial"/>
                          <a:cs typeface="Arial"/>
                        </a:rPr>
                        <a:t>LLM Memory + Rule</a:t>
                      </a:r>
                    </a:p>
                  </a:txBody>
                  <a:tcPr marL="114300" marR="114300" marT="95250" marB="95250" anchor="ctr">
                    <a:solidFill>
                      <a:srgbClr val="E6F6F2"/>
                    </a:solidFill>
                  </a:tcPr>
                </a:tc>
                <a:tc>
                  <a:txBody>
                    <a:bodyPr/>
                    <a:lstStyle/>
                    <a:p>
                      <a:r>
                        <a:rPr sz="1425">
                          <a:solidFill>
                            <a:srgbClr val="0A1020"/>
                          </a:solidFill>
                          <a:latin typeface="Arial"/>
                          <a:ea typeface="Arial"/>
                          <a:cs typeface="Arial"/>
                        </a:rPr>
                        <a:t>LLM extractor</a:t>
                      </a:r>
                    </a:p>
                  </a:txBody>
                  <a:tcPr marL="114300" marR="114300" marT="95250" marB="95250" anchor="ctr">
                    <a:solidFill>
                      <a:srgbClr val="E6F6F2"/>
                    </a:solidFill>
                  </a:tcPr>
                </a:tc>
                <a:tc>
                  <a:txBody>
                    <a:bodyPr/>
                    <a:lstStyle/>
                    <a:p>
                      <a:r>
                        <a:rPr sz="1425">
                          <a:solidFill>
                            <a:srgbClr val="0A1020"/>
                          </a:solidFill>
                          <a:latin typeface="Arial"/>
                          <a:ea typeface="Arial"/>
                          <a:cs typeface="Arial"/>
                        </a:rPr>
                        <a:t>Rule policy</a:t>
                      </a:r>
                    </a:p>
                  </a:txBody>
                  <a:tcPr marL="114300" marR="114300" marT="95250" marB="95250" anchor="ctr">
                    <a:solidFill>
                      <a:srgbClr val="E6F6F2"/>
                    </a:solidFill>
                  </a:tcPr>
                </a:tc>
                <a:tc>
                  <a:txBody>
                    <a:bodyPr/>
                    <a:lstStyle/>
                    <a:p>
                      <a:r>
                        <a:rPr sz="1425">
                          <a:solidFill>
                            <a:srgbClr val="0A1020"/>
                          </a:solidFill>
                          <a:latin typeface="Arial"/>
                          <a:ea typeface="Arial"/>
                          <a:cs typeface="Arial"/>
                        </a:rPr>
                        <a:t>Extraction bottleneck</a:t>
                      </a:r>
                    </a:p>
                  </a:txBody>
                  <a:tcPr marL="114300" marR="114300" marT="95250" marB="95250" anchor="ctr">
                    <a:solidFill>
                      <a:srgbClr val="E6F6F2"/>
                    </a:solidFill>
                  </a:tcPr>
                </a:tc>
                <a:extLst>
                  <a:ext uri="{0D108BD9-81ED-4DB2-BD59-A6C34878D82A}">
                    <a16:rowId xmlns:a16="http://schemas.microsoft.com/office/drawing/2014/main" val="10003"/>
                  </a:ext>
                </a:extLst>
              </a:tr>
              <a:tr h="628650">
                <a:tc>
                  <a:txBody>
                    <a:bodyPr/>
                    <a:lstStyle/>
                    <a:p>
                      <a:r>
                        <a:rPr sz="1425">
                          <a:solidFill>
                            <a:srgbClr val="0A1020"/>
                          </a:solidFill>
                          <a:latin typeface="Arial"/>
                          <a:ea typeface="Arial"/>
                          <a:cs typeface="Arial"/>
                        </a:rPr>
                        <a:t>Full LLM</a:t>
                      </a:r>
                    </a:p>
                  </a:txBody>
                  <a:tcPr marL="114300" marR="114300" marT="95250" marB="95250" anchor="ctr">
                    <a:solidFill>
                      <a:srgbClr val="FCEBEC"/>
                    </a:solidFill>
                  </a:tcPr>
                </a:tc>
                <a:tc>
                  <a:txBody>
                    <a:bodyPr/>
                    <a:lstStyle/>
                    <a:p>
                      <a:r>
                        <a:rPr sz="1425">
                          <a:solidFill>
                            <a:srgbClr val="0A1020"/>
                          </a:solidFill>
                          <a:latin typeface="Arial"/>
                          <a:ea typeface="Arial"/>
                          <a:cs typeface="Arial"/>
                        </a:rPr>
                        <a:t>LLM extractor</a:t>
                      </a:r>
                    </a:p>
                  </a:txBody>
                  <a:tcPr marL="114300" marR="114300" marT="95250" marB="95250" anchor="ctr">
                    <a:solidFill>
                      <a:srgbClr val="FCEBEC"/>
                    </a:solidFill>
                  </a:tcPr>
                </a:tc>
                <a:tc>
                  <a:txBody>
                    <a:bodyPr/>
                    <a:lstStyle/>
                    <a:p>
                      <a:r>
                        <a:rPr sz="1425">
                          <a:solidFill>
                            <a:srgbClr val="0A1020"/>
                          </a:solidFill>
                          <a:latin typeface="Arial"/>
                          <a:ea typeface="Arial"/>
                          <a:cs typeface="Arial"/>
                        </a:rPr>
                        <a:t>LLM JSON decision</a:t>
                      </a:r>
                    </a:p>
                  </a:txBody>
                  <a:tcPr marL="114300" marR="114300" marT="95250" marB="95250" anchor="ctr">
                    <a:solidFill>
                      <a:srgbClr val="FCEBEC"/>
                    </a:solidFill>
                  </a:tcPr>
                </a:tc>
                <a:tc>
                  <a:txBody>
                    <a:bodyPr/>
                    <a:lstStyle/>
                    <a:p>
                      <a:r>
                        <a:rPr sz="1425">
                          <a:solidFill>
                            <a:srgbClr val="0A1020"/>
                          </a:solidFill>
                          <a:latin typeface="Arial"/>
                          <a:ea typeface="Arial"/>
                          <a:cs typeface="Arial"/>
                        </a:rPr>
                        <a:t>End-to-end behavior</a:t>
                      </a:r>
                    </a:p>
                  </a:txBody>
                  <a:tcPr marL="114300" marR="114300" marT="95250" marB="95250" anchor="ctr">
                    <a:solidFill>
                      <a:srgbClr val="FCEBEC"/>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904EDA1B-A27E-476B-9AED-67E74939AB13}"/>
              </a:ext>
            </a:extLst>
          </p:cNvPr>
          <p:cNvSpPr>
            <a:spLocks noGrp="1"/>
          </p:cNvSpPr>
          <p:nvPr/>
        </p:nvSpPr>
        <p:spPr>
          <a:xfrm>
            <a:off x="495300" y="5524500"/>
            <a:ext cx="11201400" cy="609600"/>
          </a:xfrm>
          <a:prstGeom prst="rect">
            <a:avLst/>
          </a:prstGeom>
          <a:solidFill>
            <a:srgbClr val="EAF3FF"/>
          </a:solidFill>
          <a:ln w="9525">
            <a:solidFill>
              <a:srgbClr val="3D8DFF"/>
            </a:solidFill>
            <a:prstDash val="solid"/>
          </a:ln>
        </p:spPr>
      </p:sp>
      <p:sp>
        <p:nvSpPr>
          <p:cNvPr id="8" name="Rectangle 7">
            <a:extLst>
              <a:ext uri="{FF2B5EF4-FFF2-40B4-BE49-F238E27FC236}">
                <a16:creationId xmlns:a16="http://schemas.microsoft.com/office/drawing/2014/main" id="{82D3A090-DF78-42A8-BFF6-383878CCB2EE}"/>
              </a:ext>
            </a:extLst>
          </p:cNvPr>
          <p:cNvSpPr>
            <a:spLocks noGrp="1"/>
          </p:cNvSpPr>
          <p:nvPr/>
        </p:nvSpPr>
        <p:spPr>
          <a:xfrm>
            <a:off x="742950" y="5695950"/>
            <a:ext cx="1619250" cy="247650"/>
          </a:xfrm>
          <a:prstGeom prst="rect">
            <a:avLst/>
          </a:prstGeom>
          <a:noFill/>
          <a:ln w="0">
            <a:noFill/>
            <a:prstDash val="solid"/>
          </a:ln>
        </p:spPr>
        <p:txBody>
          <a:bodyPr wrap="square" lIns="0" tIns="0" rIns="0" bIns="0" anchor="t">
            <a:noAutofit/>
          </a:bodyPr>
          <a:lstStyle/>
          <a:p>
            <a:pPr algn="l">
              <a:buNone/>
              <a:defRPr sz="1500" b="1">
                <a:solidFill>
                  <a:srgbClr val="3D8DFF"/>
                </a:solidFill>
                <a:latin typeface="Arial"/>
                <a:ea typeface="Arial"/>
                <a:cs typeface="Arial"/>
              </a:defRPr>
            </a:pPr>
            <a:r>
              <a:rPr sz="1500" b="1">
                <a:solidFill>
                  <a:srgbClr val="3D8DFF"/>
                </a:solidFill>
                <a:latin typeface="Arial"/>
                <a:ea typeface="Arial"/>
                <a:cs typeface="Arial"/>
              </a:rPr>
              <a:t>Why modular?</a:t>
            </a:r>
          </a:p>
        </p:txBody>
      </p:sp>
      <p:sp>
        <p:nvSpPr>
          <p:cNvPr id="9" name="Rectangle 8">
            <a:extLst>
              <a:ext uri="{FF2B5EF4-FFF2-40B4-BE49-F238E27FC236}">
                <a16:creationId xmlns:a16="http://schemas.microsoft.com/office/drawing/2014/main" id="{6E884656-44BA-4F83-BDB8-E9CD556CC3D1}"/>
              </a:ext>
            </a:extLst>
          </p:cNvPr>
          <p:cNvSpPr>
            <a:spLocks noGrp="1"/>
          </p:cNvSpPr>
          <p:nvPr/>
        </p:nvSpPr>
        <p:spPr>
          <a:xfrm>
            <a:off x="2362200" y="5657850"/>
            <a:ext cx="8858250" cy="323850"/>
          </a:xfrm>
          <a:prstGeom prst="rect">
            <a:avLst/>
          </a:prstGeom>
          <a:noFill/>
          <a:ln w="0">
            <a:noFill/>
            <a:prstDash val="solid"/>
          </a:ln>
        </p:spPr>
        <p:txBody>
          <a:bodyPr wrap="square" lIns="0" tIns="0" rIns="0" bIns="0" anchor="t">
            <a:noAutofit/>
          </a:bodyPr>
          <a:lstStyle/>
          <a:p>
            <a:pPr algn="l">
              <a:buNone/>
              <a:defRPr sz="1500" b="1">
                <a:solidFill>
                  <a:srgbClr val="0A1020"/>
                </a:solidFill>
                <a:latin typeface="Arial"/>
                <a:ea typeface="Arial"/>
                <a:cs typeface="Arial"/>
              </a:defRPr>
            </a:pPr>
            <a:r>
              <a:rPr sz="1500" b="1">
                <a:solidFill>
                  <a:srgbClr val="0A1020"/>
                </a:solidFill>
                <a:latin typeface="Arial"/>
                <a:ea typeface="Arial"/>
                <a:cs typeface="Arial"/>
              </a:rPr>
              <a:t>If a run fails, we can tell whether the error came from memory construction or from the final applicability decision.</a:t>
            </a:r>
          </a:p>
        </p:txBody>
      </p:sp>
    </p:spTree>
    <p:extLst>
      <p:ext uri="{BB962C8B-B14F-4D97-AF65-F5344CB8AC3E}">
        <p14:creationId xmlns:p14="http://schemas.microsoft.com/office/powerpoint/2010/main" val="725272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kicker-19">
            <a:extLst>
              <a:ext uri="{FF2B5EF4-FFF2-40B4-BE49-F238E27FC236}">
                <a16:creationId xmlns:a16="http://schemas.microsoft.com/office/drawing/2014/main" id="{7A240D44-1D46-48EA-A83C-4E65ABD8E111}"/>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STAGE 7 · MEMORY ANALYSIS</a:t>
            </a:r>
          </a:p>
        </p:txBody>
      </p:sp>
      <p:sp>
        <p:nvSpPr>
          <p:cNvPr id="2" name="title-19">
            <a:extLst>
              <a:ext uri="{FF2B5EF4-FFF2-40B4-BE49-F238E27FC236}">
                <a16:creationId xmlns:a16="http://schemas.microsoft.com/office/drawing/2014/main" id="{0637A038-5714-4F7D-9E7C-E57809054C0D}"/>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Memory construction is the first bottleneck</a:t>
            </a:r>
          </a:p>
        </p:txBody>
      </p:sp>
      <p:sp>
        <p:nvSpPr>
          <p:cNvPr id="3" name="Straight Connector 2">
            <a:extLst>
              <a:ext uri="{FF2B5EF4-FFF2-40B4-BE49-F238E27FC236}">
                <a16:creationId xmlns:a16="http://schemas.microsoft.com/office/drawing/2014/main" id="{F4C9F49B-8C72-4D0E-B3B0-145EBBB21C20}"/>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7528A47E-0F27-4281-8C4A-D4E763A3B698}"/>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18</a:t>
            </a:r>
          </a:p>
        </p:txBody>
      </p:sp>
      <p:graphicFrame>
        <p:nvGraphicFramePr>
          <p:cNvPr id="22" name="Chart"/>
          <p:cNvGraphicFramePr/>
          <p:nvPr/>
        </p:nvGraphicFramePr>
        <p:xfrm>
          <a:off x="495300" y="1600200"/>
          <a:ext cx="7239000" cy="43624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2B28DE09-ECBB-4D59-BB0A-DD7F22F4B7EA}"/>
              </a:ext>
            </a:extLst>
          </p:cNvPr>
          <p:cNvSpPr>
            <a:spLocks noGrp="1"/>
          </p:cNvSpPr>
          <p:nvPr/>
        </p:nvSpPr>
        <p:spPr>
          <a:xfrm>
            <a:off x="1207040" y="5962650"/>
            <a:ext cx="6191250" cy="247650"/>
          </a:xfrm>
          <a:prstGeom prst="rect">
            <a:avLst/>
          </a:prstGeom>
          <a:noFill/>
          <a:ln w="0">
            <a:noFill/>
            <a:prstDash val="solid"/>
          </a:ln>
        </p:spPr>
        <p:txBody>
          <a:bodyPr wrap="square" lIns="0" tIns="0" rIns="0" bIns="0" anchor="t">
            <a:noAutofit/>
          </a:bodyPr>
          <a:lstStyle/>
          <a:p>
            <a:pPr algn="ctr">
              <a:buNone/>
              <a:defRPr sz="1275" b="1">
                <a:solidFill>
                  <a:srgbClr val="8C95A5"/>
                </a:solidFill>
                <a:latin typeface="Arial"/>
                <a:ea typeface="Arial"/>
                <a:cs typeface="Arial"/>
              </a:defRPr>
            </a:pPr>
            <a:r>
              <a:rPr sz="1275" b="1">
                <a:solidFill>
                  <a:srgbClr val="8C95A5"/>
                </a:solidFill>
                <a:latin typeface="Arial"/>
                <a:ea typeface="Arial"/>
                <a:cs typeface="Arial"/>
              </a:rPr>
              <a:t>Qwen2.5-1.5B · LLM memory extraction · 72 balanced examples</a:t>
            </a:r>
          </a:p>
        </p:txBody>
      </p:sp>
      <p:sp>
        <p:nvSpPr>
          <p:cNvPr id="7" name="Rectangle 6">
            <a:extLst>
              <a:ext uri="{FF2B5EF4-FFF2-40B4-BE49-F238E27FC236}">
                <a16:creationId xmlns:a16="http://schemas.microsoft.com/office/drawing/2014/main" id="{E43C97B8-FA5F-440F-96D6-2088848293F8}"/>
              </a:ext>
            </a:extLst>
          </p:cNvPr>
          <p:cNvSpPr>
            <a:spLocks noGrp="1"/>
          </p:cNvSpPr>
          <p:nvPr/>
        </p:nvSpPr>
        <p:spPr>
          <a:xfrm>
            <a:off x="8096250" y="1600200"/>
            <a:ext cx="3600450" cy="2266950"/>
          </a:xfrm>
          <a:prstGeom prst="rect">
            <a:avLst/>
          </a:prstGeom>
          <a:solidFill>
            <a:srgbClr val="E6F6F2"/>
          </a:solidFill>
          <a:ln w="14288">
            <a:solidFill>
              <a:srgbClr val="159A7D"/>
            </a:solidFill>
            <a:prstDash val="solid"/>
          </a:ln>
        </p:spPr>
      </p:sp>
      <p:sp>
        <p:nvSpPr>
          <p:cNvPr id="8" name="Rectangle 7">
            <a:extLst>
              <a:ext uri="{FF2B5EF4-FFF2-40B4-BE49-F238E27FC236}">
                <a16:creationId xmlns:a16="http://schemas.microsoft.com/office/drawing/2014/main" id="{41781950-F7E8-4413-B58D-875531BB6EDB}"/>
              </a:ext>
            </a:extLst>
          </p:cNvPr>
          <p:cNvSpPr>
            <a:spLocks noGrp="1"/>
          </p:cNvSpPr>
          <p:nvPr/>
        </p:nvSpPr>
        <p:spPr>
          <a:xfrm>
            <a:off x="8362950" y="1828800"/>
            <a:ext cx="2857500" cy="266700"/>
          </a:xfrm>
          <a:prstGeom prst="rect">
            <a:avLst/>
          </a:prstGeom>
          <a:noFill/>
          <a:ln w="0">
            <a:noFill/>
            <a:prstDash val="solid"/>
          </a:ln>
        </p:spPr>
        <p:txBody>
          <a:bodyPr wrap="square" lIns="0" tIns="0" rIns="0" bIns="0" anchor="t">
            <a:noAutofit/>
          </a:bodyPr>
          <a:lstStyle/>
          <a:p>
            <a:pPr algn="l">
              <a:buNone/>
              <a:defRPr sz="1350" b="1">
                <a:solidFill>
                  <a:srgbClr val="159A7D"/>
                </a:solidFill>
                <a:latin typeface="Arial"/>
                <a:ea typeface="Arial"/>
                <a:cs typeface="Arial"/>
              </a:defRPr>
            </a:pPr>
            <a:r>
              <a:rPr sz="1350" b="1">
                <a:solidFill>
                  <a:srgbClr val="159A7D"/>
                </a:solidFill>
                <a:latin typeface="Arial"/>
                <a:ea typeface="Arial"/>
                <a:cs typeface="Arial"/>
              </a:rPr>
              <a:t>WHAT IT RETAINS</a:t>
            </a:r>
          </a:p>
        </p:txBody>
      </p:sp>
      <p:sp>
        <p:nvSpPr>
          <p:cNvPr id="9" name="Rectangle 8">
            <a:extLst>
              <a:ext uri="{FF2B5EF4-FFF2-40B4-BE49-F238E27FC236}">
                <a16:creationId xmlns:a16="http://schemas.microsoft.com/office/drawing/2014/main" id="{504974A4-4146-4ED7-8B66-7F69A89D2943}"/>
              </a:ext>
            </a:extLst>
          </p:cNvPr>
          <p:cNvSpPr>
            <a:spLocks noGrp="1"/>
          </p:cNvSpPr>
          <p:nvPr/>
        </p:nvSpPr>
        <p:spPr>
          <a:xfrm>
            <a:off x="8362950" y="2228850"/>
            <a:ext cx="2857500" cy="552450"/>
          </a:xfrm>
          <a:prstGeom prst="rect">
            <a:avLst/>
          </a:prstGeom>
          <a:noFill/>
          <a:ln w="0">
            <a:noFill/>
            <a:prstDash val="solid"/>
          </a:ln>
        </p:spPr>
        <p:txBody>
          <a:bodyPr wrap="square" lIns="0" tIns="0" rIns="0" bIns="0" anchor="t">
            <a:noAutofit/>
          </a:bodyPr>
          <a:lstStyle/>
          <a:p>
            <a:pPr algn="l">
              <a:buNone/>
              <a:defRPr sz="3600" b="1">
                <a:solidFill>
                  <a:srgbClr val="159A7D"/>
                </a:solidFill>
                <a:latin typeface="Arial"/>
                <a:ea typeface="Arial"/>
                <a:cs typeface="Arial"/>
              </a:defRPr>
            </a:pPr>
            <a:r>
              <a:rPr sz="3600" b="1">
                <a:solidFill>
                  <a:srgbClr val="159A7D"/>
                </a:solidFill>
                <a:latin typeface="Arial"/>
                <a:ea typeface="Arial"/>
                <a:cs typeface="Arial"/>
              </a:rPr>
              <a:t>90.3%</a:t>
            </a:r>
          </a:p>
        </p:txBody>
      </p:sp>
      <p:sp>
        <p:nvSpPr>
          <p:cNvPr id="10" name="Rectangle 9">
            <a:extLst>
              <a:ext uri="{FF2B5EF4-FFF2-40B4-BE49-F238E27FC236}">
                <a16:creationId xmlns:a16="http://schemas.microsoft.com/office/drawing/2014/main" id="{FDD32317-7D31-47E3-B58B-FA7DD3DEE921}"/>
              </a:ext>
            </a:extLst>
          </p:cNvPr>
          <p:cNvSpPr>
            <a:spLocks noGrp="1"/>
          </p:cNvSpPr>
          <p:nvPr/>
        </p:nvSpPr>
        <p:spPr>
          <a:xfrm>
            <a:off x="8362950" y="2819400"/>
            <a:ext cx="2857500" cy="2667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profile variant</a:t>
            </a:r>
          </a:p>
        </p:txBody>
      </p:sp>
      <p:sp>
        <p:nvSpPr>
          <p:cNvPr id="11" name="Rectangle 10">
            <a:extLst>
              <a:ext uri="{FF2B5EF4-FFF2-40B4-BE49-F238E27FC236}">
                <a16:creationId xmlns:a16="http://schemas.microsoft.com/office/drawing/2014/main" id="{6902A4ED-5F80-46BB-AF3D-2DC1D36BDE53}"/>
              </a:ext>
            </a:extLst>
          </p:cNvPr>
          <p:cNvSpPr>
            <a:spLocks noGrp="1"/>
          </p:cNvSpPr>
          <p:nvPr/>
        </p:nvSpPr>
        <p:spPr>
          <a:xfrm>
            <a:off x="8362950" y="3162300"/>
            <a:ext cx="2971800" cy="762000"/>
          </a:xfrm>
          <a:prstGeom prst="rect">
            <a:avLst/>
          </a:prstGeom>
          <a:noFill/>
          <a:ln w="0">
            <a:noFill/>
            <a:prstDash val="solid"/>
          </a:ln>
        </p:spPr>
        <p:txBody>
          <a:bodyPr wrap="square" lIns="0" tIns="0" rIns="0" bIns="0" anchor="t">
            <a:normAutofit/>
          </a:bodyPr>
          <a:lstStyle/>
          <a:p>
            <a:pPr algn="l">
              <a:buNone/>
              <a:defRPr sz="1425" b="0">
                <a:solidFill>
                  <a:srgbClr val="0A1020"/>
                </a:solidFill>
                <a:latin typeface="Arial"/>
                <a:ea typeface="Arial"/>
                <a:cs typeface="Arial"/>
              </a:defRPr>
            </a:pPr>
            <a:r>
              <a:rPr sz="1425" b="0">
                <a:solidFill>
                  <a:srgbClr val="0A1020"/>
                </a:solidFill>
                <a:latin typeface="Arial"/>
                <a:ea typeface="Arial"/>
                <a:cs typeface="Arial"/>
              </a:rPr>
              <a:t>Temporal validity: 84.7%</a:t>
            </a:r>
          </a:p>
          <a:p>
            <a:pPr algn="l">
              <a:buNone/>
              <a:defRPr sz="1425" b="0">
                <a:solidFill>
                  <a:srgbClr val="0A1020"/>
                </a:solidFill>
                <a:latin typeface="Arial"/>
                <a:ea typeface="Arial"/>
                <a:cs typeface="Arial"/>
              </a:defRPr>
            </a:pPr>
            <a:r>
              <a:rPr sz="1425" b="0">
                <a:solidFill>
                  <a:srgbClr val="0A1020"/>
                </a:solidFill>
                <a:latin typeface="Arial"/>
                <a:ea typeface="Arial"/>
                <a:cs typeface="Arial"/>
              </a:rPr>
              <a:t>The model preserves explicit context fields.</a:t>
            </a:r>
          </a:p>
        </p:txBody>
      </p:sp>
      <p:sp>
        <p:nvSpPr>
          <p:cNvPr id="12" name="Rectangle 11">
            <a:extLst>
              <a:ext uri="{FF2B5EF4-FFF2-40B4-BE49-F238E27FC236}">
                <a16:creationId xmlns:a16="http://schemas.microsoft.com/office/drawing/2014/main" id="{DEAB2434-2086-4A89-BE3F-920CE3268D27}"/>
              </a:ext>
            </a:extLst>
          </p:cNvPr>
          <p:cNvSpPr>
            <a:spLocks noGrp="1"/>
          </p:cNvSpPr>
          <p:nvPr/>
        </p:nvSpPr>
        <p:spPr>
          <a:xfrm>
            <a:off x="8096250" y="4076700"/>
            <a:ext cx="3600450" cy="1885950"/>
          </a:xfrm>
          <a:prstGeom prst="rect">
            <a:avLst/>
          </a:prstGeom>
          <a:solidFill>
            <a:srgbClr val="FFF2CF"/>
          </a:solidFill>
          <a:ln w="14288">
            <a:solidFill>
              <a:srgbClr val="C98500"/>
            </a:solidFill>
            <a:prstDash val="solid"/>
          </a:ln>
        </p:spPr>
      </p:sp>
      <p:sp>
        <p:nvSpPr>
          <p:cNvPr id="13" name="Rectangle 12">
            <a:extLst>
              <a:ext uri="{FF2B5EF4-FFF2-40B4-BE49-F238E27FC236}">
                <a16:creationId xmlns:a16="http://schemas.microsoft.com/office/drawing/2014/main" id="{B9A9BA6F-34D6-4FE7-A923-4B631B6C1C2A}"/>
              </a:ext>
            </a:extLst>
          </p:cNvPr>
          <p:cNvSpPr>
            <a:spLocks noGrp="1"/>
          </p:cNvSpPr>
          <p:nvPr/>
        </p:nvSpPr>
        <p:spPr>
          <a:xfrm>
            <a:off x="8362950" y="4286250"/>
            <a:ext cx="2857500" cy="266700"/>
          </a:xfrm>
          <a:prstGeom prst="rect">
            <a:avLst/>
          </a:prstGeom>
          <a:noFill/>
          <a:ln w="0">
            <a:noFill/>
            <a:prstDash val="solid"/>
          </a:ln>
        </p:spPr>
        <p:txBody>
          <a:bodyPr wrap="square" lIns="0" tIns="0" rIns="0" bIns="0" anchor="t">
            <a:noAutofit/>
          </a:bodyPr>
          <a:lstStyle/>
          <a:p>
            <a:pPr algn="l">
              <a:buNone/>
              <a:defRPr sz="1350" b="1">
                <a:solidFill>
                  <a:srgbClr val="C98500"/>
                </a:solidFill>
                <a:latin typeface="Arial"/>
                <a:ea typeface="Arial"/>
                <a:cs typeface="Arial"/>
              </a:defRPr>
            </a:pPr>
            <a:r>
              <a:rPr sz="1350" b="1">
                <a:solidFill>
                  <a:srgbClr val="C98500"/>
                </a:solidFill>
                <a:latin typeface="Arial"/>
                <a:ea typeface="Arial"/>
                <a:cs typeface="Arial"/>
              </a:rPr>
              <a:t>WHAT IT MISSES</a:t>
            </a:r>
          </a:p>
        </p:txBody>
      </p:sp>
      <p:sp>
        <p:nvSpPr>
          <p:cNvPr id="14" name="Rectangle 13">
            <a:extLst>
              <a:ext uri="{FF2B5EF4-FFF2-40B4-BE49-F238E27FC236}">
                <a16:creationId xmlns:a16="http://schemas.microsoft.com/office/drawing/2014/main" id="{04C94CA2-584C-4213-AA1E-53E242F9DA94}"/>
              </a:ext>
            </a:extLst>
          </p:cNvPr>
          <p:cNvSpPr>
            <a:spLocks noGrp="1"/>
          </p:cNvSpPr>
          <p:nvPr/>
        </p:nvSpPr>
        <p:spPr>
          <a:xfrm>
            <a:off x="8362950" y="4686300"/>
            <a:ext cx="2857500" cy="438150"/>
          </a:xfrm>
          <a:prstGeom prst="rect">
            <a:avLst/>
          </a:prstGeom>
          <a:noFill/>
          <a:ln w="0">
            <a:noFill/>
            <a:prstDash val="solid"/>
          </a:ln>
        </p:spPr>
        <p:txBody>
          <a:bodyPr wrap="square" lIns="0" tIns="0" rIns="0" bIns="0" anchor="t">
            <a:noAutofit/>
          </a:bodyPr>
          <a:lstStyle/>
          <a:p>
            <a:pPr algn="l">
              <a:buNone/>
              <a:defRPr sz="2550" b="1">
                <a:solidFill>
                  <a:srgbClr val="C98500"/>
                </a:solidFill>
                <a:latin typeface="Arial"/>
                <a:ea typeface="Arial"/>
                <a:cs typeface="Arial"/>
              </a:defRPr>
            </a:pPr>
            <a:r>
              <a:rPr sz="2550" b="1">
                <a:solidFill>
                  <a:srgbClr val="C98500"/>
                </a:solidFill>
                <a:latin typeface="Arial"/>
                <a:ea typeface="Arial"/>
                <a:cs typeface="Arial"/>
              </a:rPr>
              <a:t>Boundary logic</a:t>
            </a:r>
          </a:p>
        </p:txBody>
      </p:sp>
      <p:sp>
        <p:nvSpPr>
          <p:cNvPr id="15" name="Rectangle 14">
            <a:extLst>
              <a:ext uri="{FF2B5EF4-FFF2-40B4-BE49-F238E27FC236}">
                <a16:creationId xmlns:a16="http://schemas.microsoft.com/office/drawing/2014/main" id="{28098CFA-52F6-4ECC-B82C-AD2FE0965597}"/>
              </a:ext>
            </a:extLst>
          </p:cNvPr>
          <p:cNvSpPr>
            <a:spLocks noGrp="1"/>
          </p:cNvSpPr>
          <p:nvPr/>
        </p:nvSpPr>
        <p:spPr>
          <a:xfrm>
            <a:off x="8362950" y="5219700"/>
            <a:ext cx="2971800" cy="552450"/>
          </a:xfrm>
          <a:prstGeom prst="rect">
            <a:avLst/>
          </a:prstGeom>
          <a:noFill/>
          <a:ln w="0">
            <a:noFill/>
            <a:prstDash val="solid"/>
          </a:ln>
        </p:spPr>
        <p:txBody>
          <a:bodyPr wrap="square" lIns="0" tIns="0" rIns="0" bIns="0" anchor="t">
            <a:normAutofit/>
          </a:bodyPr>
          <a:lstStyle/>
          <a:p>
            <a:pPr algn="l">
              <a:buNone/>
              <a:defRPr sz="1425" b="1">
                <a:solidFill>
                  <a:srgbClr val="0A1020"/>
                </a:solidFill>
                <a:latin typeface="Arial"/>
                <a:ea typeface="Arial"/>
                <a:cs typeface="Arial"/>
              </a:defRPr>
            </a:pPr>
            <a:r>
              <a:rPr sz="1425" b="1">
                <a:solidFill>
                  <a:srgbClr val="0A1020"/>
                </a:solidFill>
                <a:latin typeface="Arial"/>
                <a:ea typeface="Arial"/>
                <a:cs typeface="Arial"/>
              </a:rPr>
              <a:t>Family 37.5% · type 11.1%</a:t>
            </a:r>
          </a:p>
          <a:p>
            <a:pPr algn="l">
              <a:buNone/>
              <a:defRPr sz="1425" b="1">
                <a:solidFill>
                  <a:srgbClr val="0A1020"/>
                </a:solidFill>
                <a:latin typeface="Arial"/>
                <a:ea typeface="Arial"/>
                <a:cs typeface="Arial"/>
              </a:defRPr>
            </a:pPr>
            <a:r>
              <a:rPr sz="1425" b="1">
                <a:solidFill>
                  <a:srgbClr val="0A1020"/>
                </a:solidFill>
                <a:latin typeface="Arial"/>
                <a:ea typeface="Arial"/>
                <a:cs typeface="Arial"/>
              </a:rPr>
              <a:t>Owner 0%</a:t>
            </a:r>
          </a:p>
        </p:txBody>
      </p:sp>
    </p:spTree>
    <p:extLst>
      <p:ext uri="{BB962C8B-B14F-4D97-AF65-F5344CB8AC3E}">
        <p14:creationId xmlns:p14="http://schemas.microsoft.com/office/powerpoint/2010/main" val="757488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kicker-18">
            <a:extLst>
              <a:ext uri="{FF2B5EF4-FFF2-40B4-BE49-F238E27FC236}">
                <a16:creationId xmlns:a16="http://schemas.microsoft.com/office/drawing/2014/main" id="{4617BF10-6C38-43CE-AEA6-EE015DA4ABC4}"/>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7357D9"/>
                </a:solidFill>
                <a:latin typeface="Arial"/>
                <a:ea typeface="Arial"/>
                <a:cs typeface="Arial"/>
              </a:defRPr>
            </a:pPr>
            <a:r>
              <a:rPr sz="1200" b="1">
                <a:solidFill>
                  <a:srgbClr val="7357D9"/>
                </a:solidFill>
                <a:latin typeface="Arial"/>
                <a:ea typeface="Arial"/>
                <a:cs typeface="Arial"/>
              </a:rPr>
              <a:t>QWEN2.5-1.5B EVIDENCE</a:t>
            </a:r>
          </a:p>
        </p:txBody>
      </p:sp>
      <p:sp>
        <p:nvSpPr>
          <p:cNvPr id="2" name="title-18">
            <a:extLst>
              <a:ext uri="{FF2B5EF4-FFF2-40B4-BE49-F238E27FC236}">
                <a16:creationId xmlns:a16="http://schemas.microsoft.com/office/drawing/2014/main" id="{4231D47C-5EB2-4080-9851-0C7AFBAD3201}"/>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Qwen-1.5B works better modularly</a:t>
            </a:r>
          </a:p>
        </p:txBody>
      </p:sp>
      <p:sp>
        <p:nvSpPr>
          <p:cNvPr id="3" name="Straight Connector 2">
            <a:extLst>
              <a:ext uri="{FF2B5EF4-FFF2-40B4-BE49-F238E27FC236}">
                <a16:creationId xmlns:a16="http://schemas.microsoft.com/office/drawing/2014/main" id="{641908B2-F748-4283-B181-5A3555FF3420}"/>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09A3C9CE-EAD6-49A9-9391-DF4883E45BA6}"/>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19</a:t>
            </a:r>
          </a:p>
        </p:txBody>
      </p:sp>
      <p:graphicFrame>
        <p:nvGraphicFramePr>
          <p:cNvPr id="24" name="Chart"/>
          <p:cNvGraphicFramePr/>
          <p:nvPr/>
        </p:nvGraphicFramePr>
        <p:xfrm>
          <a:off x="495300" y="1581150"/>
          <a:ext cx="7067550" cy="4476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EB17250A-7E51-4698-B97A-392139799563}"/>
              </a:ext>
            </a:extLst>
          </p:cNvPr>
          <p:cNvSpPr>
            <a:spLocks noGrp="1"/>
          </p:cNvSpPr>
          <p:nvPr/>
        </p:nvSpPr>
        <p:spPr>
          <a:xfrm>
            <a:off x="7962900" y="1581150"/>
            <a:ext cx="3733800" cy="2114550"/>
          </a:xfrm>
          <a:prstGeom prst="rect">
            <a:avLst/>
          </a:prstGeom>
          <a:solidFill>
            <a:srgbClr val="FCEBEC"/>
          </a:solidFill>
          <a:ln w="14288">
            <a:solidFill>
              <a:srgbClr val="D94747"/>
            </a:solidFill>
            <a:prstDash val="solid"/>
          </a:ln>
        </p:spPr>
      </p:sp>
      <p:sp>
        <p:nvSpPr>
          <p:cNvPr id="7" name="Rectangle 6">
            <a:extLst>
              <a:ext uri="{FF2B5EF4-FFF2-40B4-BE49-F238E27FC236}">
                <a16:creationId xmlns:a16="http://schemas.microsoft.com/office/drawing/2014/main" id="{8D3EB462-D3AB-4A07-80E1-072339CB8E25}"/>
              </a:ext>
            </a:extLst>
          </p:cNvPr>
          <p:cNvSpPr>
            <a:spLocks noGrp="1"/>
          </p:cNvSpPr>
          <p:nvPr/>
        </p:nvSpPr>
        <p:spPr>
          <a:xfrm>
            <a:off x="8229600" y="1809750"/>
            <a:ext cx="3105150" cy="266700"/>
          </a:xfrm>
          <a:prstGeom prst="rect">
            <a:avLst/>
          </a:prstGeom>
          <a:noFill/>
          <a:ln w="0">
            <a:noFill/>
            <a:prstDash val="solid"/>
          </a:ln>
        </p:spPr>
        <p:txBody>
          <a:bodyPr wrap="square" lIns="0" tIns="0" rIns="0" bIns="0" anchor="t">
            <a:noAutofit/>
          </a:bodyPr>
          <a:lstStyle/>
          <a:p>
            <a:pPr algn="l">
              <a:buNone/>
              <a:defRPr sz="1350" b="1">
                <a:solidFill>
                  <a:srgbClr val="D94747"/>
                </a:solidFill>
                <a:latin typeface="Arial"/>
                <a:ea typeface="Arial"/>
                <a:cs typeface="Arial"/>
              </a:defRPr>
            </a:pPr>
            <a:r>
              <a:rPr sz="1350" b="1">
                <a:solidFill>
                  <a:srgbClr val="D94747"/>
                </a:solidFill>
                <a:latin typeface="Arial"/>
                <a:ea typeface="Arial"/>
                <a:cs typeface="Arial"/>
              </a:rPr>
              <a:t>FULL LLM COLLAPSE</a:t>
            </a:r>
          </a:p>
        </p:txBody>
      </p:sp>
      <p:sp>
        <p:nvSpPr>
          <p:cNvPr id="8" name="Rectangle 7">
            <a:extLst>
              <a:ext uri="{FF2B5EF4-FFF2-40B4-BE49-F238E27FC236}">
                <a16:creationId xmlns:a16="http://schemas.microsoft.com/office/drawing/2014/main" id="{7B729D65-4636-41C1-9C22-ED99F5779D53}"/>
              </a:ext>
            </a:extLst>
          </p:cNvPr>
          <p:cNvSpPr>
            <a:spLocks noGrp="1"/>
          </p:cNvSpPr>
          <p:nvPr/>
        </p:nvSpPr>
        <p:spPr>
          <a:xfrm>
            <a:off x="8229600" y="2266950"/>
            <a:ext cx="3105150" cy="628650"/>
          </a:xfrm>
          <a:prstGeom prst="rect">
            <a:avLst/>
          </a:prstGeom>
          <a:noFill/>
          <a:ln w="0">
            <a:noFill/>
            <a:prstDash val="solid"/>
          </a:ln>
        </p:spPr>
        <p:txBody>
          <a:bodyPr wrap="square" lIns="0" tIns="0" rIns="0" bIns="0" anchor="t">
            <a:noAutofit/>
          </a:bodyPr>
          <a:lstStyle/>
          <a:p>
            <a:pPr algn="l">
              <a:buNone/>
              <a:defRPr sz="4200" b="1">
                <a:solidFill>
                  <a:srgbClr val="D94747"/>
                </a:solidFill>
                <a:latin typeface="Arial"/>
                <a:ea typeface="Arial"/>
                <a:cs typeface="Arial"/>
              </a:defRPr>
            </a:pPr>
            <a:r>
              <a:rPr sz="4200" b="1">
                <a:solidFill>
                  <a:srgbClr val="D94747"/>
                </a:solidFill>
                <a:latin typeface="Arial"/>
                <a:ea typeface="Arial"/>
                <a:cs typeface="Arial"/>
              </a:rPr>
              <a:t>72 / 72</a:t>
            </a:r>
          </a:p>
        </p:txBody>
      </p:sp>
      <p:sp>
        <p:nvSpPr>
          <p:cNvPr id="9" name="Rectangle 8">
            <a:extLst>
              <a:ext uri="{FF2B5EF4-FFF2-40B4-BE49-F238E27FC236}">
                <a16:creationId xmlns:a16="http://schemas.microsoft.com/office/drawing/2014/main" id="{D9A5860D-6FCC-4C4E-A84A-91CEB9CA56E9}"/>
              </a:ext>
            </a:extLst>
          </p:cNvPr>
          <p:cNvSpPr>
            <a:spLocks noGrp="1"/>
          </p:cNvSpPr>
          <p:nvPr/>
        </p:nvSpPr>
        <p:spPr>
          <a:xfrm>
            <a:off x="8229600" y="2952750"/>
            <a:ext cx="3105150" cy="323850"/>
          </a:xfrm>
          <a:prstGeom prst="rect">
            <a:avLst/>
          </a:prstGeom>
          <a:noFill/>
          <a:ln w="0">
            <a:noFill/>
            <a:prstDash val="solid"/>
          </a:ln>
        </p:spPr>
        <p:txBody>
          <a:bodyPr wrap="square" lIns="0" tIns="0" rIns="0" bIns="0" anchor="t">
            <a:normAutofit/>
          </a:bodyPr>
          <a:lstStyle/>
          <a:p>
            <a:pPr algn="l">
              <a:buNone/>
              <a:defRPr sz="1875" b="1">
                <a:solidFill>
                  <a:srgbClr val="0A1020"/>
                </a:solidFill>
                <a:latin typeface="Arial"/>
                <a:ea typeface="Arial"/>
                <a:cs typeface="Arial"/>
              </a:defRPr>
            </a:pPr>
            <a:r>
              <a:rPr sz="1875" b="1">
                <a:solidFill>
                  <a:srgbClr val="0A1020"/>
                </a:solidFill>
                <a:latin typeface="Arial"/>
                <a:ea typeface="Arial"/>
                <a:cs typeface="Arial"/>
              </a:rPr>
              <a:t>predicted IGNORE</a:t>
            </a:r>
          </a:p>
        </p:txBody>
      </p:sp>
      <p:sp>
        <p:nvSpPr>
          <p:cNvPr id="10" name="Rectangle 9">
            <a:extLst>
              <a:ext uri="{FF2B5EF4-FFF2-40B4-BE49-F238E27FC236}">
                <a16:creationId xmlns:a16="http://schemas.microsoft.com/office/drawing/2014/main" id="{4536DB0B-CE6C-47F8-979B-A19C976C5ACF}"/>
              </a:ext>
            </a:extLst>
          </p:cNvPr>
          <p:cNvSpPr>
            <a:spLocks noGrp="1"/>
          </p:cNvSpPr>
          <p:nvPr/>
        </p:nvSpPr>
        <p:spPr>
          <a:xfrm>
            <a:off x="8229600" y="3352800"/>
            <a:ext cx="3105150" cy="266700"/>
          </a:xfrm>
          <a:prstGeom prst="rect">
            <a:avLst/>
          </a:prstGeom>
          <a:noFill/>
          <a:ln w="0">
            <a:noFill/>
            <a:prstDash val="solid"/>
          </a:ln>
        </p:spPr>
        <p:txBody>
          <a:bodyPr wrap="square" lIns="0" tIns="0" rIns="0" bIns="0" anchor="t">
            <a:normAutofit/>
          </a:bodyPr>
          <a:lstStyle/>
          <a:p>
            <a:pPr algn="l">
              <a:buNone/>
              <a:defRPr sz="1425" b="0">
                <a:solidFill>
                  <a:srgbClr val="5D6677"/>
                </a:solidFill>
                <a:latin typeface="Arial"/>
                <a:ea typeface="Arial"/>
                <a:cs typeface="Arial"/>
              </a:defRPr>
            </a:pPr>
            <a:r>
              <a:rPr sz="1425" b="0">
                <a:solidFill>
                  <a:srgbClr val="5D6677"/>
                </a:solidFill>
                <a:latin typeface="Arial"/>
                <a:ea typeface="Arial"/>
                <a:cs typeface="Arial"/>
              </a:rPr>
              <a:t>Accuracy falls to chance (33.3%).</a:t>
            </a:r>
          </a:p>
        </p:txBody>
      </p:sp>
      <p:sp>
        <p:nvSpPr>
          <p:cNvPr id="11" name="Rectangle 10">
            <a:extLst>
              <a:ext uri="{FF2B5EF4-FFF2-40B4-BE49-F238E27FC236}">
                <a16:creationId xmlns:a16="http://schemas.microsoft.com/office/drawing/2014/main" id="{24AF517D-9F24-454F-8AE5-D7B0260A96F9}"/>
              </a:ext>
            </a:extLst>
          </p:cNvPr>
          <p:cNvSpPr>
            <a:spLocks noGrp="1"/>
          </p:cNvSpPr>
          <p:nvPr/>
        </p:nvSpPr>
        <p:spPr>
          <a:xfrm>
            <a:off x="7962900" y="3943350"/>
            <a:ext cx="3733800" cy="2114550"/>
          </a:xfrm>
          <a:prstGeom prst="rect">
            <a:avLst/>
          </a:prstGeom>
          <a:solidFill>
            <a:srgbClr val="F0ECFF"/>
          </a:solidFill>
          <a:ln w="14288">
            <a:solidFill>
              <a:srgbClr val="7357D9"/>
            </a:solidFill>
            <a:prstDash val="solid"/>
          </a:ln>
        </p:spPr>
      </p:sp>
      <p:sp>
        <p:nvSpPr>
          <p:cNvPr id="12" name="Rectangle 11">
            <a:extLst>
              <a:ext uri="{FF2B5EF4-FFF2-40B4-BE49-F238E27FC236}">
                <a16:creationId xmlns:a16="http://schemas.microsoft.com/office/drawing/2014/main" id="{E21D4B0E-DBC6-46C2-9478-ADAA6BD6FB07}"/>
              </a:ext>
            </a:extLst>
          </p:cNvPr>
          <p:cNvSpPr>
            <a:spLocks noGrp="1"/>
          </p:cNvSpPr>
          <p:nvPr/>
        </p:nvSpPr>
        <p:spPr>
          <a:xfrm>
            <a:off x="8229600" y="4171950"/>
            <a:ext cx="3105150" cy="266700"/>
          </a:xfrm>
          <a:prstGeom prst="rect">
            <a:avLst/>
          </a:prstGeom>
          <a:noFill/>
          <a:ln w="0">
            <a:noFill/>
            <a:prstDash val="solid"/>
          </a:ln>
        </p:spPr>
        <p:txBody>
          <a:bodyPr wrap="square" lIns="0" tIns="0" rIns="0" bIns="0" anchor="t">
            <a:noAutofit/>
          </a:bodyPr>
          <a:lstStyle/>
          <a:p>
            <a:pPr algn="l">
              <a:buNone/>
              <a:defRPr sz="1350" b="1">
                <a:solidFill>
                  <a:srgbClr val="7357D9"/>
                </a:solidFill>
                <a:latin typeface="Arial"/>
                <a:ea typeface="Arial"/>
                <a:cs typeface="Arial"/>
              </a:defRPr>
            </a:pPr>
            <a:r>
              <a:rPr sz="1350" b="1">
                <a:solidFill>
                  <a:srgbClr val="7357D9"/>
                </a:solidFill>
                <a:latin typeface="Arial"/>
                <a:ea typeface="Arial"/>
                <a:cs typeface="Arial"/>
              </a:rPr>
              <a:t>MODULAR RECOVERY</a:t>
            </a:r>
          </a:p>
        </p:txBody>
      </p:sp>
      <p:sp>
        <p:nvSpPr>
          <p:cNvPr id="13" name="Rectangle 12">
            <a:extLst>
              <a:ext uri="{FF2B5EF4-FFF2-40B4-BE49-F238E27FC236}">
                <a16:creationId xmlns:a16="http://schemas.microsoft.com/office/drawing/2014/main" id="{19142524-20EC-47F3-96B0-E1AE0B40C55E}"/>
              </a:ext>
            </a:extLst>
          </p:cNvPr>
          <p:cNvSpPr>
            <a:spLocks noGrp="1"/>
          </p:cNvSpPr>
          <p:nvPr/>
        </p:nvSpPr>
        <p:spPr>
          <a:xfrm>
            <a:off x="8229600" y="4591050"/>
            <a:ext cx="1143000" cy="285750"/>
          </a:xfrm>
          <a:prstGeom prst="rect">
            <a:avLst/>
          </a:prstGeom>
          <a:noFill/>
          <a:ln w="0">
            <a:noFill/>
            <a:prstDash val="solid"/>
          </a:ln>
        </p:spPr>
        <p:txBody>
          <a:bodyPr wrap="square" lIns="0" tIns="0" rIns="0" bIns="0" anchor="t">
            <a:noAutofit/>
          </a:bodyPr>
          <a:lstStyle/>
          <a:p>
            <a:pPr algn="l">
              <a:buNone/>
              <a:defRPr sz="1650" b="1">
                <a:solidFill>
                  <a:srgbClr val="159A7D"/>
                </a:solidFill>
                <a:latin typeface="Arial"/>
                <a:ea typeface="Arial"/>
                <a:cs typeface="Arial"/>
              </a:defRPr>
            </a:pPr>
            <a:r>
              <a:rPr sz="1650" b="1">
                <a:solidFill>
                  <a:srgbClr val="159A7D"/>
                </a:solidFill>
                <a:latin typeface="Arial"/>
                <a:ea typeface="Arial"/>
                <a:cs typeface="Arial"/>
              </a:rPr>
              <a:t>Strong</a:t>
            </a:r>
          </a:p>
        </p:txBody>
      </p:sp>
      <p:sp>
        <p:nvSpPr>
          <p:cNvPr id="14" name="Rectangle 13">
            <a:extLst>
              <a:ext uri="{FF2B5EF4-FFF2-40B4-BE49-F238E27FC236}">
                <a16:creationId xmlns:a16="http://schemas.microsoft.com/office/drawing/2014/main" id="{4079837A-5805-49FE-8DA0-7FA9F8445484}"/>
              </a:ext>
            </a:extLst>
          </p:cNvPr>
          <p:cNvSpPr>
            <a:spLocks noGrp="1"/>
          </p:cNvSpPr>
          <p:nvPr/>
        </p:nvSpPr>
        <p:spPr>
          <a:xfrm>
            <a:off x="9277350" y="4610100"/>
            <a:ext cx="2038350" cy="266700"/>
          </a:xfrm>
          <a:prstGeom prst="rect">
            <a:avLst/>
          </a:prstGeom>
          <a:noFill/>
          <a:ln w="0">
            <a:noFill/>
            <a:prstDash val="solid"/>
          </a:ln>
        </p:spPr>
        <p:txBody>
          <a:bodyPr wrap="square" lIns="0" tIns="0" rIns="0" bIns="0" anchor="t">
            <a:noAutofit/>
          </a:bodyPr>
          <a:lstStyle/>
          <a:p>
            <a:pPr algn="l">
              <a:buNone/>
              <a:defRPr sz="1350" b="1">
                <a:solidFill>
                  <a:srgbClr val="0A1020"/>
                </a:solidFill>
                <a:latin typeface="Arial"/>
                <a:ea typeface="Arial"/>
                <a:cs typeface="Arial"/>
              </a:defRPr>
            </a:pPr>
            <a:r>
              <a:rPr sz="1350" b="1">
                <a:solidFill>
                  <a:srgbClr val="0A1020"/>
                </a:solidFill>
                <a:latin typeface="Arial"/>
                <a:ea typeface="Arial"/>
                <a:cs typeface="Arial"/>
              </a:rPr>
              <a:t>70.8% accuracy</a:t>
            </a:r>
          </a:p>
        </p:txBody>
      </p:sp>
      <p:sp>
        <p:nvSpPr>
          <p:cNvPr id="15" name="Rectangle 14">
            <a:extLst>
              <a:ext uri="{FF2B5EF4-FFF2-40B4-BE49-F238E27FC236}">
                <a16:creationId xmlns:a16="http://schemas.microsoft.com/office/drawing/2014/main" id="{03E78439-A07D-42D4-8115-0474BB01781A}"/>
              </a:ext>
            </a:extLst>
          </p:cNvPr>
          <p:cNvSpPr>
            <a:spLocks noGrp="1"/>
          </p:cNvSpPr>
          <p:nvPr/>
        </p:nvSpPr>
        <p:spPr>
          <a:xfrm>
            <a:off x="8229600" y="5029200"/>
            <a:ext cx="1143000" cy="285750"/>
          </a:xfrm>
          <a:prstGeom prst="rect">
            <a:avLst/>
          </a:prstGeom>
          <a:noFill/>
          <a:ln w="0">
            <a:noFill/>
            <a:prstDash val="solid"/>
          </a:ln>
        </p:spPr>
        <p:txBody>
          <a:bodyPr wrap="square" lIns="0" tIns="0" rIns="0" bIns="0" anchor="t">
            <a:noAutofit/>
          </a:bodyPr>
          <a:lstStyle/>
          <a:p>
            <a:pPr algn="l">
              <a:buNone/>
              <a:defRPr sz="1650" b="1">
                <a:solidFill>
                  <a:srgbClr val="D94747"/>
                </a:solidFill>
                <a:latin typeface="Arial"/>
                <a:ea typeface="Arial"/>
                <a:cs typeface="Arial"/>
              </a:defRPr>
            </a:pPr>
            <a:r>
              <a:rPr sz="1650" b="1">
                <a:solidFill>
                  <a:srgbClr val="D94747"/>
                </a:solidFill>
                <a:latin typeface="Arial"/>
                <a:ea typeface="Arial"/>
                <a:cs typeface="Arial"/>
              </a:rPr>
              <a:t>Weak</a:t>
            </a:r>
          </a:p>
        </p:txBody>
      </p:sp>
      <p:sp>
        <p:nvSpPr>
          <p:cNvPr id="16" name="Rectangle 15">
            <a:extLst>
              <a:ext uri="{FF2B5EF4-FFF2-40B4-BE49-F238E27FC236}">
                <a16:creationId xmlns:a16="http://schemas.microsoft.com/office/drawing/2014/main" id="{A2F63732-489F-4830-8154-CFDF4DBD425C}"/>
              </a:ext>
            </a:extLst>
          </p:cNvPr>
          <p:cNvSpPr>
            <a:spLocks noGrp="1"/>
          </p:cNvSpPr>
          <p:nvPr/>
        </p:nvSpPr>
        <p:spPr>
          <a:xfrm>
            <a:off x="9277350" y="5057572"/>
            <a:ext cx="2266950" cy="495300"/>
          </a:xfrm>
          <a:prstGeom prst="rect">
            <a:avLst/>
          </a:prstGeom>
          <a:noFill/>
          <a:ln w="0">
            <a:noFill/>
            <a:prstDash val="solid"/>
          </a:ln>
        </p:spPr>
        <p:txBody>
          <a:bodyPr wrap="square" lIns="0" tIns="0" rIns="0" bIns="0" anchor="t">
            <a:normAutofit/>
          </a:bodyPr>
          <a:lstStyle/>
          <a:p>
            <a:pPr algn="l">
              <a:buNone/>
              <a:defRPr sz="1313" b="1">
                <a:solidFill>
                  <a:srgbClr val="0A1020"/>
                </a:solidFill>
                <a:latin typeface="Arial"/>
                <a:ea typeface="Arial"/>
                <a:cs typeface="Arial"/>
              </a:defRPr>
            </a:pPr>
            <a:r>
              <a:rPr sz="1313" b="1">
                <a:solidFill>
                  <a:srgbClr val="0A1020"/>
                </a:solidFill>
                <a:latin typeface="Arial"/>
                <a:ea typeface="Arial"/>
                <a:cs typeface="Arial"/>
              </a:rPr>
              <a:t>Full LLM: 33.3%</a:t>
            </a:r>
          </a:p>
          <a:p>
            <a:pPr algn="l">
              <a:buNone/>
              <a:defRPr sz="1313" b="1">
                <a:solidFill>
                  <a:srgbClr val="0A1020"/>
                </a:solidFill>
                <a:latin typeface="Arial"/>
                <a:ea typeface="Arial"/>
                <a:cs typeface="Arial"/>
              </a:defRPr>
            </a:pPr>
            <a:r>
              <a:rPr sz="1313" b="1">
                <a:solidFill>
                  <a:srgbClr val="0A1020"/>
                </a:solidFill>
                <a:latin typeface="Arial"/>
                <a:ea typeface="Arial"/>
                <a:cs typeface="Arial"/>
              </a:rPr>
              <a:t>72 / 72 IGNORE</a:t>
            </a:r>
          </a:p>
        </p:txBody>
      </p:sp>
      <p:sp>
        <p:nvSpPr>
          <p:cNvPr id="17" name="Rectangle 16">
            <a:extLst>
              <a:ext uri="{FF2B5EF4-FFF2-40B4-BE49-F238E27FC236}">
                <a16:creationId xmlns:a16="http://schemas.microsoft.com/office/drawing/2014/main" id="{5A860B68-C84B-47A8-8E76-1B82EE0DBBB4}"/>
              </a:ext>
            </a:extLst>
          </p:cNvPr>
          <p:cNvSpPr>
            <a:spLocks noGrp="1"/>
          </p:cNvSpPr>
          <p:nvPr/>
        </p:nvSpPr>
        <p:spPr>
          <a:xfrm>
            <a:off x="8229600" y="5638800"/>
            <a:ext cx="3105150" cy="323850"/>
          </a:xfrm>
          <a:prstGeom prst="rect">
            <a:avLst/>
          </a:prstGeom>
          <a:noFill/>
          <a:ln w="0">
            <a:noFill/>
            <a:prstDash val="solid"/>
          </a:ln>
        </p:spPr>
        <p:txBody>
          <a:bodyPr wrap="square" lIns="0" tIns="0" rIns="0" bIns="0" anchor="t">
            <a:normAutofit/>
          </a:bodyPr>
          <a:lstStyle/>
          <a:p>
            <a:pPr algn="l">
              <a:buNone/>
              <a:defRPr sz="1425" b="1">
                <a:solidFill>
                  <a:srgbClr val="7357D9"/>
                </a:solidFill>
                <a:latin typeface="Arial"/>
                <a:ea typeface="Arial"/>
                <a:cs typeface="Arial"/>
              </a:defRPr>
            </a:pPr>
            <a:r>
              <a:rPr sz="1425" b="1">
                <a:solidFill>
                  <a:srgbClr val="7357D9"/>
                </a:solidFill>
                <a:latin typeface="Arial"/>
                <a:ea typeface="Arial"/>
                <a:cs typeface="Arial"/>
              </a:rPr>
              <a:t>Rule memory prevents collapse.</a:t>
            </a:r>
          </a:p>
        </p:txBody>
      </p:sp>
    </p:spTree>
    <p:extLst>
      <p:ext uri="{BB962C8B-B14F-4D97-AF65-F5344CB8AC3E}">
        <p14:creationId xmlns:p14="http://schemas.microsoft.com/office/powerpoint/2010/main" val="1929274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kicker-19">
            <a:extLst>
              <a:ext uri="{FF2B5EF4-FFF2-40B4-BE49-F238E27FC236}">
                <a16:creationId xmlns:a16="http://schemas.microsoft.com/office/drawing/2014/main" id="{7A240D44-1D46-48EA-A83C-4E65ABD8E111}"/>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QWEN SCALE PROBE</a:t>
            </a:r>
          </a:p>
        </p:txBody>
      </p:sp>
      <p:sp>
        <p:nvSpPr>
          <p:cNvPr id="2" name="title-19">
            <a:extLst>
              <a:ext uri="{FF2B5EF4-FFF2-40B4-BE49-F238E27FC236}">
                <a16:creationId xmlns:a16="http://schemas.microsoft.com/office/drawing/2014/main" id="{0637A038-5714-4F7D-9E7C-E57809054C0D}"/>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Scaling helps—but 3B remains unreliable</a:t>
            </a:r>
          </a:p>
        </p:txBody>
      </p:sp>
      <p:sp>
        <p:nvSpPr>
          <p:cNvPr id="3" name="Straight Connector 2">
            <a:extLst>
              <a:ext uri="{FF2B5EF4-FFF2-40B4-BE49-F238E27FC236}">
                <a16:creationId xmlns:a16="http://schemas.microsoft.com/office/drawing/2014/main" id="{F4C9F49B-8C72-4D0E-B3B0-145EBBB21C20}"/>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7528A47E-0F27-4281-8C4A-D4E763A3B698}"/>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20</a:t>
            </a:r>
          </a:p>
        </p:txBody>
      </p:sp>
      <p:graphicFrame>
        <p:nvGraphicFramePr>
          <p:cNvPr id="22" name="Chart"/>
          <p:cNvGraphicFramePr/>
          <p:nvPr/>
        </p:nvGraphicFramePr>
        <p:xfrm>
          <a:off x="495300" y="1600200"/>
          <a:ext cx="7239000" cy="43624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2B28DE09-ECBB-4D59-BB0A-DD7F22F4B7EA}"/>
              </a:ext>
            </a:extLst>
          </p:cNvPr>
          <p:cNvSpPr>
            <a:spLocks noGrp="1"/>
          </p:cNvSpPr>
          <p:nvPr/>
        </p:nvSpPr>
        <p:spPr>
          <a:xfrm>
            <a:off x="1207040" y="5962650"/>
            <a:ext cx="6191250" cy="247650"/>
          </a:xfrm>
          <a:prstGeom prst="rect">
            <a:avLst/>
          </a:prstGeom>
          <a:noFill/>
          <a:ln w="0">
            <a:noFill/>
            <a:prstDash val="solid"/>
          </a:ln>
        </p:spPr>
        <p:txBody>
          <a:bodyPr wrap="square" lIns="0" tIns="0" rIns="0" bIns="0" anchor="t">
            <a:noAutofit/>
          </a:bodyPr>
          <a:lstStyle/>
          <a:p>
            <a:pPr algn="ctr">
              <a:buNone/>
              <a:defRPr sz="1275" b="1">
                <a:solidFill>
                  <a:srgbClr val="8C95A5"/>
                </a:solidFill>
                <a:latin typeface="Arial"/>
                <a:ea typeface="Arial"/>
                <a:cs typeface="Arial"/>
              </a:defRPr>
            </a:pPr>
            <a:r>
              <a:rPr sz="1275" b="1">
                <a:solidFill>
                  <a:srgbClr val="8C95A5"/>
                </a:solidFill>
                <a:latin typeface="Arial"/>
                <a:ea typeface="Arial"/>
                <a:cs typeface="Arial"/>
              </a:rPr>
              <a:t>Shared mode only: GOLD MEMORY + LLM DECISION</a:t>
            </a:r>
          </a:p>
        </p:txBody>
      </p:sp>
      <p:sp>
        <p:nvSpPr>
          <p:cNvPr id="7" name="Rectangle 6">
            <a:extLst>
              <a:ext uri="{FF2B5EF4-FFF2-40B4-BE49-F238E27FC236}">
                <a16:creationId xmlns:a16="http://schemas.microsoft.com/office/drawing/2014/main" id="{E43C97B8-FA5F-440F-96D6-2088848293F8}"/>
              </a:ext>
            </a:extLst>
          </p:cNvPr>
          <p:cNvSpPr>
            <a:spLocks noGrp="1"/>
          </p:cNvSpPr>
          <p:nvPr/>
        </p:nvSpPr>
        <p:spPr>
          <a:xfrm>
            <a:off x="8096250" y="1600200"/>
            <a:ext cx="3600450" cy="2266950"/>
          </a:xfrm>
          <a:prstGeom prst="rect">
            <a:avLst/>
          </a:prstGeom>
          <a:solidFill>
            <a:srgbClr val="E6F6F2"/>
          </a:solidFill>
          <a:ln w="14288">
            <a:solidFill>
              <a:srgbClr val="159A7D"/>
            </a:solidFill>
            <a:prstDash val="solid"/>
          </a:ln>
        </p:spPr>
      </p:sp>
      <p:sp>
        <p:nvSpPr>
          <p:cNvPr id="8" name="Rectangle 7">
            <a:extLst>
              <a:ext uri="{FF2B5EF4-FFF2-40B4-BE49-F238E27FC236}">
                <a16:creationId xmlns:a16="http://schemas.microsoft.com/office/drawing/2014/main" id="{41781950-F7E8-4413-B58D-875531BB6EDB}"/>
              </a:ext>
            </a:extLst>
          </p:cNvPr>
          <p:cNvSpPr>
            <a:spLocks noGrp="1"/>
          </p:cNvSpPr>
          <p:nvPr/>
        </p:nvSpPr>
        <p:spPr>
          <a:xfrm>
            <a:off x="8362950" y="1828800"/>
            <a:ext cx="2857500" cy="266700"/>
          </a:xfrm>
          <a:prstGeom prst="rect">
            <a:avLst/>
          </a:prstGeom>
          <a:noFill/>
          <a:ln w="0">
            <a:noFill/>
            <a:prstDash val="solid"/>
          </a:ln>
        </p:spPr>
        <p:txBody>
          <a:bodyPr wrap="square" lIns="0" tIns="0" rIns="0" bIns="0" anchor="t">
            <a:noAutofit/>
          </a:bodyPr>
          <a:lstStyle/>
          <a:p>
            <a:pPr algn="l">
              <a:buNone/>
              <a:defRPr sz="1350" b="1">
                <a:solidFill>
                  <a:srgbClr val="159A7D"/>
                </a:solidFill>
                <a:latin typeface="Arial"/>
                <a:ea typeface="Arial"/>
                <a:cs typeface="Arial"/>
              </a:defRPr>
            </a:pPr>
            <a:r>
              <a:rPr sz="1350" b="1">
                <a:solidFill>
                  <a:srgbClr val="159A7D"/>
                </a:solidFill>
                <a:latin typeface="Arial"/>
                <a:ea typeface="Arial"/>
                <a:cs typeface="Arial"/>
              </a:rPr>
              <a:t>WHAT SCALE IMPROVES</a:t>
            </a:r>
          </a:p>
        </p:txBody>
      </p:sp>
      <p:sp>
        <p:nvSpPr>
          <p:cNvPr id="9" name="Rectangle 8">
            <a:extLst>
              <a:ext uri="{FF2B5EF4-FFF2-40B4-BE49-F238E27FC236}">
                <a16:creationId xmlns:a16="http://schemas.microsoft.com/office/drawing/2014/main" id="{504974A4-4146-4ED7-8B66-7F69A89D2943}"/>
              </a:ext>
            </a:extLst>
          </p:cNvPr>
          <p:cNvSpPr>
            <a:spLocks noGrp="1"/>
          </p:cNvSpPr>
          <p:nvPr/>
        </p:nvSpPr>
        <p:spPr>
          <a:xfrm>
            <a:off x="8362950" y="2228850"/>
            <a:ext cx="2857500" cy="552450"/>
          </a:xfrm>
          <a:prstGeom prst="rect">
            <a:avLst/>
          </a:prstGeom>
          <a:noFill/>
          <a:ln w="0">
            <a:noFill/>
            <a:prstDash val="solid"/>
          </a:ln>
        </p:spPr>
        <p:txBody>
          <a:bodyPr wrap="square" lIns="0" tIns="0" rIns="0" bIns="0" anchor="t">
            <a:noAutofit/>
          </a:bodyPr>
          <a:lstStyle/>
          <a:p>
            <a:pPr algn="l">
              <a:buNone/>
              <a:defRPr sz="3600" b="1">
                <a:solidFill>
                  <a:srgbClr val="159A7D"/>
                </a:solidFill>
                <a:latin typeface="Arial"/>
                <a:ea typeface="Arial"/>
                <a:cs typeface="Arial"/>
              </a:defRPr>
            </a:pPr>
            <a:r>
              <a:rPr sz="3600" b="1">
                <a:solidFill>
                  <a:srgbClr val="159A7D"/>
                </a:solidFill>
                <a:latin typeface="Arial"/>
                <a:ea typeface="Arial"/>
                <a:cs typeface="Arial"/>
              </a:rPr>
              <a:t>+12.5 pp</a:t>
            </a:r>
          </a:p>
        </p:txBody>
      </p:sp>
      <p:sp>
        <p:nvSpPr>
          <p:cNvPr id="10" name="Rectangle 9">
            <a:extLst>
              <a:ext uri="{FF2B5EF4-FFF2-40B4-BE49-F238E27FC236}">
                <a16:creationId xmlns:a16="http://schemas.microsoft.com/office/drawing/2014/main" id="{FDD32317-7D31-47E3-B58B-FA7DD3DEE921}"/>
              </a:ext>
            </a:extLst>
          </p:cNvPr>
          <p:cNvSpPr>
            <a:spLocks noGrp="1"/>
          </p:cNvSpPr>
          <p:nvPr/>
        </p:nvSpPr>
        <p:spPr>
          <a:xfrm>
            <a:off x="8362950" y="2819400"/>
            <a:ext cx="2857500" cy="266700"/>
          </a:xfrm>
          <a:prstGeom prst="rect">
            <a:avLst/>
          </a:prstGeom>
          <a:noFill/>
          <a:ln w="0">
            <a:noFill/>
            <a:prstDash val="solid"/>
          </a:ln>
        </p:spPr>
        <p:txBody>
          <a:bodyPr wrap="square" lIns="0" tIns="0" rIns="0" bIns="0" anchor="t">
            <a:normAutofit/>
          </a:bodyPr>
          <a:lstStyle/>
          <a:p>
            <a:pPr algn="l">
              <a:buNone/>
              <a:defRPr sz="1650" b="1">
                <a:solidFill>
                  <a:srgbClr val="0A1020"/>
                </a:solidFill>
                <a:latin typeface="Arial"/>
                <a:ea typeface="Arial"/>
                <a:cs typeface="Arial"/>
              </a:defRPr>
            </a:pPr>
            <a:r>
              <a:rPr sz="1650" b="1">
                <a:solidFill>
                  <a:srgbClr val="0A1020"/>
                </a:solidFill>
                <a:latin typeface="Arial"/>
                <a:ea typeface="Arial"/>
                <a:cs typeface="Arial"/>
              </a:rPr>
              <a:t>overall accuracy</a:t>
            </a:r>
          </a:p>
        </p:txBody>
      </p:sp>
      <p:sp>
        <p:nvSpPr>
          <p:cNvPr id="11" name="Rectangle 10">
            <a:extLst>
              <a:ext uri="{FF2B5EF4-FFF2-40B4-BE49-F238E27FC236}">
                <a16:creationId xmlns:a16="http://schemas.microsoft.com/office/drawing/2014/main" id="{6902A4ED-5F80-46BB-AF3D-2DC1D36BDE53}"/>
              </a:ext>
            </a:extLst>
          </p:cNvPr>
          <p:cNvSpPr>
            <a:spLocks noGrp="1"/>
          </p:cNvSpPr>
          <p:nvPr/>
        </p:nvSpPr>
        <p:spPr>
          <a:xfrm>
            <a:off x="8362950" y="3162300"/>
            <a:ext cx="2971800" cy="762000"/>
          </a:xfrm>
          <a:prstGeom prst="rect">
            <a:avLst/>
          </a:prstGeom>
          <a:noFill/>
          <a:ln w="0">
            <a:noFill/>
            <a:prstDash val="solid"/>
          </a:ln>
        </p:spPr>
        <p:txBody>
          <a:bodyPr wrap="square" lIns="0" tIns="0" rIns="0" bIns="0" anchor="t">
            <a:normAutofit/>
          </a:bodyPr>
          <a:lstStyle/>
          <a:p>
            <a:pPr algn="l">
              <a:buNone/>
              <a:defRPr sz="1425" b="0">
                <a:solidFill>
                  <a:srgbClr val="0A1020"/>
                </a:solidFill>
                <a:latin typeface="Arial"/>
                <a:ea typeface="Arial"/>
                <a:cs typeface="Arial"/>
              </a:defRPr>
            </a:pPr>
            <a:r>
              <a:rPr sz="1425" b="0">
                <a:solidFill>
                  <a:srgbClr val="0A1020"/>
                </a:solidFill>
                <a:latin typeface="Arial"/>
                <a:ea typeface="Arial"/>
                <a:cs typeface="Arial"/>
              </a:rPr>
              <a:t>Outside: 29.2 → 79.2%</a:t>
            </a:r>
          </a:p>
          <a:p>
            <a:pPr algn="l">
              <a:buNone/>
              <a:defRPr sz="1425" b="0">
                <a:solidFill>
                  <a:srgbClr val="0A1020"/>
                </a:solidFill>
                <a:latin typeface="Arial"/>
                <a:ea typeface="Arial"/>
                <a:cs typeface="Arial"/>
              </a:defRPr>
            </a:pPr>
            <a:r>
              <a:rPr sz="1425" b="0">
                <a:solidFill>
                  <a:srgbClr val="0A1020"/>
                </a:solidFill>
                <a:latin typeface="Arial"/>
                <a:ea typeface="Arial"/>
                <a:cs typeface="Arial"/>
              </a:rPr>
              <a:t>Near: 58.3 → 100%</a:t>
            </a:r>
          </a:p>
          <a:p>
            <a:pPr algn="l">
              <a:buNone/>
              <a:defRPr sz="1425" b="0">
                <a:solidFill>
                  <a:srgbClr val="0A1020"/>
                </a:solidFill>
                <a:latin typeface="Arial"/>
                <a:ea typeface="Arial"/>
                <a:cs typeface="Arial"/>
              </a:defRPr>
            </a:pPr>
            <a:r>
              <a:rPr sz="1425" b="0">
                <a:solidFill>
                  <a:srgbClr val="0A1020"/>
                </a:solidFill>
                <a:latin typeface="Arial"/>
                <a:ea typeface="Arial"/>
                <a:cs typeface="Arial"/>
              </a:rPr>
              <a:t>Overgeneralization: 58.3 → 4.2%</a:t>
            </a:r>
          </a:p>
        </p:txBody>
      </p:sp>
      <p:sp>
        <p:nvSpPr>
          <p:cNvPr id="12" name="Rectangle 11">
            <a:extLst>
              <a:ext uri="{FF2B5EF4-FFF2-40B4-BE49-F238E27FC236}">
                <a16:creationId xmlns:a16="http://schemas.microsoft.com/office/drawing/2014/main" id="{DEAB2434-2086-4A89-BE3F-920CE3268D27}"/>
              </a:ext>
            </a:extLst>
          </p:cNvPr>
          <p:cNvSpPr>
            <a:spLocks noGrp="1"/>
          </p:cNvSpPr>
          <p:nvPr/>
        </p:nvSpPr>
        <p:spPr>
          <a:xfrm>
            <a:off x="8096250" y="4076700"/>
            <a:ext cx="3600450" cy="1885950"/>
          </a:xfrm>
          <a:prstGeom prst="rect">
            <a:avLst/>
          </a:prstGeom>
          <a:solidFill>
            <a:srgbClr val="FFF2CF"/>
          </a:solidFill>
          <a:ln w="14288">
            <a:solidFill>
              <a:srgbClr val="C98500"/>
            </a:solidFill>
            <a:prstDash val="solid"/>
          </a:ln>
        </p:spPr>
      </p:sp>
      <p:sp>
        <p:nvSpPr>
          <p:cNvPr id="13" name="Rectangle 12">
            <a:extLst>
              <a:ext uri="{FF2B5EF4-FFF2-40B4-BE49-F238E27FC236}">
                <a16:creationId xmlns:a16="http://schemas.microsoft.com/office/drawing/2014/main" id="{B9A9BA6F-34D6-4FE7-A923-4B631B6C1C2A}"/>
              </a:ext>
            </a:extLst>
          </p:cNvPr>
          <p:cNvSpPr>
            <a:spLocks noGrp="1"/>
          </p:cNvSpPr>
          <p:nvPr/>
        </p:nvSpPr>
        <p:spPr>
          <a:xfrm>
            <a:off x="8362950" y="4286250"/>
            <a:ext cx="2857500" cy="266700"/>
          </a:xfrm>
          <a:prstGeom prst="rect">
            <a:avLst/>
          </a:prstGeom>
          <a:noFill/>
          <a:ln w="0">
            <a:noFill/>
            <a:prstDash val="solid"/>
          </a:ln>
        </p:spPr>
        <p:txBody>
          <a:bodyPr wrap="square" lIns="0" tIns="0" rIns="0" bIns="0" anchor="t">
            <a:noAutofit/>
          </a:bodyPr>
          <a:lstStyle/>
          <a:p>
            <a:pPr algn="l">
              <a:buNone/>
              <a:defRPr sz="1350" b="1">
                <a:solidFill>
                  <a:srgbClr val="C98500"/>
                </a:solidFill>
                <a:latin typeface="Arial"/>
                <a:ea typeface="Arial"/>
                <a:cs typeface="Arial"/>
              </a:defRPr>
            </a:pPr>
            <a:r>
              <a:rPr sz="1350" b="1">
                <a:solidFill>
                  <a:srgbClr val="C98500"/>
                </a:solidFill>
                <a:latin typeface="Arial"/>
                <a:ea typeface="Arial"/>
                <a:cs typeface="Arial"/>
              </a:rPr>
              <a:t>WHAT REMAINS</a:t>
            </a:r>
          </a:p>
        </p:txBody>
      </p:sp>
      <p:sp>
        <p:nvSpPr>
          <p:cNvPr id="14" name="Rectangle 13">
            <a:extLst>
              <a:ext uri="{FF2B5EF4-FFF2-40B4-BE49-F238E27FC236}">
                <a16:creationId xmlns:a16="http://schemas.microsoft.com/office/drawing/2014/main" id="{04C94CA2-584C-4213-AA1E-53E242F9DA94}"/>
              </a:ext>
            </a:extLst>
          </p:cNvPr>
          <p:cNvSpPr>
            <a:spLocks noGrp="1"/>
          </p:cNvSpPr>
          <p:nvPr/>
        </p:nvSpPr>
        <p:spPr>
          <a:xfrm>
            <a:off x="8362950" y="4686300"/>
            <a:ext cx="2857500" cy="438150"/>
          </a:xfrm>
          <a:prstGeom prst="rect">
            <a:avLst/>
          </a:prstGeom>
          <a:noFill/>
          <a:ln w="0">
            <a:noFill/>
            <a:prstDash val="solid"/>
          </a:ln>
        </p:spPr>
        <p:txBody>
          <a:bodyPr wrap="square" lIns="0" tIns="0" rIns="0" bIns="0" anchor="t">
            <a:noAutofit/>
          </a:bodyPr>
          <a:lstStyle/>
          <a:p>
            <a:pPr algn="l">
              <a:buNone/>
              <a:defRPr sz="2550" b="1">
                <a:solidFill>
                  <a:srgbClr val="C98500"/>
                </a:solidFill>
                <a:latin typeface="Arial"/>
                <a:ea typeface="Arial"/>
                <a:cs typeface="Arial"/>
              </a:defRPr>
            </a:pPr>
            <a:r>
              <a:rPr sz="2550" b="1">
                <a:solidFill>
                  <a:srgbClr val="C98500"/>
                </a:solidFill>
                <a:latin typeface="Arial"/>
                <a:ea typeface="Arial"/>
                <a:cs typeface="Arial"/>
              </a:rPr>
              <a:t>Miscalibration</a:t>
            </a:r>
          </a:p>
        </p:txBody>
      </p:sp>
      <p:sp>
        <p:nvSpPr>
          <p:cNvPr id="15" name="Rectangle 14">
            <a:extLst>
              <a:ext uri="{FF2B5EF4-FFF2-40B4-BE49-F238E27FC236}">
                <a16:creationId xmlns:a16="http://schemas.microsoft.com/office/drawing/2014/main" id="{28098CFA-52F6-4ECC-B82C-AD2FE0965597}"/>
              </a:ext>
            </a:extLst>
          </p:cNvPr>
          <p:cNvSpPr>
            <a:spLocks noGrp="1"/>
          </p:cNvSpPr>
          <p:nvPr/>
        </p:nvSpPr>
        <p:spPr>
          <a:xfrm>
            <a:off x="8362950" y="5219700"/>
            <a:ext cx="2971800" cy="552450"/>
          </a:xfrm>
          <a:prstGeom prst="rect">
            <a:avLst/>
          </a:prstGeom>
          <a:noFill/>
          <a:ln w="0">
            <a:noFill/>
            <a:prstDash val="solid"/>
          </a:ln>
        </p:spPr>
        <p:txBody>
          <a:bodyPr wrap="square" lIns="0" tIns="0" rIns="0" bIns="0" anchor="t">
            <a:normAutofit/>
          </a:bodyPr>
          <a:lstStyle/>
          <a:p>
            <a:pPr algn="l">
              <a:buNone/>
              <a:defRPr sz="1425" b="1">
                <a:solidFill>
                  <a:srgbClr val="0A1020"/>
                </a:solidFill>
                <a:latin typeface="Arial"/>
                <a:ea typeface="Arial"/>
                <a:cs typeface="Arial"/>
              </a:defRPr>
            </a:pPr>
            <a:r>
              <a:rPr sz="1425" b="1">
                <a:solidFill>
                  <a:srgbClr val="0A1020"/>
                </a:solidFill>
                <a:latin typeface="Arial"/>
                <a:ea typeface="Arial"/>
                <a:cs typeface="Arial"/>
              </a:rPr>
              <a:t>Inside: 100 → 45.8%</a:t>
            </a:r>
          </a:p>
          <a:p>
            <a:pPr algn="l">
              <a:buNone/>
              <a:defRPr sz="1425" b="1">
                <a:solidFill>
                  <a:srgbClr val="0A1020"/>
                </a:solidFill>
                <a:latin typeface="Arial"/>
                <a:ea typeface="Arial"/>
                <a:cs typeface="Arial"/>
              </a:defRPr>
            </a:pPr>
            <a:r>
              <a:rPr sz="1425" b="1">
                <a:solidFill>
                  <a:srgbClr val="0A1020"/>
                </a:solidFill>
                <a:latin typeface="Arial"/>
                <a:ea typeface="Arial"/>
                <a:cs typeface="Arial"/>
              </a:rPr>
              <a:t>Clarification: 6.3 → 27.1%</a:t>
            </a:r>
          </a:p>
        </p:txBody>
      </p:sp>
    </p:spTree>
    <p:extLst>
      <p:ext uri="{BB962C8B-B14F-4D97-AF65-F5344CB8AC3E}">
        <p14:creationId xmlns:p14="http://schemas.microsoft.com/office/powerpoint/2010/main" val="757488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kicker-20">
            <a:extLst>
              <a:ext uri="{FF2B5EF4-FFF2-40B4-BE49-F238E27FC236}">
                <a16:creationId xmlns:a16="http://schemas.microsoft.com/office/drawing/2014/main" id="{65D5E740-7223-425F-9BFD-27E24C8E0727}"/>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3D8DFF"/>
                </a:solidFill>
                <a:latin typeface="Arial"/>
                <a:ea typeface="Arial"/>
                <a:cs typeface="Arial"/>
              </a:defRPr>
            </a:pPr>
            <a:r>
              <a:rPr sz="1200" b="1">
                <a:solidFill>
                  <a:srgbClr val="3D8DFF"/>
                </a:solidFill>
                <a:latin typeface="Arial"/>
                <a:ea typeface="Arial"/>
                <a:cs typeface="Arial"/>
              </a:rPr>
              <a:t>SCIENTIFIC STATUS</a:t>
            </a:r>
          </a:p>
        </p:txBody>
      </p:sp>
      <p:sp>
        <p:nvSpPr>
          <p:cNvPr id="2" name="title-20">
            <a:extLst>
              <a:ext uri="{FF2B5EF4-FFF2-40B4-BE49-F238E27FC236}">
                <a16:creationId xmlns:a16="http://schemas.microsoft.com/office/drawing/2014/main" id="{6AEC2B7E-A964-4410-8F83-A42873725B88}"/>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Scale helps; structure keeps control</a:t>
            </a:r>
          </a:p>
        </p:txBody>
      </p:sp>
      <p:sp>
        <p:nvSpPr>
          <p:cNvPr id="3" name="Straight Connector 2">
            <a:extLst>
              <a:ext uri="{FF2B5EF4-FFF2-40B4-BE49-F238E27FC236}">
                <a16:creationId xmlns:a16="http://schemas.microsoft.com/office/drawing/2014/main" id="{D0B6D216-722E-4B5E-8C66-818D1AA30150}"/>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D84878F1-747D-4C98-83CB-3B9D3C3415D9}"/>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21</a:t>
            </a:r>
          </a:p>
        </p:txBody>
      </p:sp>
      <p:sp>
        <p:nvSpPr>
          <p:cNvPr id="5" name="Rectangle 4">
            <a:extLst>
              <a:ext uri="{FF2B5EF4-FFF2-40B4-BE49-F238E27FC236}">
                <a16:creationId xmlns:a16="http://schemas.microsoft.com/office/drawing/2014/main" id="{FD3C2B94-73CA-4E66-8A36-FD299F294974}"/>
              </a:ext>
            </a:extLst>
          </p:cNvPr>
          <p:cNvSpPr>
            <a:spLocks noGrp="1"/>
          </p:cNvSpPr>
          <p:nvPr/>
        </p:nvSpPr>
        <p:spPr>
          <a:xfrm>
            <a:off x="495300" y="1600200"/>
            <a:ext cx="5295900" cy="4419600"/>
          </a:xfrm>
          <a:prstGeom prst="rect">
            <a:avLst/>
          </a:prstGeom>
          <a:solidFill>
            <a:srgbClr val="E6F6F2"/>
          </a:solidFill>
          <a:ln w="14288">
            <a:solidFill>
              <a:srgbClr val="159A7D"/>
            </a:solidFill>
            <a:prstDash val="solid"/>
          </a:ln>
        </p:spPr>
      </p:sp>
      <p:sp>
        <p:nvSpPr>
          <p:cNvPr id="6" name="Rectangle 5">
            <a:extLst>
              <a:ext uri="{FF2B5EF4-FFF2-40B4-BE49-F238E27FC236}">
                <a16:creationId xmlns:a16="http://schemas.microsoft.com/office/drawing/2014/main" id="{0A072D52-96E8-4017-AF47-22A88BEA7E8A}"/>
              </a:ext>
            </a:extLst>
          </p:cNvPr>
          <p:cNvSpPr>
            <a:spLocks noGrp="1"/>
          </p:cNvSpPr>
          <p:nvPr/>
        </p:nvSpPr>
        <p:spPr>
          <a:xfrm>
            <a:off x="781050" y="1866900"/>
            <a:ext cx="2952750" cy="304800"/>
          </a:xfrm>
          <a:prstGeom prst="rect">
            <a:avLst/>
          </a:prstGeom>
          <a:noFill/>
          <a:ln w="0">
            <a:noFill/>
            <a:prstDash val="solid"/>
          </a:ln>
        </p:spPr>
        <p:txBody>
          <a:bodyPr wrap="square" lIns="0" tIns="0" rIns="0" bIns="0" anchor="t">
            <a:noAutofit/>
          </a:bodyPr>
          <a:lstStyle/>
          <a:p>
            <a:pPr algn="l">
              <a:buNone/>
              <a:defRPr sz="1500" b="1">
                <a:solidFill>
                  <a:srgbClr val="159A7D"/>
                </a:solidFill>
                <a:latin typeface="Arial"/>
                <a:ea typeface="Arial"/>
                <a:cs typeface="Arial"/>
              </a:defRPr>
            </a:pPr>
            <a:r>
              <a:rPr sz="1500" b="1">
                <a:solidFill>
                  <a:srgbClr val="159A7D"/>
                </a:solidFill>
                <a:latin typeface="Arial"/>
                <a:ea typeface="Arial"/>
                <a:cs typeface="Arial"/>
              </a:rPr>
              <a:t>SUPPORTED NOW</a:t>
            </a:r>
          </a:p>
        </p:txBody>
      </p:sp>
      <p:sp>
        <p:nvSpPr>
          <p:cNvPr id="7" name="Rectangle 6">
            <a:extLst>
              <a:ext uri="{FF2B5EF4-FFF2-40B4-BE49-F238E27FC236}">
                <a16:creationId xmlns:a16="http://schemas.microsoft.com/office/drawing/2014/main" id="{0733784D-7CA2-4802-9B9A-97F88CF85671}"/>
              </a:ext>
            </a:extLst>
          </p:cNvPr>
          <p:cNvSpPr>
            <a:spLocks noGrp="1"/>
          </p:cNvSpPr>
          <p:nvPr/>
        </p:nvSpPr>
        <p:spPr>
          <a:xfrm>
            <a:off x="781050" y="2400300"/>
            <a:ext cx="4724400" cy="3143250"/>
          </a:xfrm>
          <a:prstGeom prst="rect">
            <a:avLst/>
          </a:prstGeom>
          <a:noFill/>
          <a:ln w="0">
            <a:noFill/>
            <a:prstDash val="solid"/>
          </a:ln>
        </p:spPr>
        <p:txBody>
          <a:bodyPr wrap="square" lIns="0" tIns="0" rIns="0" bIns="0" anchor="t">
            <a:normAutofit/>
          </a:bodyPr>
          <a:lstStyle/>
          <a:p>
            <a:pPr marL="22" indent="-12">
              <a:spcAft>
                <a:spcPts val="14"/>
              </a:spcAft>
              <a:buChar char="•"/>
            </a:pPr>
            <a:r>
              <a:t>Overgeneralization is measurable with controlled twins.</a:t>
            </a:r>
          </a:p>
          <a:p>
            <a:pPr marL="22" indent="-12">
              <a:spcAft>
                <a:spcPts val="14"/>
              </a:spcAft>
              <a:buChar char="•"/>
            </a:pPr>
            <a:r>
              <a:t>Boundary-aware rules beat flat memory: 97.1% vs 66.7% accuracy.</a:t>
            </a:r>
          </a:p>
          <a:p>
            <a:pPr marL="22" indent="-12">
              <a:spcAft>
                <a:spcPts val="14"/>
              </a:spcAft>
              <a:buChar char="•"/>
            </a:pPr>
            <a:r>
              <a:t>The tiny-Transformer hybrid reaches 93.7% accuracy.</a:t>
            </a:r>
          </a:p>
          <a:p>
            <a:pPr marL="22" indent="-12">
              <a:spcAft>
                <a:spcPts val="14"/>
              </a:spcAft>
              <a:buChar char="•"/>
            </a:pPr>
            <a:r>
              <a:t>Modular Qwen-1.5B beats full LLM: 70.8% vs 33.3%.</a:t>
            </a:r>
          </a:p>
          <a:p>
            <a:pPr marL="22" indent="-12">
              <a:spcAft>
                <a:spcPts val="14"/>
              </a:spcAft>
              <a:buChar char="•"/>
            </a:pPr>
            <a:r>
              <a:t>Scaling to 3B adds 12.5 points in the shared decision mode.</a:t>
            </a:r>
          </a:p>
        </p:txBody>
      </p:sp>
      <p:sp>
        <p:nvSpPr>
          <p:cNvPr id="8" name="Rectangle 7">
            <a:extLst>
              <a:ext uri="{FF2B5EF4-FFF2-40B4-BE49-F238E27FC236}">
                <a16:creationId xmlns:a16="http://schemas.microsoft.com/office/drawing/2014/main" id="{9F168B9D-E5A5-400C-A4E6-64FE65649387}"/>
              </a:ext>
            </a:extLst>
          </p:cNvPr>
          <p:cNvSpPr>
            <a:spLocks noGrp="1"/>
          </p:cNvSpPr>
          <p:nvPr/>
        </p:nvSpPr>
        <p:spPr>
          <a:xfrm>
            <a:off x="6400800" y="1600200"/>
            <a:ext cx="5295900" cy="4419600"/>
          </a:xfrm>
          <a:prstGeom prst="rect">
            <a:avLst/>
          </a:prstGeom>
          <a:solidFill>
            <a:srgbClr val="FCEBEC"/>
          </a:solidFill>
          <a:ln w="14288">
            <a:solidFill>
              <a:srgbClr val="D94747"/>
            </a:solidFill>
            <a:prstDash val="solid"/>
          </a:ln>
        </p:spPr>
      </p:sp>
      <p:sp>
        <p:nvSpPr>
          <p:cNvPr id="9" name="Rectangle 8">
            <a:extLst>
              <a:ext uri="{FF2B5EF4-FFF2-40B4-BE49-F238E27FC236}">
                <a16:creationId xmlns:a16="http://schemas.microsoft.com/office/drawing/2014/main" id="{6CB57044-F2F9-4EA8-8035-B5F042345722}"/>
              </a:ext>
            </a:extLst>
          </p:cNvPr>
          <p:cNvSpPr>
            <a:spLocks noGrp="1"/>
          </p:cNvSpPr>
          <p:nvPr/>
        </p:nvSpPr>
        <p:spPr>
          <a:xfrm>
            <a:off x="6686550" y="1866900"/>
            <a:ext cx="3143250" cy="304800"/>
          </a:xfrm>
          <a:prstGeom prst="rect">
            <a:avLst/>
          </a:prstGeom>
          <a:noFill/>
          <a:ln w="0">
            <a:noFill/>
            <a:prstDash val="solid"/>
          </a:ln>
        </p:spPr>
        <p:txBody>
          <a:bodyPr wrap="square" lIns="0" tIns="0" rIns="0" bIns="0" anchor="t">
            <a:noAutofit/>
          </a:bodyPr>
          <a:lstStyle/>
          <a:p>
            <a:pPr algn="l">
              <a:buNone/>
              <a:defRPr sz="1500" b="1">
                <a:solidFill>
                  <a:srgbClr val="D94747"/>
                </a:solidFill>
                <a:latin typeface="Arial"/>
                <a:ea typeface="Arial"/>
                <a:cs typeface="Arial"/>
              </a:defRPr>
            </a:pPr>
            <a:r>
              <a:rPr sz="1500" b="1">
                <a:solidFill>
                  <a:srgbClr val="D94747"/>
                </a:solidFill>
                <a:latin typeface="Arial"/>
                <a:ea typeface="Arial"/>
                <a:cs typeface="Arial"/>
              </a:rPr>
              <a:t>NOT YET SUPPORTED</a:t>
            </a:r>
          </a:p>
        </p:txBody>
      </p:sp>
      <p:sp>
        <p:nvSpPr>
          <p:cNvPr id="10" name="Rectangle 9">
            <a:extLst>
              <a:ext uri="{FF2B5EF4-FFF2-40B4-BE49-F238E27FC236}">
                <a16:creationId xmlns:a16="http://schemas.microsoft.com/office/drawing/2014/main" id="{70C2ED96-D1EA-4F89-896E-A5CAFCD4EB58}"/>
              </a:ext>
            </a:extLst>
          </p:cNvPr>
          <p:cNvSpPr>
            <a:spLocks noGrp="1"/>
          </p:cNvSpPr>
          <p:nvPr/>
        </p:nvSpPr>
        <p:spPr>
          <a:xfrm>
            <a:off x="6686550" y="2400300"/>
            <a:ext cx="4724400" cy="3143250"/>
          </a:xfrm>
          <a:prstGeom prst="rect">
            <a:avLst/>
          </a:prstGeom>
          <a:noFill/>
          <a:ln w="0">
            <a:noFill/>
            <a:prstDash val="solid"/>
          </a:ln>
        </p:spPr>
        <p:txBody>
          <a:bodyPr wrap="square" lIns="0" tIns="0" rIns="0" bIns="0" anchor="t">
            <a:normAutofit/>
          </a:bodyPr>
          <a:lstStyle/>
          <a:p>
            <a:pPr marL="22" indent="-12">
              <a:spcAft>
                <a:spcPts val="14"/>
              </a:spcAft>
              <a:buChar char="•"/>
            </a:pPr>
            <a:r>
              <a:t>Small models still fail reliable end-to-end extraction and decision.</a:t>
            </a:r>
          </a:p>
          <a:p>
            <a:pPr marL="22" indent="-12">
              <a:spcAft>
                <a:spcPts val="14"/>
              </a:spcAft>
              <a:buChar char="•"/>
            </a:pPr>
            <a:r>
              <a:t>The 3B model remains miscalibrated on inside and clarification cases.</a:t>
            </a:r>
          </a:p>
          <a:p>
            <a:pPr marL="22" indent="-12">
              <a:spcAft>
                <a:spcPts val="14"/>
              </a:spcAft>
              <a:buChar char="•"/>
            </a:pPr>
            <a:r>
              <a:t>We have not yet measured a scaling curve beyond 3B.</a:t>
            </a:r>
          </a:p>
          <a:p>
            <a:pPr marL="22" indent="-12">
              <a:spcAft>
                <a:spcPts val="14"/>
              </a:spcAft>
              <a:buChar char="•"/>
            </a:pPr>
            <a:r>
              <a:t>Larger-model memory extraction has not yet been evaluated.</a:t>
            </a:r>
          </a:p>
          <a:p>
            <a:pPr marL="22" indent="-12">
              <a:spcAft>
                <a:spcPts val="14"/>
              </a:spcAft>
              <a:buChar char="•"/>
            </a:pPr>
            <a:r>
              <a:t>Real-user transfer and response quality remain open.</a:t>
            </a:r>
          </a:p>
        </p:txBody>
      </p:sp>
      <p:sp>
        <p:nvSpPr>
          <p:cNvPr id="11" name="Rectangle 10">
            <a:extLst>
              <a:ext uri="{FF2B5EF4-FFF2-40B4-BE49-F238E27FC236}">
                <a16:creationId xmlns:a16="http://schemas.microsoft.com/office/drawing/2014/main" id="{AEE585DD-30DC-4A28-9CD1-532D8D9E40A5}"/>
              </a:ext>
            </a:extLst>
          </p:cNvPr>
          <p:cNvSpPr>
            <a:spLocks noGrp="1"/>
          </p:cNvSpPr>
          <p:nvPr/>
        </p:nvSpPr>
        <p:spPr>
          <a:xfrm>
            <a:off x="1524000" y="6172200"/>
            <a:ext cx="9144000" cy="285750"/>
          </a:xfrm>
          <a:prstGeom prst="rect">
            <a:avLst/>
          </a:prstGeom>
          <a:noFill/>
          <a:ln w="0">
            <a:noFill/>
            <a:prstDash val="solid"/>
          </a:ln>
        </p:spPr>
        <p:txBody>
          <a:bodyPr wrap="square" lIns="0" tIns="0" rIns="0" bIns="0" anchor="t">
            <a:noAutofit/>
          </a:bodyPr>
          <a:lstStyle/>
          <a:p>
            <a:pPr algn="ctr">
              <a:buNone/>
              <a:defRPr sz="1650" b="1">
                <a:solidFill>
                  <a:srgbClr val="1357B8"/>
                </a:solidFill>
                <a:latin typeface="Arial"/>
                <a:ea typeface="Arial"/>
                <a:cs typeface="Arial"/>
              </a:defRPr>
            </a:pPr>
            <a:r>
              <a:rPr sz="1650" b="1">
                <a:solidFill>
                  <a:srgbClr val="1357B8"/>
                </a:solidFill>
                <a:latin typeface="Arial"/>
                <a:ea typeface="Arial"/>
                <a:cs typeface="Arial"/>
              </a:rPr>
              <a:t>Conclusion: scale is needed for capability; explicit structure already gives us control.</a:t>
            </a:r>
          </a:p>
        </p:txBody>
      </p:sp>
    </p:spTree>
    <p:extLst>
      <p:ext uri="{BB962C8B-B14F-4D97-AF65-F5344CB8AC3E}">
        <p14:creationId xmlns:p14="http://schemas.microsoft.com/office/powerpoint/2010/main" val="1494343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kicker-21">
            <a:extLst>
              <a:ext uri="{FF2B5EF4-FFF2-40B4-BE49-F238E27FC236}">
                <a16:creationId xmlns:a16="http://schemas.microsoft.com/office/drawing/2014/main" id="{54AE1DA4-4670-4390-B228-1430748C0915}"/>
              </a:ext>
            </a:extLst>
          </p:cNvPr>
          <p:cNvSpPr>
            <a:spLocks noGrp="1"/>
          </p:cNvSpPr>
          <p:nvPr/>
        </p:nvSpPr>
        <p:spPr>
          <a:xfrm>
            <a:off x="495300" y="228600"/>
            <a:ext cx="9334500" cy="228600"/>
          </a:xfrm>
          <a:prstGeom prst="rect">
            <a:avLst/>
          </a:prstGeom>
          <a:noFill/>
          <a:ln w="0">
            <a:noFill/>
            <a:prstDash val="solid"/>
          </a:ln>
        </p:spPr>
        <p:txBody>
          <a:bodyPr wrap="square" lIns="0" tIns="0" rIns="0" bIns="0" anchor="t">
            <a:noAutofit/>
          </a:bodyPr>
          <a:lstStyle/>
          <a:p>
            <a:pPr algn="l">
              <a:buNone/>
              <a:defRPr sz="1200" b="1">
                <a:solidFill>
                  <a:srgbClr val="159A7D"/>
                </a:solidFill>
                <a:latin typeface="Arial"/>
                <a:ea typeface="Arial"/>
                <a:cs typeface="Arial"/>
              </a:defRPr>
            </a:pPr>
            <a:r>
              <a:rPr sz="1200" b="1">
                <a:solidFill>
                  <a:srgbClr val="159A7D"/>
                </a:solidFill>
                <a:latin typeface="Arial"/>
                <a:ea typeface="Arial"/>
                <a:cs typeface="Arial"/>
              </a:rPr>
              <a:t>ROADMAP</a:t>
            </a:r>
          </a:p>
        </p:txBody>
      </p:sp>
      <p:sp>
        <p:nvSpPr>
          <p:cNvPr id="2" name="title-21">
            <a:extLst>
              <a:ext uri="{FF2B5EF4-FFF2-40B4-BE49-F238E27FC236}">
                <a16:creationId xmlns:a16="http://schemas.microsoft.com/office/drawing/2014/main" id="{8A089E51-527D-4CEC-928E-6B1A7D73431A}"/>
              </a:ext>
            </a:extLst>
          </p:cNvPr>
          <p:cNvSpPr>
            <a:spLocks noGrp="1"/>
          </p:cNvSpPr>
          <p:nvPr/>
        </p:nvSpPr>
        <p:spPr>
          <a:xfrm>
            <a:off x="495300" y="514350"/>
            <a:ext cx="11163300" cy="590550"/>
          </a:xfrm>
          <a:prstGeom prst="rect">
            <a:avLst/>
          </a:prstGeom>
          <a:noFill/>
          <a:ln w="0">
            <a:noFill/>
            <a:prstDash val="solid"/>
          </a:ln>
        </p:spPr>
        <p:txBody>
          <a:bodyPr wrap="none" lIns="0" tIns="0" rIns="0" bIns="0" anchor="t">
            <a:noAutofit/>
          </a:bodyPr>
          <a:lstStyle/>
          <a:p>
            <a:pPr algn="l">
              <a:buNone/>
              <a:defRPr sz="3600" b="1">
                <a:solidFill>
                  <a:srgbClr val="0A1020"/>
                </a:solidFill>
                <a:latin typeface="Arial"/>
                <a:ea typeface="Arial"/>
                <a:cs typeface="Arial"/>
              </a:defRPr>
            </a:pPr>
            <a:r>
              <a:rPr sz="3600" b="1">
                <a:solidFill>
                  <a:srgbClr val="0A1020"/>
                </a:solidFill>
                <a:latin typeface="Arial"/>
                <a:ea typeface="Arial"/>
                <a:cs typeface="Arial"/>
              </a:rPr>
              <a:t>Next milestone: scale without losing control</a:t>
            </a:r>
          </a:p>
        </p:txBody>
      </p:sp>
      <p:sp>
        <p:nvSpPr>
          <p:cNvPr id="3" name="Straight Connector 2">
            <a:extLst>
              <a:ext uri="{FF2B5EF4-FFF2-40B4-BE49-F238E27FC236}">
                <a16:creationId xmlns:a16="http://schemas.microsoft.com/office/drawing/2014/main" id="{5B7E4B7E-4283-4039-A0C8-50A9EB908AF3}"/>
              </a:ext>
            </a:extLst>
          </p:cNvPr>
          <p:cNvSpPr>
            <a:spLocks noGrp="1"/>
          </p:cNvSpPr>
          <p:nvPr/>
        </p:nvSpPr>
        <p:spPr>
          <a:xfrm>
            <a:off x="495300" y="1219200"/>
            <a:ext cx="11201400" cy="0"/>
          </a:xfrm>
          <a:prstGeom prst="line">
            <a:avLst/>
          </a:prstGeom>
          <a:noFill/>
          <a:ln w="9525">
            <a:solidFill>
              <a:srgbClr val="C9CED8"/>
            </a:solidFill>
            <a:prstDash val="solid"/>
          </a:ln>
        </p:spPr>
      </p:sp>
      <p:sp>
        <p:nvSpPr>
          <p:cNvPr id="4" name="Rectangle 3">
            <a:extLst>
              <a:ext uri="{FF2B5EF4-FFF2-40B4-BE49-F238E27FC236}">
                <a16:creationId xmlns:a16="http://schemas.microsoft.com/office/drawing/2014/main" id="{A7D760B6-5D0B-46A6-8013-CDFBCEF4512D}"/>
              </a:ext>
            </a:extLst>
          </p:cNvPr>
          <p:cNvSpPr>
            <a:spLocks noGrp="1"/>
          </p:cNvSpPr>
          <p:nvPr/>
        </p:nvSpPr>
        <p:spPr>
          <a:xfrm>
            <a:off x="11182350" y="6419850"/>
            <a:ext cx="514350" cy="190500"/>
          </a:xfrm>
          <a:prstGeom prst="rect">
            <a:avLst/>
          </a:prstGeom>
          <a:noFill/>
          <a:ln w="0">
            <a:noFill/>
            <a:prstDash val="solid"/>
          </a:ln>
        </p:spPr>
        <p:txBody>
          <a:bodyPr wrap="square" lIns="0" tIns="0" rIns="0" bIns="0" anchor="t">
            <a:noAutofit/>
          </a:bodyPr>
          <a:lstStyle/>
          <a:p>
            <a:pPr algn="r">
              <a:buNone/>
              <a:defRPr sz="1050" b="0">
                <a:solidFill>
                  <a:srgbClr val="8C95A5"/>
                </a:solidFill>
                <a:latin typeface="Arial"/>
                <a:ea typeface="Arial"/>
                <a:cs typeface="Arial"/>
              </a:defRPr>
            </a:pPr>
            <a:r>
              <a:rPr sz="1050" b="0">
                <a:solidFill>
                  <a:srgbClr val="8C95A5"/>
                </a:solidFill>
                <a:latin typeface="Arial"/>
                <a:ea typeface="Arial"/>
                <a:cs typeface="Arial"/>
              </a:rPr>
              <a:t>22</a:t>
            </a:r>
          </a:p>
        </p:txBody>
      </p:sp>
      <p:sp>
        <p:nvSpPr>
          <p:cNvPr id="5" name="Straight Connector 4">
            <a:extLst>
              <a:ext uri="{FF2B5EF4-FFF2-40B4-BE49-F238E27FC236}">
                <a16:creationId xmlns:a16="http://schemas.microsoft.com/office/drawing/2014/main" id="{DFCB4E3A-703D-451C-A80A-59EBD00557AC}"/>
              </a:ext>
            </a:extLst>
          </p:cNvPr>
          <p:cNvSpPr>
            <a:spLocks noGrp="1"/>
          </p:cNvSpPr>
          <p:nvPr/>
        </p:nvSpPr>
        <p:spPr>
          <a:xfrm>
            <a:off x="952500" y="1962150"/>
            <a:ext cx="0" cy="3562350"/>
          </a:xfrm>
          <a:prstGeom prst="line">
            <a:avLst/>
          </a:prstGeom>
          <a:noFill/>
          <a:ln w="28575">
            <a:solidFill>
              <a:srgbClr val="159A7D"/>
            </a:solidFill>
            <a:prstDash val="solid"/>
          </a:ln>
        </p:spPr>
      </p:sp>
      <p:sp>
        <p:nvSpPr>
          <p:cNvPr id="6" name="Oval 5">
            <a:extLst>
              <a:ext uri="{FF2B5EF4-FFF2-40B4-BE49-F238E27FC236}">
                <a16:creationId xmlns:a16="http://schemas.microsoft.com/office/drawing/2014/main" id="{B8B669F9-9F35-438F-B3F1-D5A5970A65C1}"/>
              </a:ext>
            </a:extLst>
          </p:cNvPr>
          <p:cNvSpPr>
            <a:spLocks noGrp="1"/>
          </p:cNvSpPr>
          <p:nvPr/>
        </p:nvSpPr>
        <p:spPr>
          <a:xfrm>
            <a:off x="781050" y="1885950"/>
            <a:ext cx="342900" cy="342900"/>
          </a:xfrm>
          <a:prstGeom prst="ellipse">
            <a:avLst/>
          </a:prstGeom>
          <a:solidFill>
            <a:srgbClr val="159A7D"/>
          </a:solidFill>
          <a:ln w="0">
            <a:noFill/>
            <a:prstDash val="solid"/>
          </a:ln>
        </p:spPr>
      </p:sp>
      <p:sp>
        <p:nvSpPr>
          <p:cNvPr id="7" name="Rectangle 6">
            <a:extLst>
              <a:ext uri="{FF2B5EF4-FFF2-40B4-BE49-F238E27FC236}">
                <a16:creationId xmlns:a16="http://schemas.microsoft.com/office/drawing/2014/main" id="{01D58669-D17A-4671-A054-AC1EED4DD8DE}"/>
              </a:ext>
            </a:extLst>
          </p:cNvPr>
          <p:cNvSpPr>
            <a:spLocks noGrp="1"/>
          </p:cNvSpPr>
          <p:nvPr/>
        </p:nvSpPr>
        <p:spPr>
          <a:xfrm>
            <a:off x="781050" y="1952625"/>
            <a:ext cx="342900" cy="228600"/>
          </a:xfrm>
          <a:prstGeom prst="rect">
            <a:avLst/>
          </a:prstGeom>
          <a:noFill/>
          <a:ln w="0">
            <a:noFill/>
            <a:prstDash val="solid"/>
          </a:ln>
        </p:spPr>
        <p:txBody>
          <a:bodyPr wrap="square" lIns="0" tIns="0" rIns="0" bIns="0" anchor="t">
            <a:no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4071D653-782F-4B27-B22B-EFA49C82FB29}"/>
              </a:ext>
            </a:extLst>
          </p:cNvPr>
          <p:cNvSpPr>
            <a:spLocks noGrp="1"/>
          </p:cNvSpPr>
          <p:nvPr/>
        </p:nvSpPr>
        <p:spPr>
          <a:xfrm>
            <a:off x="1390650" y="1771650"/>
            <a:ext cx="2762250" cy="3238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Scale systematically</a:t>
            </a:r>
          </a:p>
        </p:txBody>
      </p:sp>
      <p:sp>
        <p:nvSpPr>
          <p:cNvPr id="9" name="Rectangle 8">
            <a:extLst>
              <a:ext uri="{FF2B5EF4-FFF2-40B4-BE49-F238E27FC236}">
                <a16:creationId xmlns:a16="http://schemas.microsoft.com/office/drawing/2014/main" id="{1796B4DE-B5BA-41A1-B904-7AA8BD92A6BC}"/>
              </a:ext>
            </a:extLst>
          </p:cNvPr>
          <p:cNvSpPr>
            <a:spLocks noGrp="1"/>
          </p:cNvSpPr>
          <p:nvPr/>
        </p:nvSpPr>
        <p:spPr>
          <a:xfrm>
            <a:off x="1390650" y="2152650"/>
            <a:ext cx="5429250" cy="4381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Run every ablation at 3B/7B+ and save raw predictions.</a:t>
            </a:r>
          </a:p>
        </p:txBody>
      </p:sp>
      <p:sp>
        <p:nvSpPr>
          <p:cNvPr id="10" name="Oval 9">
            <a:extLst>
              <a:ext uri="{FF2B5EF4-FFF2-40B4-BE49-F238E27FC236}">
                <a16:creationId xmlns:a16="http://schemas.microsoft.com/office/drawing/2014/main" id="{A3D8D372-A3FC-46C7-A094-06E9F2F7FCCA}"/>
              </a:ext>
            </a:extLst>
          </p:cNvPr>
          <p:cNvSpPr>
            <a:spLocks noGrp="1"/>
          </p:cNvSpPr>
          <p:nvPr/>
        </p:nvSpPr>
        <p:spPr>
          <a:xfrm>
            <a:off x="781050" y="2876550"/>
            <a:ext cx="342900" cy="342900"/>
          </a:xfrm>
          <a:prstGeom prst="ellipse">
            <a:avLst/>
          </a:prstGeom>
          <a:solidFill>
            <a:srgbClr val="159A7D"/>
          </a:solidFill>
          <a:ln w="0">
            <a:noFill/>
            <a:prstDash val="solid"/>
          </a:ln>
        </p:spPr>
      </p:sp>
      <p:sp>
        <p:nvSpPr>
          <p:cNvPr id="11" name="Rectangle 10">
            <a:extLst>
              <a:ext uri="{FF2B5EF4-FFF2-40B4-BE49-F238E27FC236}">
                <a16:creationId xmlns:a16="http://schemas.microsoft.com/office/drawing/2014/main" id="{33E7AB22-CCE7-4411-803C-4C1BF449EEB0}"/>
              </a:ext>
            </a:extLst>
          </p:cNvPr>
          <p:cNvSpPr>
            <a:spLocks noGrp="1"/>
          </p:cNvSpPr>
          <p:nvPr/>
        </p:nvSpPr>
        <p:spPr>
          <a:xfrm>
            <a:off x="781050" y="2943225"/>
            <a:ext cx="342900" cy="228600"/>
          </a:xfrm>
          <a:prstGeom prst="rect">
            <a:avLst/>
          </a:prstGeom>
          <a:noFill/>
          <a:ln w="0">
            <a:noFill/>
            <a:prstDash val="solid"/>
          </a:ln>
        </p:spPr>
        <p:txBody>
          <a:bodyPr wrap="square" lIns="0" tIns="0" rIns="0" bIns="0" anchor="t">
            <a:no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549A9588-087F-431F-9463-4AD073593D06}"/>
              </a:ext>
            </a:extLst>
          </p:cNvPr>
          <p:cNvSpPr>
            <a:spLocks noGrp="1"/>
          </p:cNvSpPr>
          <p:nvPr/>
        </p:nvSpPr>
        <p:spPr>
          <a:xfrm>
            <a:off x="1390650" y="2762250"/>
            <a:ext cx="2762250" cy="3238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Train memory builder</a:t>
            </a:r>
          </a:p>
        </p:txBody>
      </p:sp>
      <p:sp>
        <p:nvSpPr>
          <p:cNvPr id="13" name="Rectangle 12">
            <a:extLst>
              <a:ext uri="{FF2B5EF4-FFF2-40B4-BE49-F238E27FC236}">
                <a16:creationId xmlns:a16="http://schemas.microsoft.com/office/drawing/2014/main" id="{1788D27A-AC25-477F-9376-3362E45A5D19}"/>
              </a:ext>
            </a:extLst>
          </p:cNvPr>
          <p:cNvSpPr>
            <a:spLocks noGrp="1"/>
          </p:cNvSpPr>
          <p:nvPr/>
        </p:nvSpPr>
        <p:spPr>
          <a:xfrm>
            <a:off x="1390650" y="3143250"/>
            <a:ext cx="5429250" cy="4381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LoRA/SFT the structured extractor on counterfactual twins.</a:t>
            </a:r>
          </a:p>
        </p:txBody>
      </p:sp>
      <p:sp>
        <p:nvSpPr>
          <p:cNvPr id="14" name="Oval 13">
            <a:extLst>
              <a:ext uri="{FF2B5EF4-FFF2-40B4-BE49-F238E27FC236}">
                <a16:creationId xmlns:a16="http://schemas.microsoft.com/office/drawing/2014/main" id="{F4658353-2CDF-4644-B756-51F959B2787A}"/>
              </a:ext>
            </a:extLst>
          </p:cNvPr>
          <p:cNvSpPr>
            <a:spLocks noGrp="1"/>
          </p:cNvSpPr>
          <p:nvPr/>
        </p:nvSpPr>
        <p:spPr>
          <a:xfrm>
            <a:off x="781050" y="3867150"/>
            <a:ext cx="342900" cy="342900"/>
          </a:xfrm>
          <a:prstGeom prst="ellipse">
            <a:avLst/>
          </a:prstGeom>
          <a:solidFill>
            <a:srgbClr val="159A7D"/>
          </a:solidFill>
          <a:ln w="0">
            <a:noFill/>
            <a:prstDash val="solid"/>
          </a:ln>
        </p:spPr>
      </p:sp>
      <p:sp>
        <p:nvSpPr>
          <p:cNvPr id="15" name="Rectangle 14">
            <a:extLst>
              <a:ext uri="{FF2B5EF4-FFF2-40B4-BE49-F238E27FC236}">
                <a16:creationId xmlns:a16="http://schemas.microsoft.com/office/drawing/2014/main" id="{754ECA9D-F41A-438A-9738-53C1817E3970}"/>
              </a:ext>
            </a:extLst>
          </p:cNvPr>
          <p:cNvSpPr>
            <a:spLocks noGrp="1"/>
          </p:cNvSpPr>
          <p:nvPr/>
        </p:nvSpPr>
        <p:spPr>
          <a:xfrm>
            <a:off x="781050" y="3933825"/>
            <a:ext cx="342900" cy="228600"/>
          </a:xfrm>
          <a:prstGeom prst="rect">
            <a:avLst/>
          </a:prstGeom>
          <a:noFill/>
          <a:ln w="0">
            <a:noFill/>
            <a:prstDash val="solid"/>
          </a:ln>
        </p:spPr>
        <p:txBody>
          <a:bodyPr wrap="square" lIns="0" tIns="0" rIns="0" bIns="0" anchor="t">
            <a:no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BC6442F5-9E3A-4039-9EE0-091B8DB7EC64}"/>
              </a:ext>
            </a:extLst>
          </p:cNvPr>
          <p:cNvSpPr>
            <a:spLocks noGrp="1"/>
          </p:cNvSpPr>
          <p:nvPr/>
        </p:nvSpPr>
        <p:spPr>
          <a:xfrm>
            <a:off x="1390650" y="3752850"/>
            <a:ext cx="2762250" cy="3238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Naturalize data</a:t>
            </a:r>
          </a:p>
        </p:txBody>
      </p:sp>
      <p:sp>
        <p:nvSpPr>
          <p:cNvPr id="17" name="Rectangle 16">
            <a:extLst>
              <a:ext uri="{FF2B5EF4-FFF2-40B4-BE49-F238E27FC236}">
                <a16:creationId xmlns:a16="http://schemas.microsoft.com/office/drawing/2014/main" id="{9E34B08F-0524-49F0-9070-7D860DD993B3}"/>
              </a:ext>
            </a:extLst>
          </p:cNvPr>
          <p:cNvSpPr>
            <a:spLocks noGrp="1"/>
          </p:cNvSpPr>
          <p:nvPr/>
        </p:nvSpPr>
        <p:spPr>
          <a:xfrm>
            <a:off x="1390650" y="4133850"/>
            <a:ext cx="5429250" cy="4381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Longer histories, paraphrase challenge, and transfer domains.</a:t>
            </a:r>
          </a:p>
        </p:txBody>
      </p:sp>
      <p:sp>
        <p:nvSpPr>
          <p:cNvPr id="18" name="Oval 17">
            <a:extLst>
              <a:ext uri="{FF2B5EF4-FFF2-40B4-BE49-F238E27FC236}">
                <a16:creationId xmlns:a16="http://schemas.microsoft.com/office/drawing/2014/main" id="{A068ABC0-C1BB-4B17-87AA-A49C5D33063A}"/>
              </a:ext>
            </a:extLst>
          </p:cNvPr>
          <p:cNvSpPr>
            <a:spLocks noGrp="1"/>
          </p:cNvSpPr>
          <p:nvPr/>
        </p:nvSpPr>
        <p:spPr>
          <a:xfrm>
            <a:off x="781050" y="4857750"/>
            <a:ext cx="342900" cy="342900"/>
          </a:xfrm>
          <a:prstGeom prst="ellipse">
            <a:avLst/>
          </a:prstGeom>
          <a:solidFill>
            <a:srgbClr val="159A7D"/>
          </a:solidFill>
          <a:ln w="0">
            <a:noFill/>
            <a:prstDash val="solid"/>
          </a:ln>
        </p:spPr>
      </p:sp>
      <p:sp>
        <p:nvSpPr>
          <p:cNvPr id="19" name="Rectangle 18">
            <a:extLst>
              <a:ext uri="{FF2B5EF4-FFF2-40B4-BE49-F238E27FC236}">
                <a16:creationId xmlns:a16="http://schemas.microsoft.com/office/drawing/2014/main" id="{7803356D-3BDE-4DC6-A810-2A223D795C64}"/>
              </a:ext>
            </a:extLst>
          </p:cNvPr>
          <p:cNvSpPr>
            <a:spLocks noGrp="1"/>
          </p:cNvSpPr>
          <p:nvPr/>
        </p:nvSpPr>
        <p:spPr>
          <a:xfrm>
            <a:off x="781050" y="4924425"/>
            <a:ext cx="342900" cy="228600"/>
          </a:xfrm>
          <a:prstGeom prst="rect">
            <a:avLst/>
          </a:prstGeom>
          <a:noFill/>
          <a:ln w="0">
            <a:noFill/>
            <a:prstDash val="solid"/>
          </a:ln>
        </p:spPr>
        <p:txBody>
          <a:bodyPr wrap="square" lIns="0" tIns="0" rIns="0" bIns="0" anchor="t">
            <a:noAutofit/>
          </a:bodyP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Rectangle 19">
            <a:extLst>
              <a:ext uri="{FF2B5EF4-FFF2-40B4-BE49-F238E27FC236}">
                <a16:creationId xmlns:a16="http://schemas.microsoft.com/office/drawing/2014/main" id="{DF61E722-1B46-4981-9F0D-90C176DD8B26}"/>
              </a:ext>
            </a:extLst>
          </p:cNvPr>
          <p:cNvSpPr>
            <a:spLocks noGrp="1"/>
          </p:cNvSpPr>
          <p:nvPr/>
        </p:nvSpPr>
        <p:spPr>
          <a:xfrm>
            <a:off x="1390650" y="4743450"/>
            <a:ext cx="2762250" cy="323850"/>
          </a:xfrm>
          <a:prstGeom prst="rect">
            <a:avLst/>
          </a:prstGeom>
          <a:noFill/>
          <a:ln w="0">
            <a:noFill/>
            <a:prstDash val="solid"/>
          </a:ln>
        </p:spPr>
        <p:txBody>
          <a:bodyPr wrap="square" lIns="0" tIns="0" rIns="0" bIns="0" anchor="t">
            <a:noAutofit/>
          </a:bodyPr>
          <a:lstStyle/>
          <a:p>
            <a:pPr algn="l">
              <a:buNone/>
              <a:defRPr sz="1950" b="1">
                <a:solidFill>
                  <a:srgbClr val="0A1020"/>
                </a:solidFill>
                <a:latin typeface="Arial"/>
                <a:ea typeface="Arial"/>
                <a:cs typeface="Arial"/>
              </a:defRPr>
            </a:pPr>
            <a:r>
              <a:rPr sz="1950" b="1">
                <a:solidFill>
                  <a:srgbClr val="0A1020"/>
                </a:solidFill>
                <a:latin typeface="Arial"/>
                <a:ea typeface="Arial"/>
                <a:cs typeface="Arial"/>
              </a:rPr>
              <a:t>Calibrate &amp; evaluate</a:t>
            </a:r>
          </a:p>
        </p:txBody>
      </p:sp>
      <p:sp>
        <p:nvSpPr>
          <p:cNvPr id="21" name="Rectangle 20">
            <a:extLst>
              <a:ext uri="{FF2B5EF4-FFF2-40B4-BE49-F238E27FC236}">
                <a16:creationId xmlns:a16="http://schemas.microsoft.com/office/drawing/2014/main" id="{68053BE5-9E4C-46C3-8580-9781C29DBCA4}"/>
              </a:ext>
            </a:extLst>
          </p:cNvPr>
          <p:cNvSpPr>
            <a:spLocks noGrp="1"/>
          </p:cNvSpPr>
          <p:nvPr/>
        </p:nvSpPr>
        <p:spPr>
          <a:xfrm>
            <a:off x="1390650" y="5124450"/>
            <a:ext cx="5429250" cy="438150"/>
          </a:xfrm>
          <a:prstGeom prst="rect">
            <a:avLst/>
          </a:prstGeom>
          <a:noFill/>
          <a:ln w="0">
            <a:noFill/>
            <a:prstDash val="solid"/>
          </a:ln>
        </p:spPr>
        <p:txBody>
          <a:bodyPr wrap="square" lIns="0" tIns="0" rIns="0" bIns="0" anchor="t">
            <a:normAutofit/>
          </a:bodyPr>
          <a:lstStyle/>
          <a:p>
            <a:pPr algn="l">
              <a:buNone/>
              <a:defRPr sz="1500" b="0">
                <a:solidFill>
                  <a:srgbClr val="5D6677"/>
                </a:solidFill>
                <a:latin typeface="Arial"/>
                <a:ea typeface="Arial"/>
                <a:cs typeface="Arial"/>
              </a:defRPr>
            </a:pPr>
            <a:r>
              <a:rPr sz="1500" b="0">
                <a:solidFill>
                  <a:srgbClr val="5D6677"/>
                </a:solidFill>
                <a:latin typeface="Arial"/>
                <a:ea typeface="Arial"/>
                <a:cs typeface="Arial"/>
              </a:rPr>
              <a:t>Clarification cost, response quality, ablations, and human study.</a:t>
            </a:r>
          </a:p>
        </p:txBody>
      </p:sp>
      <p:sp>
        <p:nvSpPr>
          <p:cNvPr id="22" name="Rectangle 21">
            <a:extLst>
              <a:ext uri="{FF2B5EF4-FFF2-40B4-BE49-F238E27FC236}">
                <a16:creationId xmlns:a16="http://schemas.microsoft.com/office/drawing/2014/main" id="{7950B849-E0F8-4503-A56A-0C187EC86FE6}"/>
              </a:ext>
            </a:extLst>
          </p:cNvPr>
          <p:cNvSpPr>
            <a:spLocks noGrp="1"/>
          </p:cNvSpPr>
          <p:nvPr/>
        </p:nvSpPr>
        <p:spPr>
          <a:xfrm>
            <a:off x="7505700" y="1676400"/>
            <a:ext cx="4191000" cy="3981450"/>
          </a:xfrm>
          <a:prstGeom prst="rect">
            <a:avLst/>
          </a:prstGeom>
          <a:solidFill>
            <a:srgbClr val="EAF3FF"/>
          </a:solidFill>
          <a:ln w="14288">
            <a:solidFill>
              <a:srgbClr val="3D8DFF"/>
            </a:solidFill>
            <a:prstDash val="solid"/>
          </a:ln>
        </p:spPr>
      </p:sp>
      <p:sp>
        <p:nvSpPr>
          <p:cNvPr id="23" name="Rectangle 22">
            <a:extLst>
              <a:ext uri="{FF2B5EF4-FFF2-40B4-BE49-F238E27FC236}">
                <a16:creationId xmlns:a16="http://schemas.microsoft.com/office/drawing/2014/main" id="{60A54EAF-4FA9-4F6D-82DB-D523D005EE5C}"/>
              </a:ext>
            </a:extLst>
          </p:cNvPr>
          <p:cNvSpPr>
            <a:spLocks noGrp="1"/>
          </p:cNvSpPr>
          <p:nvPr/>
        </p:nvSpPr>
        <p:spPr>
          <a:xfrm>
            <a:off x="7791450" y="1943100"/>
            <a:ext cx="3429000" cy="285750"/>
          </a:xfrm>
          <a:prstGeom prst="rect">
            <a:avLst/>
          </a:prstGeom>
          <a:noFill/>
          <a:ln w="0">
            <a:noFill/>
            <a:prstDash val="solid"/>
          </a:ln>
        </p:spPr>
        <p:txBody>
          <a:bodyPr wrap="square" lIns="0" tIns="0" rIns="0" bIns="0" anchor="t">
            <a:noAutofit/>
          </a:bodyPr>
          <a:lstStyle/>
          <a:p>
            <a:pPr algn="l">
              <a:buNone/>
              <a:defRPr sz="1425" b="1">
                <a:solidFill>
                  <a:srgbClr val="3D8DFF"/>
                </a:solidFill>
                <a:latin typeface="Arial"/>
                <a:ea typeface="Arial"/>
                <a:cs typeface="Arial"/>
              </a:defRPr>
            </a:pPr>
            <a:r>
              <a:rPr sz="1425" b="1">
                <a:solidFill>
                  <a:srgbClr val="3D8DFF"/>
                </a:solidFill>
                <a:latin typeface="Arial"/>
                <a:ea typeface="Arial"/>
                <a:cs typeface="Arial"/>
              </a:rPr>
              <a:t>DECISIONS FOR THIS MEETING</a:t>
            </a:r>
          </a:p>
        </p:txBody>
      </p:sp>
      <p:sp>
        <p:nvSpPr>
          <p:cNvPr id="24" name="Rectangle 23">
            <a:extLst>
              <a:ext uri="{FF2B5EF4-FFF2-40B4-BE49-F238E27FC236}">
                <a16:creationId xmlns:a16="http://schemas.microsoft.com/office/drawing/2014/main" id="{221ACD53-1E93-432B-80D4-025966F71A71}"/>
              </a:ext>
            </a:extLst>
          </p:cNvPr>
          <p:cNvSpPr>
            <a:spLocks noGrp="1"/>
          </p:cNvSpPr>
          <p:nvPr/>
        </p:nvSpPr>
        <p:spPr>
          <a:xfrm>
            <a:off x="7791450" y="2533650"/>
            <a:ext cx="495300" cy="323850"/>
          </a:xfrm>
          <a:prstGeom prst="rect">
            <a:avLst/>
          </a:prstGeom>
          <a:noFill/>
          <a:ln w="0">
            <a:noFill/>
            <a:prstDash val="solid"/>
          </a:ln>
        </p:spPr>
        <p:txBody>
          <a:bodyPr wrap="square" lIns="0" tIns="0" rIns="0" bIns="0" anchor="t">
            <a:noAutofit/>
          </a:bodyPr>
          <a:lstStyle/>
          <a:p>
            <a:pPr algn="l">
              <a:buNone/>
              <a:defRPr sz="1950" b="1">
                <a:solidFill>
                  <a:srgbClr val="3D8DFF"/>
                </a:solidFill>
                <a:latin typeface="Arial"/>
                <a:ea typeface="Arial"/>
                <a:cs typeface="Arial"/>
              </a:defRPr>
            </a:pPr>
            <a:r>
              <a:rPr sz="1950" b="1">
                <a:solidFill>
                  <a:srgbClr val="3D8DFF"/>
                </a:solidFill>
                <a:latin typeface="Arial"/>
                <a:ea typeface="Arial"/>
                <a:cs typeface="Arial"/>
              </a:rPr>
              <a:t>01</a:t>
            </a:r>
          </a:p>
        </p:txBody>
      </p:sp>
      <p:sp>
        <p:nvSpPr>
          <p:cNvPr id="25" name="Rectangle 24">
            <a:extLst>
              <a:ext uri="{FF2B5EF4-FFF2-40B4-BE49-F238E27FC236}">
                <a16:creationId xmlns:a16="http://schemas.microsoft.com/office/drawing/2014/main" id="{D84D552D-4736-48CA-8483-0273D4F539F6}"/>
              </a:ext>
            </a:extLst>
          </p:cNvPr>
          <p:cNvSpPr>
            <a:spLocks noGrp="1"/>
          </p:cNvSpPr>
          <p:nvPr/>
        </p:nvSpPr>
        <p:spPr>
          <a:xfrm>
            <a:off x="8420100" y="2533650"/>
            <a:ext cx="2857500" cy="590550"/>
          </a:xfrm>
          <a:prstGeom prst="rect">
            <a:avLst/>
          </a:prstGeom>
          <a:noFill/>
          <a:ln w="0">
            <a:noFill/>
            <a:prstDash val="solid"/>
          </a:ln>
        </p:spPr>
        <p:txBody>
          <a:bodyPr wrap="square" lIns="0" tIns="0" rIns="0" bIns="0" anchor="t">
            <a:normAutofit/>
          </a:bodyPr>
          <a:lstStyle/>
          <a:p>
            <a:pPr algn="l">
              <a:buNone/>
              <a:defRPr sz="1725" b="1">
                <a:solidFill>
                  <a:srgbClr val="0A1020"/>
                </a:solidFill>
                <a:latin typeface="Arial"/>
                <a:ea typeface="Arial"/>
                <a:cs typeface="Arial"/>
              </a:defRPr>
            </a:pPr>
            <a:r>
              <a:rPr sz="1725" b="1">
                <a:solidFill>
                  <a:srgbClr val="0A1020"/>
                </a:solidFill>
                <a:latin typeface="Arial"/>
                <a:ea typeface="Arial"/>
                <a:cs typeface="Arial"/>
              </a:rPr>
              <a:t>Prioritize 7B+ scale-up or extractor SFT first?</a:t>
            </a:r>
          </a:p>
        </p:txBody>
      </p:sp>
      <p:sp>
        <p:nvSpPr>
          <p:cNvPr id="26" name="Rectangle 25">
            <a:extLst>
              <a:ext uri="{FF2B5EF4-FFF2-40B4-BE49-F238E27FC236}">
                <a16:creationId xmlns:a16="http://schemas.microsoft.com/office/drawing/2014/main" id="{4FD9C1CC-DC56-476F-B5F9-9E0009B86E5C}"/>
              </a:ext>
            </a:extLst>
          </p:cNvPr>
          <p:cNvSpPr>
            <a:spLocks noGrp="1"/>
          </p:cNvSpPr>
          <p:nvPr/>
        </p:nvSpPr>
        <p:spPr>
          <a:xfrm>
            <a:off x="7791450" y="3448050"/>
            <a:ext cx="495300" cy="323850"/>
          </a:xfrm>
          <a:prstGeom prst="rect">
            <a:avLst/>
          </a:prstGeom>
          <a:noFill/>
          <a:ln w="0">
            <a:noFill/>
            <a:prstDash val="solid"/>
          </a:ln>
        </p:spPr>
        <p:txBody>
          <a:bodyPr wrap="square" lIns="0" tIns="0" rIns="0" bIns="0" anchor="t">
            <a:noAutofit/>
          </a:bodyPr>
          <a:lstStyle/>
          <a:p>
            <a:pPr algn="l">
              <a:buNone/>
              <a:defRPr sz="1950" b="1">
                <a:solidFill>
                  <a:srgbClr val="3D8DFF"/>
                </a:solidFill>
                <a:latin typeface="Arial"/>
                <a:ea typeface="Arial"/>
                <a:cs typeface="Arial"/>
              </a:defRPr>
            </a:pPr>
            <a:r>
              <a:rPr sz="1950" b="1">
                <a:solidFill>
                  <a:srgbClr val="3D8DFF"/>
                </a:solidFill>
                <a:latin typeface="Arial"/>
                <a:ea typeface="Arial"/>
                <a:cs typeface="Arial"/>
              </a:rPr>
              <a:t>02</a:t>
            </a:r>
          </a:p>
        </p:txBody>
      </p:sp>
      <p:sp>
        <p:nvSpPr>
          <p:cNvPr id="27" name="Rectangle 26">
            <a:extLst>
              <a:ext uri="{FF2B5EF4-FFF2-40B4-BE49-F238E27FC236}">
                <a16:creationId xmlns:a16="http://schemas.microsoft.com/office/drawing/2014/main" id="{A270799B-9EDB-4885-8084-E768659A5451}"/>
              </a:ext>
            </a:extLst>
          </p:cNvPr>
          <p:cNvSpPr>
            <a:spLocks noGrp="1"/>
          </p:cNvSpPr>
          <p:nvPr/>
        </p:nvSpPr>
        <p:spPr>
          <a:xfrm>
            <a:off x="8420100" y="3448050"/>
            <a:ext cx="2857500" cy="590550"/>
          </a:xfrm>
          <a:prstGeom prst="rect">
            <a:avLst/>
          </a:prstGeom>
          <a:noFill/>
          <a:ln w="0">
            <a:noFill/>
            <a:prstDash val="solid"/>
          </a:ln>
        </p:spPr>
        <p:txBody>
          <a:bodyPr wrap="square" lIns="0" tIns="0" rIns="0" bIns="0" anchor="t">
            <a:normAutofit/>
          </a:bodyPr>
          <a:lstStyle/>
          <a:p>
            <a:pPr algn="l">
              <a:buNone/>
              <a:defRPr sz="1725" b="1">
                <a:solidFill>
                  <a:srgbClr val="0A1020"/>
                </a:solidFill>
                <a:latin typeface="Arial"/>
                <a:ea typeface="Arial"/>
                <a:cs typeface="Arial"/>
              </a:defRPr>
            </a:pPr>
            <a:r>
              <a:rPr sz="1725" b="1">
                <a:solidFill>
                  <a:srgbClr val="0A1020"/>
                </a:solidFill>
                <a:latin typeface="Arial"/>
                <a:ea typeface="Arial"/>
                <a:cs typeface="Arial"/>
              </a:rPr>
              <a:t>Which 7B+ model and GPU budget should we target?</a:t>
            </a:r>
          </a:p>
        </p:txBody>
      </p:sp>
      <p:sp>
        <p:nvSpPr>
          <p:cNvPr id="28" name="Rectangle 27">
            <a:extLst>
              <a:ext uri="{FF2B5EF4-FFF2-40B4-BE49-F238E27FC236}">
                <a16:creationId xmlns:a16="http://schemas.microsoft.com/office/drawing/2014/main" id="{8EC1432E-8394-4D52-92B0-D0EC620C7014}"/>
              </a:ext>
            </a:extLst>
          </p:cNvPr>
          <p:cNvSpPr>
            <a:spLocks noGrp="1"/>
          </p:cNvSpPr>
          <p:nvPr/>
        </p:nvSpPr>
        <p:spPr>
          <a:xfrm>
            <a:off x="7791450" y="4362450"/>
            <a:ext cx="495300" cy="323850"/>
          </a:xfrm>
          <a:prstGeom prst="rect">
            <a:avLst/>
          </a:prstGeom>
          <a:noFill/>
          <a:ln w="0">
            <a:noFill/>
            <a:prstDash val="solid"/>
          </a:ln>
        </p:spPr>
        <p:txBody>
          <a:bodyPr wrap="square" lIns="0" tIns="0" rIns="0" bIns="0" anchor="t">
            <a:noAutofit/>
          </a:bodyPr>
          <a:lstStyle/>
          <a:p>
            <a:pPr algn="l">
              <a:buNone/>
              <a:defRPr sz="1950" b="1">
                <a:solidFill>
                  <a:srgbClr val="3D8DFF"/>
                </a:solidFill>
                <a:latin typeface="Arial"/>
                <a:ea typeface="Arial"/>
                <a:cs typeface="Arial"/>
              </a:defRPr>
            </a:pPr>
            <a:r>
              <a:rPr sz="1950" b="1">
                <a:solidFill>
                  <a:srgbClr val="3D8DFF"/>
                </a:solidFill>
                <a:latin typeface="Arial"/>
                <a:ea typeface="Arial"/>
                <a:cs typeface="Arial"/>
              </a:rPr>
              <a:t>03</a:t>
            </a:r>
          </a:p>
        </p:txBody>
      </p:sp>
      <p:sp>
        <p:nvSpPr>
          <p:cNvPr id="29" name="Rectangle 28">
            <a:extLst>
              <a:ext uri="{FF2B5EF4-FFF2-40B4-BE49-F238E27FC236}">
                <a16:creationId xmlns:a16="http://schemas.microsoft.com/office/drawing/2014/main" id="{E807B359-E935-4B33-AB6B-AF0801451E2A}"/>
              </a:ext>
            </a:extLst>
          </p:cNvPr>
          <p:cNvSpPr>
            <a:spLocks noGrp="1"/>
          </p:cNvSpPr>
          <p:nvPr/>
        </p:nvSpPr>
        <p:spPr>
          <a:xfrm>
            <a:off x="8420100" y="4362450"/>
            <a:ext cx="2857500" cy="590550"/>
          </a:xfrm>
          <a:prstGeom prst="rect">
            <a:avLst/>
          </a:prstGeom>
          <a:noFill/>
          <a:ln w="0">
            <a:noFill/>
            <a:prstDash val="solid"/>
          </a:ln>
        </p:spPr>
        <p:txBody>
          <a:bodyPr wrap="square" lIns="0" tIns="0" rIns="0" bIns="0" anchor="t">
            <a:normAutofit fontScale="93137"/>
          </a:bodyPr>
          <a:lstStyle/>
          <a:p>
            <a:pPr algn="l">
              <a:buNone/>
              <a:defRPr sz="1725" b="1">
                <a:solidFill>
                  <a:srgbClr val="0A1020"/>
                </a:solidFill>
                <a:latin typeface="Arial"/>
                <a:ea typeface="Arial"/>
                <a:cs typeface="Arial"/>
              </a:defRPr>
            </a:pPr>
            <a:r>
              <a:rPr sz="1725" b="1">
                <a:solidFill>
                  <a:srgbClr val="0A1020"/>
                </a:solidFill>
                <a:latin typeface="Arial"/>
                <a:ea typeface="Arial"/>
                <a:cs typeface="Arial"/>
              </a:rPr>
              <a:t>What real-data source should anchor transfer evaluation?</a:t>
            </a:r>
          </a:p>
        </p:txBody>
      </p:sp>
      <p:sp>
        <p:nvSpPr>
          <p:cNvPr id="30" name="Rectangle 29">
            <a:extLst>
              <a:ext uri="{FF2B5EF4-FFF2-40B4-BE49-F238E27FC236}">
                <a16:creationId xmlns:a16="http://schemas.microsoft.com/office/drawing/2014/main" id="{597959FA-A424-4B50-B27F-DD5A71145351}"/>
              </a:ext>
            </a:extLst>
          </p:cNvPr>
          <p:cNvSpPr>
            <a:spLocks noGrp="1"/>
          </p:cNvSpPr>
          <p:nvPr/>
        </p:nvSpPr>
        <p:spPr>
          <a:xfrm>
            <a:off x="1047750" y="6000750"/>
            <a:ext cx="10096500" cy="400050"/>
          </a:xfrm>
          <a:prstGeom prst="rect">
            <a:avLst/>
          </a:prstGeom>
          <a:noFill/>
          <a:ln w="0">
            <a:noFill/>
            <a:prstDash val="solid"/>
          </a:ln>
        </p:spPr>
        <p:txBody>
          <a:bodyPr wrap="square" lIns="0" tIns="0" rIns="0" bIns="0" anchor="t">
            <a:noAutofit/>
          </a:bodyPr>
          <a:lstStyle/>
          <a:p>
            <a:pPr algn="ctr">
              <a:buNone/>
              <a:defRPr sz="2250" b="1">
                <a:solidFill>
                  <a:srgbClr val="159A7D"/>
                </a:solidFill>
                <a:latin typeface="Arial"/>
                <a:ea typeface="Arial"/>
                <a:cs typeface="Arial"/>
              </a:defRPr>
            </a:pPr>
            <a:r>
              <a:rPr sz="2250" b="1">
                <a:solidFill>
                  <a:srgbClr val="159A7D"/>
                </a:solidFill>
                <a:latin typeface="Arial"/>
                <a:ea typeface="Arial"/>
                <a:cs typeface="Arial"/>
              </a:rPr>
              <a:t>Scale supplies capability; Frontier Memory supplies control.</a:t>
            </a:r>
          </a:p>
        </p:txBody>
      </p:sp>
    </p:spTree>
    <p:extLst>
      <p:ext uri="{BB962C8B-B14F-4D97-AF65-F5344CB8AC3E}">
        <p14:creationId xmlns:p14="http://schemas.microsoft.com/office/powerpoint/2010/main" val="7404837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3647</Words>
  <Application>Microsoft Office PowerPoint</Application>
  <DocSecurity>0</DocSecurity>
  <PresentationFormat>Widescreen</PresentationFormat>
  <Paragraphs>510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Courier New</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mohammad Amanlou</cp:lastModifiedBy>
  <cp:revision>1</cp:revision>
  <dcterms:created xsi:type="dcterms:W3CDTF">2026-08-09T02:56:48Z</dcterms:created>
  <dcterms:modified xsi:type="dcterms:W3CDTF">2026-08-09T03:01:52Z</dcterms:modified>
</cp:coreProperties>
</file>